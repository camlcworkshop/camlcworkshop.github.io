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1010" r:id="rId3"/>
    <p:sldId id="1028" r:id="rId4"/>
    <p:sldId id="1027" r:id="rId5"/>
    <p:sldId id="1011" r:id="rId6"/>
    <p:sldId id="1012" r:id="rId7"/>
    <p:sldId id="995" r:id="rId8"/>
    <p:sldId id="259" r:id="rId9"/>
    <p:sldId id="260" r:id="rId10"/>
    <p:sldId id="996" r:id="rId11"/>
    <p:sldId id="262" r:id="rId12"/>
    <p:sldId id="263" r:id="rId13"/>
    <p:sldId id="275" r:id="rId14"/>
    <p:sldId id="997" r:id="rId15"/>
    <p:sldId id="274" r:id="rId16"/>
    <p:sldId id="998" r:id="rId17"/>
    <p:sldId id="999" r:id="rId18"/>
    <p:sldId id="1040" r:id="rId19"/>
    <p:sldId id="1097" r:id="rId20"/>
    <p:sldId id="1098" r:id="rId21"/>
    <p:sldId id="1096" r:id="rId22"/>
    <p:sldId id="1095" r:id="rId23"/>
    <p:sldId id="273" r:id="rId24"/>
    <p:sldId id="785" r:id="rId25"/>
    <p:sldId id="1015" r:id="rId26"/>
    <p:sldId id="985" r:id="rId27"/>
    <p:sldId id="1001" r:id="rId28"/>
    <p:sldId id="978" r:id="rId29"/>
    <p:sldId id="969" r:id="rId30"/>
    <p:sldId id="1051" r:id="rId31"/>
    <p:sldId id="1099" r:id="rId32"/>
    <p:sldId id="1074" r:id="rId33"/>
    <p:sldId id="1075" r:id="rId34"/>
    <p:sldId id="1078" r:id="rId35"/>
    <p:sldId id="925" r:id="rId36"/>
    <p:sldId id="927" r:id="rId37"/>
    <p:sldId id="926" r:id="rId38"/>
    <p:sldId id="1077" r:id="rId39"/>
    <p:sldId id="1062" r:id="rId40"/>
    <p:sldId id="1069" r:id="rId41"/>
    <p:sldId id="1070" r:id="rId42"/>
    <p:sldId id="1063" r:id="rId43"/>
    <p:sldId id="1064" r:id="rId44"/>
    <p:sldId id="1065" r:id="rId45"/>
    <p:sldId id="1067" r:id="rId46"/>
    <p:sldId id="1072" r:id="rId47"/>
    <p:sldId id="1068" r:id="rId48"/>
    <p:sldId id="1089" r:id="rId49"/>
    <p:sldId id="1090" r:id="rId50"/>
    <p:sldId id="1091" r:id="rId51"/>
    <p:sldId id="1092" r:id="rId52"/>
    <p:sldId id="1102" r:id="rId53"/>
    <p:sldId id="1101" r:id="rId54"/>
    <p:sldId id="1103" r:id="rId55"/>
    <p:sldId id="1112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A"/>
    <a:srgbClr val="215F9A"/>
    <a:srgbClr val="FFFFFF"/>
    <a:srgbClr val="555390"/>
    <a:srgbClr val="9FC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65A56C-0568-4C93-B7B5-495F6A3AF6EF}" v="5" dt="2026-02-24T09:18:12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Vicente Alegre Requena" userId="e8de4c96-eb00-49e5-88d2-a751b057886c" providerId="ADAL" clId="{E806CA13-B253-446E-BA11-F69D3DBDFD59}"/>
    <pc:docChg chg="custSel addSld delSld modSld">
      <pc:chgData name="Juan Vicente Alegre Requena" userId="e8de4c96-eb00-49e5-88d2-a751b057886c" providerId="ADAL" clId="{E806CA13-B253-446E-BA11-F69D3DBDFD59}" dt="2026-02-24T09:18:12.705" v="21"/>
      <pc:docMkLst>
        <pc:docMk/>
      </pc:docMkLst>
      <pc:sldChg chg="delSp modSp mod">
        <pc:chgData name="Juan Vicente Alegre Requena" userId="e8de4c96-eb00-49e5-88d2-a751b057886c" providerId="ADAL" clId="{E806CA13-B253-446E-BA11-F69D3DBDFD59}" dt="2026-02-24T08:52:32.375" v="15" actId="478"/>
        <pc:sldMkLst>
          <pc:docMk/>
          <pc:sldMk cId="2610816405" sldId="256"/>
        </pc:sldMkLst>
        <pc:spChg chg="mod">
          <ac:chgData name="Juan Vicente Alegre Requena" userId="e8de4c96-eb00-49e5-88d2-a751b057886c" providerId="ADAL" clId="{E806CA13-B253-446E-BA11-F69D3DBDFD59}" dt="2026-02-24T08:52:25.420" v="13" actId="20577"/>
          <ac:spMkLst>
            <pc:docMk/>
            <pc:sldMk cId="2610816405" sldId="256"/>
            <ac:spMk id="5" creationId="{0157228C-0CF7-471A-6DB4-679BDC043B17}"/>
          </ac:spMkLst>
        </pc:spChg>
        <pc:spChg chg="del">
          <ac:chgData name="Juan Vicente Alegre Requena" userId="e8de4c96-eb00-49e5-88d2-a751b057886c" providerId="ADAL" clId="{E806CA13-B253-446E-BA11-F69D3DBDFD59}" dt="2026-02-24T08:52:32.375" v="15" actId="478"/>
          <ac:spMkLst>
            <pc:docMk/>
            <pc:sldMk cId="2610816405" sldId="256"/>
            <ac:spMk id="8" creationId="{BCE9BEC1-69FF-5811-5C8D-02BA3097F08C}"/>
          </ac:spMkLst>
        </pc:spChg>
        <pc:spChg chg="del">
          <ac:chgData name="Juan Vicente Alegre Requena" userId="e8de4c96-eb00-49e5-88d2-a751b057886c" providerId="ADAL" clId="{E806CA13-B253-446E-BA11-F69D3DBDFD59}" dt="2026-02-24T08:52:29.507" v="14" actId="478"/>
          <ac:spMkLst>
            <pc:docMk/>
            <pc:sldMk cId="2610816405" sldId="256"/>
            <ac:spMk id="10" creationId="{6E629924-DFB7-529D-392A-BBA264469496}"/>
          </ac:spMkLst>
        </pc:spChg>
      </pc:sldChg>
      <pc:sldChg chg="add">
        <pc:chgData name="Juan Vicente Alegre Requena" userId="e8de4c96-eb00-49e5-88d2-a751b057886c" providerId="ADAL" clId="{E806CA13-B253-446E-BA11-F69D3DBDFD59}" dt="2026-02-24T08:59:32.999" v="17"/>
        <pc:sldMkLst>
          <pc:docMk/>
          <pc:sldMk cId="156006819" sldId="273"/>
        </pc:sldMkLst>
      </pc:sldChg>
      <pc:sldChg chg="add">
        <pc:chgData name="Juan Vicente Alegre Requena" userId="e8de4c96-eb00-49e5-88d2-a751b057886c" providerId="ADAL" clId="{E806CA13-B253-446E-BA11-F69D3DBDFD59}" dt="2026-02-24T09:18:12.705" v="21"/>
        <pc:sldMkLst>
          <pc:docMk/>
          <pc:sldMk cId="1432421492" sldId="785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1373328139" sldId="969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2122546300" sldId="978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455243762" sldId="985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639093550" sldId="1001"/>
        </pc:sldMkLst>
      </pc:sldChg>
      <pc:sldChg chg="add">
        <pc:chgData name="Juan Vicente Alegre Requena" userId="e8de4c96-eb00-49e5-88d2-a751b057886c" providerId="ADAL" clId="{E806CA13-B253-446E-BA11-F69D3DBDFD59}" dt="2026-02-24T09:02:47.665" v="18"/>
        <pc:sldMkLst>
          <pc:docMk/>
          <pc:sldMk cId="1210971859" sldId="1015"/>
        </pc:sldMkLst>
      </pc:sldChg>
      <pc:sldChg chg="add">
        <pc:chgData name="Juan Vicente Alegre Requena" userId="e8de4c96-eb00-49e5-88d2-a751b057886c" providerId="ADAL" clId="{E806CA13-B253-446E-BA11-F69D3DBDFD59}" dt="2026-02-24T09:03:19.789" v="20"/>
        <pc:sldMkLst>
          <pc:docMk/>
          <pc:sldMk cId="1108188139" sldId="105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87693854" sldId="1085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141992176" sldId="1087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005960309" sldId="1088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079443000" sldId="108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020623562" sldId="109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721478877" sldId="109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10020025" sldId="1092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736231909" sldId="109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231470977" sldId="110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543507886" sldId="110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219914431" sldId="1102"/>
        </pc:sldMkLst>
      </pc:sldChg>
      <pc:sldChg chg="del">
        <pc:chgData name="Juan Vicente Alegre Requena" userId="e8de4c96-eb00-49e5-88d2-a751b057886c" providerId="ADAL" clId="{E806CA13-B253-446E-BA11-F69D3DBDFD59}" dt="2026-02-24T08:11:43.162" v="0" actId="47"/>
        <pc:sldMkLst>
          <pc:docMk/>
          <pc:sldMk cId="2488634651" sldId="1103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933195218" sldId="1104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208560385" sldId="1105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417028440" sldId="1106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072154082" sldId="1107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274316695" sldId="1108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375524" sldId="110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115002957" sldId="111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380184960" sldId="111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235132830" sldId="1112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580435680" sldId="1113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821143170" sldId="1114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884475559" sldId="1115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270146692" sldId="1116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538625465" sldId="1117"/>
        </pc:sldMkLst>
      </pc:sldChg>
      <pc:sldChg chg="del">
        <pc:chgData name="Juan Vicente Alegre Requena" userId="e8de4c96-eb00-49e5-88d2-a751b057886c" providerId="ADAL" clId="{E806CA13-B253-446E-BA11-F69D3DBDFD59}" dt="2026-02-24T08:11:51.287" v="1" actId="47"/>
        <pc:sldMkLst>
          <pc:docMk/>
          <pc:sldMk cId="2243512860" sldId="1118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643422869" sldId="111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985892030" sldId="112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350558418" sldId="1122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429914103" sldId="1123"/>
        </pc:sldMkLst>
      </pc:sldChg>
      <pc:sldChg chg="delSp del mod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560390176" sldId="1124"/>
        </pc:sldMkLst>
        <pc:spChg chg="del">
          <ac:chgData name="Juan Vicente Alegre Requena" userId="e8de4c96-eb00-49e5-88d2-a751b057886c" providerId="ADAL" clId="{E806CA13-B253-446E-BA11-F69D3DBDFD59}" dt="2026-02-24T08:12:16.464" v="2" actId="478"/>
          <ac:spMkLst>
            <pc:docMk/>
            <pc:sldMk cId="3560390176" sldId="1124"/>
            <ac:spMk id="2" creationId="{555F1ECE-EF70-98EC-F520-7A1B731E2F6B}"/>
          </ac:spMkLst>
        </pc:spChg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947015323" sldId="11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1AF5-2077-4BA1-B113-2310F8AFC2A1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82E02-BE67-4161-A544-735639CA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506-5662-C6F9-47A7-A66F71D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7D994-3174-BFF9-38FA-23F27A34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335E-AB25-1EE0-4E97-0EFE042B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9913-4716-D7A6-B40B-D393089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81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1710-A080-D5DB-66A1-CEFCFA65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8451D-106D-9537-1347-040B783C4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7C10A-1098-8133-6C76-2E6875040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FCC8E-D991-13AF-B631-7C9A79DD6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51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B294-0ABC-CF5A-01C0-041D5FB8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E5707-A35E-556A-19C5-81CEEB95C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B51A8-8A81-DD27-F0FE-F0EEC2E1F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1FA34-9484-5E24-A9AA-738E49CDD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91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506-5662-C6F9-47A7-A66F71D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7D994-3174-BFF9-38FA-23F27A34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335E-AB25-1EE0-4E97-0EFE042B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9913-4716-D7A6-B40B-D393089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7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506-5662-C6F9-47A7-A66F71D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7D994-3174-BFF9-38FA-23F27A34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335E-AB25-1EE0-4E97-0EFE042B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9913-4716-D7A6-B40B-D393089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05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57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48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37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9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5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6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70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82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57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22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79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28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CD17-5821-D31F-7B9C-A5B4E8BD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4D865-DEBE-17C6-36F2-5D0ED0D27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E6FDF-EC4F-00AC-4A33-DD96D6AEB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8414-642A-0661-E1F2-601030F0A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75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A172-604A-6137-543E-223320F1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E6773-7164-F80E-572A-FE27B3664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C1057-8E9D-308F-DEC6-13F4F8A8D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1F019-A27B-39D8-637F-A8D1C6EAC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06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A9EB-1FCB-FE1A-F072-0F1C56F24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86783-5A5D-42D6-2195-9A5F21AC6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944D9-DB17-69E7-5724-CE7B55522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929A-D72E-0905-C486-BEA681FDB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57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1295-D62B-62DA-87E1-29E03432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B29AE-7ECA-F481-0F13-0424DE168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8BBF2-6832-9F04-1BC6-EAEAD2901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D016-7363-E8C8-A275-B5BA72F5A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7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FEDF-4E64-345E-AB62-B3B4C3C3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F668F-4D49-BEC6-DE7C-3E869E4C3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BBD0C-4663-05EE-0B83-C11FA3EE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2CCF-237E-83F8-B005-64F5214B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B476C-6E96-DD45-2402-1F3F7AC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1E64-873A-F2AD-8994-87C8CBDD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7738-D6CD-4FE9-21DC-9002E943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65BA-1C07-4CA3-BEA6-DF7BA250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666A9-47FC-92AC-3D31-81DDD663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A462-15CD-C29C-E9C6-B1D9568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9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2848-2DED-2C41-E3E5-3B62EFE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583DC-4676-E553-60FF-66EA0889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E372-058D-562A-84B7-4419FA66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8AE9-8941-F00C-07BD-FD96501D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D62E-2C63-1145-4574-BB2722CB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7F5A-E538-B3CD-CF09-91561668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A79E-6161-6672-29A8-EC3C973AB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B898-5571-7270-3233-154A5865F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AFF83-BD61-AB1C-8C60-56029E96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86F6-8EE4-DB9B-D695-2BABE749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F7A8-A7F3-7042-C169-CCFFB06E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787-421D-742A-F54E-DA803BEA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EB2A1-3672-84FD-20EB-D83F5B7E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62D6D-8D88-C374-2F67-ADCB2BB8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DB75-1F9E-F53E-508C-BCE9B3782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F1EFE-EC88-4821-35D1-3407704E5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6E025-767D-7906-E6C6-4602AA6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C0F4C-CAE9-141D-0786-18FD7A08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A92E7-DEE4-4A74-892A-04ED10FF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4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2D4D-8A8A-D7B1-CBE0-BF7770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7319B-B47D-7A08-2F8C-E7EB1E8D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6DD35-3499-7039-923A-D0896FEC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48622-66E6-191B-1055-1D41143F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26E8E-E7BA-8B1D-6E80-B365CF62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36EBD-6204-65B4-1215-D1E79729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E6FFC-1A90-2A23-9852-B364E823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8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2233-DCC5-AF65-EE61-9E909FE9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B15B-37C3-7912-25DA-F47A1729F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6F9B-4EA1-435B-6259-16F6C65B4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394C-4E2C-C28B-E4BE-B68AF5B8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F3B6-E364-8138-3149-EC061516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C2979-B81B-BE1F-F5EC-9891334A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6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6B83-7426-D5F9-9D77-F7FE2A4C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69F1C-5711-FEA7-460E-558F05E75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69A31-C776-1CFE-0628-85455C5B2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505B0-AC3F-D67C-E9F6-8B42B47E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1662D-3839-D918-F502-456F0294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57953-DB77-5DAF-1FDE-2157760F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7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5EF6-1A03-E077-5421-EA6D0113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ED6B2-3D95-3D77-E588-3642905EF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8059-EE05-C8EF-611C-8AE03E9F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9D03-F220-8DA1-9752-70D59D89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C519-9006-853C-9114-A194FB73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2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39F53-5EF9-330F-C790-33D876D1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94974-3B66-9295-234A-3017DF34E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107D8-2EC0-DAEF-7FFA-CF9338D4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FBEF-88CE-42B1-779C-F8C8B60D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E6F-A31C-7113-4656-B135E3F8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19A77-428C-CA5F-A609-10144762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34FDC-52EE-F578-5882-91F9B0B16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5487C-3F15-30BE-6046-30E72900D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9E1F9-83F8-4EE8-BA17-07AD2975257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C16A-EE89-EC75-5A37-DF77F16FD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1131-F98E-F9B3-BCB0-6E3FE79C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t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2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.jpe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tif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1.tif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2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emf"/><Relationship Id="rId4" Type="http://schemas.openxmlformats.org/officeDocument/2006/relationships/image" Target="../media/image2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emf"/><Relationship Id="rId4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image" Target="../media/image52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emf"/><Relationship Id="rId4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5FF854-1024-C381-AEE0-126931EE515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157228C-0CF7-471A-6DB4-679BDC043B1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AI workshop</a:t>
            </a:r>
            <a:endParaRPr lang="en-US" sz="3600" baseline="300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B4A076C-4020-499F-F6D5-05042578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3A1941D-2C73-70D5-34E3-9CB427DCE40F}"/>
              </a:ext>
            </a:extLst>
          </p:cNvPr>
          <p:cNvSpPr txBox="1">
            <a:spLocks/>
          </p:cNvSpPr>
          <p:nvPr/>
        </p:nvSpPr>
        <p:spPr>
          <a:xfrm>
            <a:off x="951845" y="2609946"/>
            <a:ext cx="10257479" cy="1415772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pPr algn="ctr"/>
            <a:r>
              <a:rPr lang="en-US" sz="4000" b="1" dirty="0">
                <a:solidFill>
                  <a:schemeClr val="tx1">
                    <a:lumMod val="50000"/>
                  </a:schemeClr>
                </a:solidFill>
              </a:rPr>
              <a:t>Basics of Chemical Machine Learning, AQME and Descriptor Generation</a:t>
            </a:r>
          </a:p>
        </p:txBody>
      </p:sp>
      <p:pic>
        <p:nvPicPr>
          <p:cNvPr id="3" name="Picture 2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0F39FD7-3E82-0F6A-4ACC-8A28505E8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549F3C-C0D0-9DF9-94A6-955F875E2663}"/>
              </a:ext>
            </a:extLst>
          </p:cNvPr>
          <p:cNvSpPr/>
          <p:nvPr/>
        </p:nvSpPr>
        <p:spPr>
          <a:xfrm>
            <a:off x="0" y="5741171"/>
            <a:ext cx="12192000" cy="1168979"/>
          </a:xfrm>
          <a:prstGeom prst="rect">
            <a:avLst/>
          </a:prstGeom>
          <a:solidFill>
            <a:srgbClr val="9FC3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1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214C-7135-637A-CB7B-94352252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6B43B-5408-6DBA-DECB-5A050957B6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C7212B-A017-AA7A-3227-4EB7787989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BE8EC7B-FDA2-E322-CA73-E731357D3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C26980-2349-4628-6944-0F79AE6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E8AF56D-A8CF-E096-8F1F-94000C0D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81E7F3-AF3B-5D28-AC5B-C4548D226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915" y="1871108"/>
            <a:ext cx="8183880" cy="35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80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B86F-059B-6BE7-C7FF-B714A2CE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AFD5E7-200C-E887-4E75-B4EE726AE22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3EAF58E-1DA3-CB15-B33F-42642624EA5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503A0EF-D536-34D5-B853-7399111A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780EAC9-98BE-E8D8-F814-F282B21F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9EF8A02-CB3F-DB1C-FDDC-E38F77CDD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57F933-3F3D-8DD1-CFC4-BB1933756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915" y="1871108"/>
            <a:ext cx="8183880" cy="3595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F75AAE-489D-41E3-158C-5FF79BB54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319" y="1877750"/>
            <a:ext cx="8073071" cy="35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9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4E2B-6D49-EF90-FD1F-30D8E058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5129E2E-0262-EE2F-67AB-49A5611A3F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77"/>
          <a:stretch/>
        </p:blipFill>
        <p:spPr>
          <a:xfrm>
            <a:off x="405180" y="1209534"/>
            <a:ext cx="7993018" cy="53949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528CCC-E87D-1620-E3BC-2933E60B55E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699AB3C-203E-DB0C-AE35-E5EB4B4F64BA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B079D49-725E-D58B-280C-E7D9D7AE0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CA1C7F6-33C5-B684-80E7-43702413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8A2C2BD-10A9-F012-87B3-44A207270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71EFF2-4521-F986-F30D-F4B50D4DB99E}"/>
              </a:ext>
            </a:extLst>
          </p:cNvPr>
          <p:cNvSpPr txBox="1"/>
          <p:nvPr/>
        </p:nvSpPr>
        <p:spPr>
          <a:xfrm>
            <a:off x="8670302" y="6142442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Stanford AI Index Report 2024</a:t>
            </a:r>
          </a:p>
        </p:txBody>
      </p:sp>
    </p:spTree>
    <p:extLst>
      <p:ext uri="{BB962C8B-B14F-4D97-AF65-F5344CB8AC3E}">
        <p14:creationId xmlns:p14="http://schemas.microsoft.com/office/powerpoint/2010/main" val="61053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214C-7135-637A-CB7B-94352252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9F3F9F73-AF00-E4D2-7F98-6B36E1CB6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80" y="1209534"/>
            <a:ext cx="11333988" cy="53949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6B43B-5408-6DBA-DECB-5A050957B6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C7212B-A017-AA7A-3227-4EB7787989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BE8EC7B-FDA2-E322-CA73-E731357D3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C26980-2349-4628-6944-0F79AE6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E8AF56D-A8CF-E096-8F1F-94000C0D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E8B309-8E76-BBF0-1F9F-F252EE8BB327}"/>
              </a:ext>
            </a:extLst>
          </p:cNvPr>
          <p:cNvSpPr txBox="1"/>
          <p:nvPr/>
        </p:nvSpPr>
        <p:spPr>
          <a:xfrm>
            <a:off x="8670302" y="6142442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Stanford AI Index Report 2024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2777BA-7BBF-4B93-B26B-29BECEAAE47F}"/>
              </a:ext>
            </a:extLst>
          </p:cNvPr>
          <p:cNvGrpSpPr/>
          <p:nvPr/>
        </p:nvGrpSpPr>
        <p:grpSpPr>
          <a:xfrm>
            <a:off x="10765348" y="5267927"/>
            <a:ext cx="526106" cy="511088"/>
            <a:chOff x="10758260" y="5267927"/>
            <a:chExt cx="526106" cy="511088"/>
          </a:xfrm>
        </p:grpSpPr>
        <p:pic>
          <p:nvPicPr>
            <p:cNvPr id="2058" name="Picture 10" descr="Flag of Spain - Wikipedia">
              <a:extLst>
                <a:ext uri="{FF2B5EF4-FFF2-40B4-BE49-F238E27FC236}">
                  <a16:creationId xmlns:a16="http://schemas.microsoft.com/office/drawing/2014/main" id="{F60632F7-D547-4558-5725-8A31838D4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5491" y="5267927"/>
              <a:ext cx="332064" cy="221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154EC7-3389-9525-E7F2-4E3BE8214BF2}"/>
                </a:ext>
              </a:extLst>
            </p:cNvPr>
            <p:cNvSpPr txBox="1"/>
            <p:nvPr/>
          </p:nvSpPr>
          <p:spPr>
            <a:xfrm>
              <a:off x="10758260" y="5455850"/>
              <a:ext cx="52610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0.36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B72C9B4-D496-7D4A-9C02-2FB3DDD7A617}"/>
              </a:ext>
            </a:extLst>
          </p:cNvPr>
          <p:cNvSpPr txBox="1"/>
          <p:nvPr/>
        </p:nvSpPr>
        <p:spPr>
          <a:xfrm>
            <a:off x="10773490" y="5041976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14225-C8C7-398B-740A-A6D2B90A3CFF}"/>
              </a:ext>
            </a:extLst>
          </p:cNvPr>
          <p:cNvSpPr txBox="1"/>
          <p:nvPr/>
        </p:nvSpPr>
        <p:spPr>
          <a:xfrm>
            <a:off x="9039828" y="5386599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A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</a:p>
        </p:txBody>
      </p:sp>
    </p:spTree>
    <p:extLst>
      <p:ext uri="{BB962C8B-B14F-4D97-AF65-F5344CB8AC3E}">
        <p14:creationId xmlns:p14="http://schemas.microsoft.com/office/powerpoint/2010/main" val="3855445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214C-7135-637A-CB7B-94352252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9F3F9F73-AF00-E4D2-7F98-6B36E1CB6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80" y="1209534"/>
            <a:ext cx="11333988" cy="53949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6B43B-5408-6DBA-DECB-5A050957B6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C7212B-A017-AA7A-3227-4EB7787989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BE8EC7B-FDA2-E322-CA73-E731357D3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C26980-2349-4628-6944-0F79AE6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6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E8AF56D-A8CF-E096-8F1F-94000C0D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E8B309-8E76-BBF0-1F9F-F252EE8BB327}"/>
              </a:ext>
            </a:extLst>
          </p:cNvPr>
          <p:cNvSpPr txBox="1"/>
          <p:nvPr/>
        </p:nvSpPr>
        <p:spPr>
          <a:xfrm>
            <a:off x="8670302" y="6142442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Stanford AI Index Report 2024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2777BA-7BBF-4B93-B26B-29BECEAAE47F}"/>
              </a:ext>
            </a:extLst>
          </p:cNvPr>
          <p:cNvGrpSpPr/>
          <p:nvPr/>
        </p:nvGrpSpPr>
        <p:grpSpPr>
          <a:xfrm>
            <a:off x="10765348" y="5267927"/>
            <a:ext cx="526106" cy="511088"/>
            <a:chOff x="10758260" y="5267927"/>
            <a:chExt cx="526106" cy="511088"/>
          </a:xfrm>
        </p:grpSpPr>
        <p:pic>
          <p:nvPicPr>
            <p:cNvPr id="2058" name="Picture 10" descr="Flag of Spain - Wikipedia">
              <a:extLst>
                <a:ext uri="{FF2B5EF4-FFF2-40B4-BE49-F238E27FC236}">
                  <a16:creationId xmlns:a16="http://schemas.microsoft.com/office/drawing/2014/main" id="{F60632F7-D547-4558-5725-8A31838D4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5491" y="5267927"/>
              <a:ext cx="332064" cy="221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154EC7-3389-9525-E7F2-4E3BE8214BF2}"/>
                </a:ext>
              </a:extLst>
            </p:cNvPr>
            <p:cNvSpPr txBox="1"/>
            <p:nvPr/>
          </p:nvSpPr>
          <p:spPr>
            <a:xfrm>
              <a:off x="10758260" y="5455850"/>
              <a:ext cx="52610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0.36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B72C9B4-D496-7D4A-9C02-2FB3DDD7A617}"/>
              </a:ext>
            </a:extLst>
          </p:cNvPr>
          <p:cNvSpPr txBox="1"/>
          <p:nvPr/>
        </p:nvSpPr>
        <p:spPr>
          <a:xfrm>
            <a:off x="10773490" y="5041976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70179-8AAA-E5FB-ECA3-7C51C2B50041}"/>
              </a:ext>
            </a:extLst>
          </p:cNvPr>
          <p:cNvSpPr txBox="1"/>
          <p:nvPr/>
        </p:nvSpPr>
        <p:spPr>
          <a:xfrm>
            <a:off x="9039828" y="5386599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A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14E023-22F8-85E5-F724-F56F9DC5E161}"/>
              </a:ext>
            </a:extLst>
          </p:cNvPr>
          <p:cNvSpPr/>
          <p:nvPr/>
        </p:nvSpPr>
        <p:spPr>
          <a:xfrm>
            <a:off x="4736386" y="2794570"/>
            <a:ext cx="6967035" cy="1664413"/>
          </a:xfrm>
          <a:prstGeom prst="rect">
            <a:avLst/>
          </a:prstGeom>
          <a:solidFill>
            <a:schemeClr val="bg1"/>
          </a:solidFill>
          <a:ln w="28575">
            <a:solidFill>
              <a:srgbClr val="555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3E1F5-250A-7EDF-7566-9BEE392BAE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12" t="-1" r="1317" b="7910"/>
          <a:stretch/>
        </p:blipFill>
        <p:spPr>
          <a:xfrm>
            <a:off x="5136930" y="2981722"/>
            <a:ext cx="3386954" cy="6242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11292EB-2FFF-D1EE-2356-D2CB6B34996C}"/>
              </a:ext>
            </a:extLst>
          </p:cNvPr>
          <p:cNvSpPr txBox="1"/>
          <p:nvPr/>
        </p:nvSpPr>
        <p:spPr>
          <a:xfrm>
            <a:off x="5142765" y="3703788"/>
            <a:ext cx="3375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Consolidación</a:t>
            </a:r>
            <a:r>
              <a:rPr lang="en-US" b="1" dirty="0"/>
              <a:t> </a:t>
            </a:r>
            <a:r>
              <a:rPr lang="en-US" b="1" dirty="0" err="1"/>
              <a:t>Investigadora</a:t>
            </a:r>
            <a:r>
              <a:rPr lang="en-US" b="1" dirty="0"/>
              <a:t> 2023</a:t>
            </a:r>
          </a:p>
          <a:p>
            <a:pPr algn="ctr"/>
            <a:r>
              <a:rPr lang="en-US" dirty="0"/>
              <a:t>200K or 400K (if AI was included)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EF90CC02-A48B-AD92-82C8-C57B8008D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836" y="3085225"/>
            <a:ext cx="1926135" cy="47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9BB350-9280-8822-F411-8E5BD5C4479A}"/>
              </a:ext>
            </a:extLst>
          </p:cNvPr>
          <p:cNvSpPr txBox="1"/>
          <p:nvPr/>
        </p:nvSpPr>
        <p:spPr>
          <a:xfrm>
            <a:off x="8933226" y="3703787"/>
            <a:ext cx="2543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Momentum 2024</a:t>
            </a:r>
          </a:p>
          <a:p>
            <a:pPr algn="ctr"/>
            <a:r>
              <a:rPr lang="en-US" dirty="0"/>
              <a:t>2 contracts (AI or digital.)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2B2A2A-C385-8016-FC08-4676798E1F40}"/>
              </a:ext>
            </a:extLst>
          </p:cNvPr>
          <p:cNvCxnSpPr>
            <a:cxnSpLocks/>
          </p:cNvCxnSpPr>
          <p:nvPr/>
        </p:nvCxnSpPr>
        <p:spPr>
          <a:xfrm flipV="1">
            <a:off x="10983074" y="4458983"/>
            <a:ext cx="0" cy="582993"/>
          </a:xfrm>
          <a:prstGeom prst="line">
            <a:avLst/>
          </a:prstGeom>
          <a:ln w="28575">
            <a:solidFill>
              <a:srgbClr val="55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807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7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59382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8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24537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9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64363" y="2852625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does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Don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Quixote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begin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61497"/>
            <a:ext cx="136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Who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wrote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Hamlet?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6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10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64363" y="2852625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does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Don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Quixote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begin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7985367" y="2890201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Don Quixote begins in a place in La Mancha. Don Quixote of La Mancha is a novel written by the Spanish author Miguel de Cervantes Saavedra. Its first part was published with the title 'The Ingenious Gentleman Don Quixote’</a:t>
            </a:r>
            <a:r>
              <a:rPr lang="es-ES" i="1" dirty="0"/>
              <a:t>…”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8BE52-9E9A-8E31-BC45-600E58B336D7}"/>
              </a:ext>
            </a:extLst>
          </p:cNvPr>
          <p:cNvSpPr txBox="1"/>
          <p:nvPr/>
        </p:nvSpPr>
        <p:spPr>
          <a:xfrm>
            <a:off x="6162124" y="5361497"/>
            <a:ext cx="136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Who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wrote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Hamlet?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94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11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64363" y="2852625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does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Don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Quixote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begin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7985367" y="2890201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Don Quixote begins in a place in La Mancha. Don Quixote of La Mancha is a novel written by the Spanish author Miguel de Cervantes Saavedra. Its first part was published with the title 'The Ingenious Gentleman Don Quixote’</a:t>
            </a:r>
            <a:r>
              <a:rPr lang="es-ES" i="1" dirty="0"/>
              <a:t>…”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6DAEC-6279-5063-02F4-AD886A2A740D}"/>
              </a:ext>
            </a:extLst>
          </p:cNvPr>
          <p:cNvSpPr txBox="1"/>
          <p:nvPr/>
        </p:nvSpPr>
        <p:spPr>
          <a:xfrm>
            <a:off x="7985367" y="476070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William Shakespeare wrote Hamlet. The tragedy of Hamlet, Prince of Denmark (original title in English: The Tragedy of Hamlet, Prince of Denmark), is a play by the</a:t>
            </a:r>
            <a:r>
              <a:rPr lang="es-ES" i="1" dirty="0"/>
              <a:t>…”</a:t>
            </a:r>
            <a:endParaRPr lang="en-US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FAB74B-18F4-275D-005B-83AC209368F1}"/>
              </a:ext>
            </a:extLst>
          </p:cNvPr>
          <p:cNvSpPr/>
          <p:nvPr/>
        </p:nvSpPr>
        <p:spPr>
          <a:xfrm>
            <a:off x="7821411" y="487861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0ADBF9-F7F1-2176-885D-A06D6530780D}"/>
              </a:ext>
            </a:extLst>
          </p:cNvPr>
          <p:cNvSpPr txBox="1"/>
          <p:nvPr/>
        </p:nvSpPr>
        <p:spPr>
          <a:xfrm>
            <a:off x="6162124" y="5361497"/>
            <a:ext cx="136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Who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wrote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Hamlet?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58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1465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12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13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15E160C-2FA1-3BE9-A39D-EEF4C6EC4D1C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79B67A-6594-6979-B44F-B8B6F41EB205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F317D7-C519-9E0D-AA77-3438F48A03A9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A77EF-394A-6050-CED0-0A516CE392D6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824A1F-6403-889B-C4C3-269F7155FBAE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395115-66B4-DF2F-A657-F1C21685CB40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0F20BB-F627-D528-AE91-DF6FE527EDFF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863434-2AEB-A2E5-8027-B40F8C63ECC5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9634E2-9B19-4F2D-54E9-28829C9B3860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27AC09-E80B-A947-254B-D5868AE3FC0A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8C50B8-E4DE-96AB-EDE2-C37AC6967BEF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7B4AC4-2DBA-3C6E-0F0B-D00D72AEE763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3110255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14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04FA76-B298-4CE3-ED08-26341583E3CF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127D0-071C-4EA2-4769-8D796DAC981B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86205C-7226-F971-43CF-C3A670B5A748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B582B1-C84E-8793-D2A5-2C6B12BA771C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50BB79-14D2-872E-0F60-788008EE924B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0771F-0B18-04DE-A441-C7009A362752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A9E29D-F02E-0A38-E739-F91E9292EB40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FE3410-2401-96CA-093D-5216300C7666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BD213A-C431-6EE3-3B23-C88BBBB1CF32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2E3F04-7EC1-7EBC-ABB8-8DD91AF63ED8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DF8C9A-1968-106C-B2E4-2E04CA3818E5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32D5FC-6E94-A2B6-D55D-9494320B829E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F02A33-5A27-8392-D2F1-0986DDA80EEC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FE5583-E145-B540-A672-F61CC970A9EF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296155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9168B-F678-FD6D-C666-D43253B6F83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4EEE5-881B-042A-5AB3-18BE36FD827F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1465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15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72830" y="2827226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effective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catalyst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22807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optimal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solar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cell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7A4759-D857-7080-B5CA-02994B1A8E4D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8E28D5-B0FA-F784-036C-056C11C48490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BDA46-9A57-0BF1-D069-58D54E93C5E8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4740E1-AFDD-A269-5EF4-F891CF34919D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887F25-3FD7-132B-7AE8-EC9384582A1C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3B57D-9200-D7CE-6420-1A1386C55728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F1FD9-CF1B-BF92-51BC-DEBF7F9F2DEF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35D5C2-0A55-22E1-8839-F48B26394A10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16FA1-09AD-94F0-05A5-6ACEDCF7E854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7ED8-8056-A016-00EF-0287661F8FAB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CE0CBE-423A-9098-C2B4-9360F8213B0B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77AD16-2CFF-4C75-896A-62411CBA1767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E0F75E-8F88-2867-2311-C1556FE76EE1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659154-A897-2D5A-1BC1-4FC09F612E83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65479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16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72830" y="2827226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effective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catalyst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22807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optimal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solar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cell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10003128" y="2862835"/>
            <a:ext cx="190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 err="1"/>
              <a:t>Predicted</a:t>
            </a:r>
            <a:r>
              <a:rPr lang="es-ES" i="1" dirty="0"/>
              <a:t> </a:t>
            </a:r>
            <a:r>
              <a:rPr lang="es-ES" i="1" dirty="0" err="1"/>
              <a:t>yield</a:t>
            </a:r>
            <a:r>
              <a:rPr lang="es-ES" i="1" dirty="0"/>
              <a:t>: 92%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83F56865-B871-82F7-C55B-5ECA3AD9D0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1865" y="2947018"/>
          <a:ext cx="3014471" cy="1772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214053" imgH="1321049" progId="ChemDraw.Document.6.0">
                  <p:embed/>
                </p:oleObj>
              </mc:Choice>
              <mc:Fallback>
                <p:oleObj name="CS ChemDraw Drawing" r:id="rId7" imgW="2214053" imgH="1321049" progId="ChemDraw.Document.6.0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83F56865-B871-82F7-C55B-5ECA3AD9D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1865" y="2947018"/>
                        <a:ext cx="3014471" cy="1772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3A911B7-9B0C-95E6-0040-B8CA27467880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2CAAE-7DD7-6E6A-16B3-3393DC8D1FCF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6EA142-9534-2A1D-1325-56397A5E49F4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C5D0DA-317D-A626-F49E-98279216F194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3BC401-78C9-96B9-A2D3-BBF68DDDA89D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4B4FFD-9A9D-CA41-7446-C50085717305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B0428F-AC85-C349-FEC8-1193E1B67DC1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F0E719-A2CD-6B4D-228B-B2E7C482BD5A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83741B-A0B5-1F14-691F-0883492DF790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79B9C1-F8B0-9834-0132-744963DACCB1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158A61-0FAC-EB98-4FC3-ED1314CD2455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6FEC90-2989-191F-63A8-9569AEF32EA7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2C7CDB-CB91-6D2A-CDAF-688331614B6C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B2DE83-75AD-FF12-1F80-7E0397CAF54F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1843860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B37B6792-3958-32FD-A019-C2170E924F6E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1A2748-D3D1-F465-94A9-9B1BC9A09059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17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72830" y="2827226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effective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catalyst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22807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optimal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solar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cell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10003128" y="2862835"/>
            <a:ext cx="190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 err="1"/>
              <a:t>Predicted</a:t>
            </a:r>
            <a:r>
              <a:rPr lang="es-ES" i="1" dirty="0"/>
              <a:t> </a:t>
            </a:r>
            <a:r>
              <a:rPr lang="es-ES" i="1" dirty="0" err="1"/>
              <a:t>yield</a:t>
            </a:r>
            <a:r>
              <a:rPr lang="es-ES" i="1" dirty="0"/>
              <a:t>: 92%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6DAEC-6279-5063-02F4-AD886A2A740D}"/>
              </a:ext>
            </a:extLst>
          </p:cNvPr>
          <p:cNvSpPr txBox="1"/>
          <p:nvPr/>
        </p:nvSpPr>
        <p:spPr>
          <a:xfrm>
            <a:off x="8168600" y="5053291"/>
            <a:ext cx="377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20% </a:t>
            </a:r>
            <a:r>
              <a:rPr lang="es-ES" dirty="0" err="1"/>
              <a:t>graphene</a:t>
            </a:r>
            <a:r>
              <a:rPr lang="es-ES" dirty="0"/>
              <a:t> + 40% Si + 40% </a:t>
            </a:r>
            <a:r>
              <a:rPr lang="en-US" dirty="0"/>
              <a:t>GaAs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FAB74B-18F4-275D-005B-83AC209368F1}"/>
              </a:ext>
            </a:extLst>
          </p:cNvPr>
          <p:cNvSpPr/>
          <p:nvPr/>
        </p:nvSpPr>
        <p:spPr>
          <a:xfrm>
            <a:off x="7821411" y="487861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4D7A1-3E8F-C1A3-AB56-6888F9490CBB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2FF73-6591-E6AA-B067-6C4908B40B5A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A8CD15-142F-6EB3-E5B0-0AFFA9FC06B1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1D461AB-1EA0-3E73-7D70-AF73CB123188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7F38A3-E2E0-B348-12A3-A68EC55CC9DF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2AF3C-6136-7E8F-6CE3-838995F8D1CB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65956A-A7A7-640D-2CE3-E094ACFC5A57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C8075-5B21-B8CA-F3CB-11DF675DD60C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83F56865-B871-82F7-C55B-5ECA3AD9D0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1865" y="2947018"/>
          <a:ext cx="3014471" cy="1772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214053" imgH="1321049" progId="ChemDraw.Document.6.0">
                  <p:embed/>
                </p:oleObj>
              </mc:Choice>
              <mc:Fallback>
                <p:oleObj name="CS ChemDraw Drawing" r:id="rId7" imgW="2214053" imgH="1321049" progId="ChemDraw.Document.6.0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83F56865-B871-82F7-C55B-5ECA3AD9D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1865" y="2947018"/>
                        <a:ext cx="3014471" cy="1772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0E37FFA-CD57-C9DA-9246-821F66E0277B}"/>
              </a:ext>
            </a:extLst>
          </p:cNvPr>
          <p:cNvSpPr txBox="1"/>
          <p:nvPr/>
        </p:nvSpPr>
        <p:spPr>
          <a:xfrm>
            <a:off x="8232365" y="5494192"/>
            <a:ext cx="3104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 err="1"/>
              <a:t>Predicted</a:t>
            </a:r>
            <a:r>
              <a:rPr lang="es-ES" i="1" dirty="0"/>
              <a:t> solar-</a:t>
            </a:r>
            <a:r>
              <a:rPr lang="es-ES" i="1" dirty="0" err="1"/>
              <a:t>cell</a:t>
            </a:r>
            <a:r>
              <a:rPr lang="es-ES" i="1" dirty="0"/>
              <a:t> </a:t>
            </a:r>
            <a:r>
              <a:rPr lang="es-ES" i="1" dirty="0" err="1"/>
              <a:t>efficiency</a:t>
            </a:r>
            <a:r>
              <a:rPr lang="es-ES" i="1" dirty="0"/>
              <a:t>: 21%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28C1-98F4-0F41-B09E-B6E95B83F05B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53789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F079-61D9-3802-6236-098F0A02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9BAA37-E40B-6E2B-D044-CE98817483A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0050D87-846E-E3BE-C324-DF614C38B3B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7E689BC-58D6-F373-5D39-EEFF8D1D5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2F492DE-A521-6DAD-16B0-D929DB2D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7F0A787-588C-0992-29BF-A030791B2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62B304D8-F788-087B-6BE5-232081D2DC9A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A463E2-325D-23A6-4937-9CB90F747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2C4CAA-6C56-BE1A-8393-5244F628C172}"/>
              </a:ext>
            </a:extLst>
          </p:cNvPr>
          <p:cNvSpPr/>
          <p:nvPr/>
        </p:nvSpPr>
        <p:spPr>
          <a:xfrm>
            <a:off x="2586445" y="4531179"/>
            <a:ext cx="7367451" cy="2039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F59A8-2291-3F88-5748-1EA09B81AC76}"/>
              </a:ext>
            </a:extLst>
          </p:cNvPr>
          <p:cNvSpPr/>
          <p:nvPr/>
        </p:nvSpPr>
        <p:spPr>
          <a:xfrm>
            <a:off x="6270171" y="3076890"/>
            <a:ext cx="3232170" cy="1920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01DBFF3-869E-3201-5F1F-7E284F585F81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349698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CB66-9E86-AADE-4634-ABCFB51F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64D634-4BF5-5219-BB0E-95AC9268FEF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C9987D5-56B5-F46D-18C9-46CC9A03D85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D2095A7-8E58-C222-C0DD-0E15BD23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E686C69-C4DE-2E8C-63B1-C788B18B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23073CA-DBE6-5D34-115A-74085F8EF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75AE70C3-EE46-2E4C-A92B-D2C276F836B4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15721-4E46-EC7E-7573-247A69B3F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A1B983-FD21-5BEB-947B-2230CF33993C}"/>
              </a:ext>
            </a:extLst>
          </p:cNvPr>
          <p:cNvSpPr/>
          <p:nvPr/>
        </p:nvSpPr>
        <p:spPr>
          <a:xfrm>
            <a:off x="2586445" y="4531179"/>
            <a:ext cx="7367451" cy="2039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08189C-05B3-37F5-55AC-35B0A15077E0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2262452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29C0-0C4D-85C8-A9E6-303E3B70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4210E-5AF0-7DBE-8A6A-77C465E21B8E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190148C-6C06-441E-8F81-1AD4B2F9564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63E21A1-EC07-F62C-4B41-F681119E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3F3AAA8-F01A-D0FC-C065-6F553C19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182A930-7789-6A03-A581-714F133AB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7A42D7F5-1EA1-39DF-5F7D-D15265DBA73D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9A175F-C245-EDC4-5232-A7F6F2D64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38A6F0-DD39-3600-0200-9E593629AC70}"/>
              </a:ext>
            </a:extLst>
          </p:cNvPr>
          <p:cNvSpPr/>
          <p:nvPr/>
        </p:nvSpPr>
        <p:spPr>
          <a:xfrm>
            <a:off x="6096000" y="4531179"/>
            <a:ext cx="3857896" cy="2039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19912A5-9CCD-931C-493C-A2130CBA6707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393191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0158-998B-8063-A83A-177BFDC7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C8B53C-6CA6-14C2-2E30-AA38C76DE7EB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27D7933-F475-508F-651F-638B5581CC5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47B01557-59B5-C96E-8147-B6AE4C48A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DC8C2F0-A78E-8957-360D-B3BEADD7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802CD5A-7D56-3D0A-2F27-8FEAFF8A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9AA532E3-3181-700A-524B-4B668B19D2AB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FC6596-8B2B-301A-256F-4592A2C30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5C463F33-0D9F-73FA-4F9E-49B4A8FEDD06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257177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212C-6D63-CDAF-66B5-19DA6C44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7C224A-18DE-E0C8-C7FB-8C32E902F5B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3832FEE-9DB2-27B0-9705-843AC8BB03F8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45DC9B2-6224-0485-2EFC-7B3B9C40D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EA5F41F-6B7A-892C-C8E8-A90F3D05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34E8FEB-5AB7-F6D0-349F-FF41E3DB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D3CB5C25-7F16-B0CF-C349-BA7429EBA236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BD4F85-DE8F-67D9-95E7-0EE001AF2F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472"/>
          <a:stretch/>
        </p:blipFill>
        <p:spPr>
          <a:xfrm>
            <a:off x="965885" y="2508701"/>
            <a:ext cx="10415853" cy="2999586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B2ACC23-C5C2-35A9-B312-819C1640C757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129595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C1BA77-7BBE-A26D-11C4-39CCC805141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8" y="2166991"/>
            <a:ext cx="11020589" cy="4243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F8F85-3849-45D8-5A3E-44FC7D384328}"/>
              </a:ext>
            </a:extLst>
          </p:cNvPr>
          <p:cNvSpPr txBox="1"/>
          <p:nvPr/>
        </p:nvSpPr>
        <p:spPr>
          <a:xfrm>
            <a:off x="129443" y="644819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e1663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2548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Overview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AQME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8D73439-1435-F25D-B443-9AA5170ACC81}"/>
              </a:ext>
            </a:extLst>
          </p:cNvPr>
          <p:cNvSpPr>
            <a:spLocks/>
          </p:cNvSpPr>
          <p:nvPr/>
        </p:nvSpPr>
        <p:spPr bwMode="auto">
          <a:xfrm>
            <a:off x="7007074" y="1315354"/>
            <a:ext cx="1693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algn="ctr">
              <a:buSzPct val="77000"/>
            </a:pP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Shree </a:t>
            </a:r>
            <a:r>
              <a:rPr lang="en-US" dirty="0" err="1">
                <a:latin typeface="Gill Sans" charset="0"/>
                <a:cs typeface="Gill Sans" charset="0"/>
                <a:sym typeface="Gill Sans" charset="0"/>
              </a:rPr>
              <a:t>Sowndarya</a:t>
            </a:r>
            <a:endParaRPr lang="en-US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15" name="Picture 2" descr="shreesowndarya (Shree Sowndarya Santhanalakkshmi Vejaykummar) · GitHub">
            <a:extLst>
              <a:ext uri="{FF2B5EF4-FFF2-40B4-BE49-F238E27FC236}">
                <a16:creationId xmlns:a16="http://schemas.microsoft.com/office/drawing/2014/main" id="{D9343D2A-AE19-666A-4017-4A088BD47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5" t="26405" r="30134" b="20954"/>
          <a:stretch/>
        </p:blipFill>
        <p:spPr bwMode="auto">
          <a:xfrm>
            <a:off x="10384571" y="981683"/>
            <a:ext cx="1359234" cy="1359234"/>
          </a:xfrm>
          <a:prstGeom prst="ellipse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8241DF9-5DC6-DB57-7102-75A1A979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23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BDF0A84A-B262-41DC-72B5-651D73947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PeerJ - Profile - Robert Paton">
            <a:extLst>
              <a:ext uri="{FF2B5EF4-FFF2-40B4-BE49-F238E27FC236}">
                <a16:creationId xmlns:a16="http://schemas.microsoft.com/office/drawing/2014/main" id="{CC9AC21F-1BD8-B15F-DB48-372F4D6B4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277" y="971926"/>
            <a:ext cx="1362456" cy="1362456"/>
          </a:xfrm>
          <a:prstGeom prst="ellipse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541CBE18-FC52-9F62-928A-1A6DB2D4DD1B}"/>
              </a:ext>
            </a:extLst>
          </p:cNvPr>
          <p:cNvSpPr>
            <a:spLocks/>
          </p:cNvSpPr>
          <p:nvPr/>
        </p:nvSpPr>
        <p:spPr bwMode="auto">
          <a:xfrm>
            <a:off x="6967095" y="1654052"/>
            <a:ext cx="177334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algn="ctr">
              <a:buSzPct val="77000"/>
            </a:pPr>
            <a:r>
              <a:rPr lang="en-US" sz="1700">
                <a:latin typeface="Gill Sans" charset="0"/>
                <a:cs typeface="Gill Sans" charset="0"/>
                <a:sym typeface="Gill Sans" charset="0"/>
              </a:rPr>
              <a:t>Dr. </a:t>
            </a:r>
            <a:r>
              <a:rPr lang="en-US" sz="1700" dirty="0">
                <a:latin typeface="Gill Sans" charset="0"/>
                <a:cs typeface="Gill Sans" charset="0"/>
                <a:sym typeface="Gill Sans" charset="0"/>
              </a:rPr>
              <a:t>Robert S. Paton</a:t>
            </a:r>
          </a:p>
        </p:txBody>
      </p:sp>
    </p:spTree>
    <p:extLst>
      <p:ext uri="{BB962C8B-B14F-4D97-AF65-F5344CB8AC3E}">
        <p14:creationId xmlns:p14="http://schemas.microsoft.com/office/powerpoint/2010/main" val="156006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F8F85-3849-45D8-5A3E-44FC7D384328}"/>
              </a:ext>
            </a:extLst>
          </p:cNvPr>
          <p:cNvSpPr txBox="1"/>
          <p:nvPr/>
        </p:nvSpPr>
        <p:spPr>
          <a:xfrm>
            <a:off x="129444" y="6448191"/>
            <a:ext cx="6157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Alegre-Requena, Paton &amp; col., </a:t>
            </a: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e1663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D2B3890-7E95-484F-AF4B-EF2F33D3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24</a:t>
            </a:fld>
            <a:endParaRPr lang="en-US" sz="1400"/>
          </a:p>
        </p:txBody>
      </p:sp>
      <p:pic>
        <p:nvPicPr>
          <p:cNvPr id="25" name="Picture 24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A896C91-4D77-6A96-ED04-5E01D618A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DBBB5-91E4-A0F5-B4B9-2E2BA89FE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9" y="1869090"/>
            <a:ext cx="11900848" cy="406130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B0ACA0A-392C-15EC-440A-BD43E83C112F}"/>
              </a:ext>
            </a:extLst>
          </p:cNvPr>
          <p:cNvSpPr/>
          <p:nvPr/>
        </p:nvSpPr>
        <p:spPr>
          <a:xfrm>
            <a:off x="6665595" y="5692138"/>
            <a:ext cx="1461135" cy="494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32E740A-E13E-CF83-D650-9F1682E4E869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29425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End-to-end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workflows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DB5DB-71DB-9756-05B3-1D1D6358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287" y="6222539"/>
            <a:ext cx="1728947" cy="407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8DCA18-E45E-9625-EC75-3015D8E6E404}"/>
              </a:ext>
            </a:extLst>
          </p:cNvPr>
          <p:cNvSpPr txBox="1"/>
          <p:nvPr/>
        </p:nvSpPr>
        <p:spPr>
          <a:xfrm>
            <a:off x="6575049" y="6241843"/>
            <a:ext cx="23369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" i="1" dirty="0" err="1">
                <a:latin typeface="Gill Sans"/>
              </a:rPr>
              <a:t>sbatch</a:t>
            </a:r>
            <a:r>
              <a:rPr lang="es-ES" i="1" dirty="0">
                <a:latin typeface="Gill Sans"/>
              </a:rPr>
              <a:t> AQME_script.sh</a:t>
            </a:r>
            <a:endParaRPr lang="en-US" b="1" i="1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32421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stats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F8F85-3849-45D8-5A3E-44FC7D384328}"/>
              </a:ext>
            </a:extLst>
          </p:cNvPr>
          <p:cNvSpPr txBox="1"/>
          <p:nvPr/>
        </p:nvSpPr>
        <p:spPr>
          <a:xfrm>
            <a:off x="129443" y="644819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e1663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4F34EA-0B55-9041-0889-7E9B01ED5ABE}"/>
              </a:ext>
            </a:extLst>
          </p:cNvPr>
          <p:cNvSpPr/>
          <p:nvPr/>
        </p:nvSpPr>
        <p:spPr>
          <a:xfrm>
            <a:off x="1544630" y="1955645"/>
            <a:ext cx="9212580" cy="42437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4590BE-0629-623E-5824-2A9D525B8470}"/>
              </a:ext>
            </a:extLst>
          </p:cNvPr>
          <p:cNvSpPr txBox="1"/>
          <p:nvPr/>
        </p:nvSpPr>
        <p:spPr>
          <a:xfrm>
            <a:off x="1805834" y="4647018"/>
            <a:ext cx="1947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Known active users: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7E016E-0C1D-B51A-021D-EE10A8329DE7}"/>
              </a:ext>
            </a:extLst>
          </p:cNvPr>
          <p:cNvSpPr txBox="1"/>
          <p:nvPr/>
        </p:nvSpPr>
        <p:spPr>
          <a:xfrm>
            <a:off x="1870760" y="5089803"/>
            <a:ext cx="18175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u="sng" dirty="0">
                <a:latin typeface="Gill Sans"/>
              </a:rPr>
              <a:t>Academic groups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45968B-5C59-8170-6AA8-BB38457A3EC9}"/>
              </a:ext>
            </a:extLst>
          </p:cNvPr>
          <p:cNvSpPr txBox="1"/>
          <p:nvPr/>
        </p:nvSpPr>
        <p:spPr>
          <a:xfrm>
            <a:off x="6745112" y="4365777"/>
            <a:ext cx="3023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u="sng" dirty="0">
                <a:latin typeface="Gill Sans"/>
              </a:rPr>
              <a:t>Companies</a:t>
            </a:r>
          </a:p>
        </p:txBody>
      </p:sp>
      <p:pic>
        <p:nvPicPr>
          <p:cNvPr id="63" name="Picture 2" descr="Home | GlaxoSmithKline España">
            <a:extLst>
              <a:ext uri="{FF2B5EF4-FFF2-40B4-BE49-F238E27FC236}">
                <a16:creationId xmlns:a16="http://schemas.microsoft.com/office/drawing/2014/main" id="{DDC09633-DA99-C12A-B5B3-532203381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8" r="23913"/>
          <a:stretch/>
        </p:blipFill>
        <p:spPr bwMode="auto">
          <a:xfrm>
            <a:off x="8018893" y="4112761"/>
            <a:ext cx="888067" cy="87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6" name="Picture 4" descr="AbbVie Inc. – Company Products, History, Lawsuits and Recalls">
            <a:extLst>
              <a:ext uri="{FF2B5EF4-FFF2-40B4-BE49-F238E27FC236}">
                <a16:creationId xmlns:a16="http://schemas.microsoft.com/office/drawing/2014/main" id="{EAFB8D3E-4602-6252-1388-BD5256B83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7" b="28627"/>
          <a:stretch/>
        </p:blipFill>
        <p:spPr bwMode="auto">
          <a:xfrm>
            <a:off x="8973070" y="4276414"/>
            <a:ext cx="1746280" cy="46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7" name="Rectangle 5">
            <a:extLst>
              <a:ext uri="{FF2B5EF4-FFF2-40B4-BE49-F238E27FC236}">
                <a16:creationId xmlns:a16="http://schemas.microsoft.com/office/drawing/2014/main" id="{57E6BF3C-30B5-DACC-CB67-DE02FA1F3A05}"/>
              </a:ext>
            </a:extLst>
          </p:cNvPr>
          <p:cNvSpPr>
            <a:spLocks/>
          </p:cNvSpPr>
          <p:nvPr/>
        </p:nvSpPr>
        <p:spPr bwMode="auto">
          <a:xfrm>
            <a:off x="4402231" y="4105005"/>
            <a:ext cx="181752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algn="ctr">
              <a:buSzPct val="77000"/>
            </a:pPr>
            <a:r>
              <a:rPr lang="en-US" sz="1600" dirty="0">
                <a:latin typeface="Gill Sans" charset="0"/>
                <a:cs typeface="Gill Sans" charset="0"/>
                <a:sym typeface="Gill Sans" charset="0"/>
              </a:rPr>
              <a:t>Prof.  Juho Helaja</a:t>
            </a:r>
          </a:p>
          <a:p>
            <a:pPr algn="ctr">
              <a:buSzPct val="77000"/>
            </a:pPr>
            <a:r>
              <a:rPr lang="en-US" sz="1600" dirty="0">
                <a:latin typeface="Gill Sans" charset="0"/>
                <a:cs typeface="Gill Sans" charset="0"/>
                <a:sym typeface="Gill Sans" charset="0"/>
              </a:rPr>
              <a:t>University of Helsinki</a:t>
            </a:r>
          </a:p>
        </p:txBody>
      </p:sp>
      <p:sp>
        <p:nvSpPr>
          <p:cNvPr id="19461" name="TextBox 19460">
            <a:extLst>
              <a:ext uri="{FF2B5EF4-FFF2-40B4-BE49-F238E27FC236}">
                <a16:creationId xmlns:a16="http://schemas.microsoft.com/office/drawing/2014/main" id="{356A1180-31E4-B83E-7CE0-185D3B3A3EF7}"/>
              </a:ext>
            </a:extLst>
          </p:cNvPr>
          <p:cNvSpPr txBox="1"/>
          <p:nvPr/>
        </p:nvSpPr>
        <p:spPr>
          <a:xfrm>
            <a:off x="1214568" y="5519047"/>
            <a:ext cx="31299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Gill Sans"/>
              </a:rPr>
              <a:t>Dr. A. Vazquez-</a:t>
            </a:r>
            <a:r>
              <a:rPr lang="en-US" sz="1600" b="0" i="0" dirty="0" err="1">
                <a:effectLst/>
                <a:latin typeface="Gill Sans"/>
              </a:rPr>
              <a:t>Mayagoitia</a:t>
            </a:r>
            <a:endParaRPr lang="en-US" sz="1600" b="0" i="0" dirty="0">
              <a:effectLst/>
              <a:latin typeface="Gill Sans"/>
            </a:endParaRPr>
          </a:p>
          <a:p>
            <a:pPr algn="ctr"/>
            <a:r>
              <a:rPr lang="en-US" sz="1600" b="0" i="0" dirty="0">
                <a:effectLst/>
                <a:latin typeface="Gill Sans"/>
              </a:rPr>
              <a:t>Argonne National Lab.</a:t>
            </a:r>
            <a:endParaRPr lang="en-US" sz="1600" dirty="0">
              <a:latin typeface="Gill Sans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A901B83-0343-A782-45BA-8934F3E8FA83}"/>
              </a:ext>
            </a:extLst>
          </p:cNvPr>
          <p:cNvSpPr>
            <a:spLocks/>
          </p:cNvSpPr>
          <p:nvPr/>
        </p:nvSpPr>
        <p:spPr bwMode="auto">
          <a:xfrm>
            <a:off x="355336" y="1234673"/>
            <a:ext cx="24250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Users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interest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9B3B316-6ABC-BB00-122F-B9873907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25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5F82268-0A5C-CA07-4C0F-C77C771CC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FD1BE6-0ED2-F1B2-28F5-9EA56749BC00}"/>
              </a:ext>
            </a:extLst>
          </p:cNvPr>
          <p:cNvSpPr txBox="1"/>
          <p:nvPr/>
        </p:nvSpPr>
        <p:spPr>
          <a:xfrm>
            <a:off x="2282638" y="3184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Gill Sans"/>
              </a:rPr>
              <a:t>www.readthedocs.org/projects/aqme</a:t>
            </a:r>
            <a:endParaRPr lang="en-US" i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B57BBF-AB93-C665-AF46-A96A7D45C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9226" y="2636136"/>
            <a:ext cx="1423144" cy="402938"/>
          </a:xfrm>
          <a:prstGeom prst="rect">
            <a:avLst/>
          </a:prstGeom>
        </p:spPr>
      </p:pic>
      <p:pic>
        <p:nvPicPr>
          <p:cNvPr id="23" name="Picture 8" descr="Read the Docs - Wikipedia">
            <a:extLst>
              <a:ext uri="{FF2B5EF4-FFF2-40B4-BE49-F238E27FC236}">
                <a16:creationId xmlns:a16="http://schemas.microsoft.com/office/drawing/2014/main" id="{295E07F0-182F-6790-E6C4-856C30356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398" y="3080845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5398C9-04CB-BE2A-573D-85ABB0A82DE1}"/>
              </a:ext>
            </a:extLst>
          </p:cNvPr>
          <p:cNvSpPr txBox="1"/>
          <p:nvPr/>
        </p:nvSpPr>
        <p:spPr>
          <a:xfrm>
            <a:off x="2299611" y="23610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Gill Sans"/>
              </a:rPr>
              <a:t>https://github.com/jvalegre/aqme</a:t>
            </a:r>
            <a:endParaRPr lang="en-US" i="1" dirty="0"/>
          </a:p>
        </p:txBody>
      </p:sp>
      <p:pic>
        <p:nvPicPr>
          <p:cNvPr id="27" name="Picture 6" descr="GitHub Logo, symbol, meaning, history, PNG, brand">
            <a:extLst>
              <a:ext uri="{FF2B5EF4-FFF2-40B4-BE49-F238E27FC236}">
                <a16:creationId xmlns:a16="http://schemas.microsoft.com/office/drawing/2014/main" id="{FE3F2DE7-5F41-FB41-E8C2-4A5680CF5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3" t="1" r="29798" b="32815"/>
          <a:stretch/>
        </p:blipFill>
        <p:spPr bwMode="auto">
          <a:xfrm>
            <a:off x="1726923" y="2246079"/>
            <a:ext cx="559824" cy="51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465" name="Straight Connector 19464">
            <a:extLst>
              <a:ext uri="{FF2B5EF4-FFF2-40B4-BE49-F238E27FC236}">
                <a16:creationId xmlns:a16="http://schemas.microsoft.com/office/drawing/2014/main" id="{62619DE8-9FDC-FA52-28E6-AFC15CFD20DF}"/>
              </a:ext>
            </a:extLst>
          </p:cNvPr>
          <p:cNvCxnSpPr/>
          <p:nvPr/>
        </p:nvCxnSpPr>
        <p:spPr>
          <a:xfrm>
            <a:off x="6660659" y="3494695"/>
            <a:ext cx="387817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AE6ED55-E97D-B5A4-189E-724E552CA3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287" y="2510377"/>
            <a:ext cx="2686362" cy="655472"/>
          </a:xfrm>
          <a:prstGeom prst="rect">
            <a:avLst/>
          </a:prstGeom>
        </p:spPr>
      </p:pic>
      <p:pic>
        <p:nvPicPr>
          <p:cNvPr id="1026" name="Picture 2" descr="Eli Lilly and Company - Wikipedia">
            <a:extLst>
              <a:ext uri="{FF2B5EF4-FFF2-40B4-BE49-F238E27FC236}">
                <a16:creationId xmlns:a16="http://schemas.microsoft.com/office/drawing/2014/main" id="{B32AA996-066C-DA1B-FF6F-544B4E6C6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387" y="5126964"/>
            <a:ext cx="1294872" cy="73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martsheet ayuda a Syngenta a ...">
            <a:extLst>
              <a:ext uri="{FF2B5EF4-FFF2-40B4-BE49-F238E27FC236}">
                <a16:creationId xmlns:a16="http://schemas.microsoft.com/office/drawing/2014/main" id="{9EE665C8-6086-ED7D-0C90-A4AFE2814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138" y="5249147"/>
            <a:ext cx="1610378" cy="48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32B6422-2159-A4B8-2A42-FEECC44F6B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2228" y="4810990"/>
            <a:ext cx="1029283" cy="1226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132FE9-23E1-8E61-A9B4-E550E0D8ED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6400" y="4029385"/>
            <a:ext cx="2057400" cy="39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71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402C-216C-6D60-B7D9-7C98D277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9A2C2F-8142-9FC6-32FB-D92901443BB4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6FA3CDB-7447-211C-13E9-104A303A74D6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0E0E907-C933-5FFA-5152-89F378FC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0B57400-200F-36E9-A743-A1E1D4B0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26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712DDFE-EFB8-F4BC-FAEC-4BFC4A1AC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8D54ED-4E46-4C4D-7F70-B68C759EAA51}"/>
              </a:ext>
            </a:extLst>
          </p:cNvPr>
          <p:cNvSpPr txBox="1"/>
          <p:nvPr/>
        </p:nvSpPr>
        <p:spPr>
          <a:xfrm>
            <a:off x="-369570" y="6311601"/>
            <a:ext cx="54787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Future Leaders Special Issue. </a:t>
            </a: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58D9CED-AF8D-68C2-7334-4B1490D23C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4" y="1551824"/>
            <a:ext cx="11713257" cy="418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43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81D0-310A-47F3-C01D-03E9D0C0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0E34502-AC12-0F5C-162C-209D1B3C5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4" y="1551824"/>
            <a:ext cx="11713257" cy="418330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FD170C-0A20-DD58-A491-62E156000E4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4991FF7-5AEA-299D-DC94-24375E8EF43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A82608D-CCBE-C1E6-F815-3FBE65F71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F5591FA-B76C-F84C-A81D-8D481BE2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27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7E1F38C-7C5A-5DDE-A4BB-A09AC57F0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037E4F-8E98-8694-42AC-19DEAF81ED5A}"/>
              </a:ext>
            </a:extLst>
          </p:cNvPr>
          <p:cNvSpPr/>
          <p:nvPr/>
        </p:nvSpPr>
        <p:spPr>
          <a:xfrm>
            <a:off x="5863590" y="1359434"/>
            <a:ext cx="6168198" cy="441271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B3201E-3DA3-DE7F-4D15-84A46F8CC547}"/>
              </a:ext>
            </a:extLst>
          </p:cNvPr>
          <p:cNvSpPr/>
          <p:nvPr/>
        </p:nvSpPr>
        <p:spPr>
          <a:xfrm>
            <a:off x="0" y="3623310"/>
            <a:ext cx="5863590" cy="21279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E2CBC-F81F-ADF7-14BE-D17996C8E789}"/>
              </a:ext>
            </a:extLst>
          </p:cNvPr>
          <p:cNvSpPr txBox="1"/>
          <p:nvPr/>
        </p:nvSpPr>
        <p:spPr>
          <a:xfrm>
            <a:off x="-369570" y="6311601"/>
            <a:ext cx="54787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Future Leaders Special Issue. </a:t>
            </a: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639093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DA1D-7F74-19DB-3886-C42A854B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E29DD6-BDB8-2EA4-2E9C-12F7245E345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A4C59A1-999C-A4A8-D206-8D706A64867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7B909FA-CCB7-E9A9-5963-78A7EEA93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5600034-3E59-6CB5-5DD4-F4334F8E0211}"/>
              </a:ext>
            </a:extLst>
          </p:cNvPr>
          <p:cNvSpPr>
            <a:spLocks/>
          </p:cNvSpPr>
          <p:nvPr/>
        </p:nvSpPr>
        <p:spPr bwMode="auto">
          <a:xfrm>
            <a:off x="284498" y="1313244"/>
            <a:ext cx="39270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Conformer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searches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are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tricky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7C76431-1C43-C30B-D09A-B49A1375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28</a:t>
            </a:fld>
            <a:endParaRPr lang="en-US" sz="1400"/>
          </a:p>
        </p:txBody>
      </p:sp>
      <p:pic>
        <p:nvPicPr>
          <p:cNvPr id="10" name="Picture 9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E4AEEAD-B6B1-1670-0F19-C7B1D35E8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A44283-3707-BABB-7843-919D168ECFC2}"/>
              </a:ext>
            </a:extLst>
          </p:cNvPr>
          <p:cNvSpPr txBox="1"/>
          <p:nvPr/>
        </p:nvSpPr>
        <p:spPr>
          <a:xfrm>
            <a:off x="3608438" y="5144646"/>
            <a:ext cx="5267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latin typeface="Gill Sans" charset="0"/>
                <a:cs typeface="Gill Sans" charset="0"/>
                <a:sym typeface="Gill Sans" charset="0"/>
              </a:rPr>
              <a:t>What’s the most stable conformer in each case?</a:t>
            </a:r>
            <a:endParaRPr lang="en-US" sz="20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998CF7-4581-0882-DFAD-5BBCD595CE70}"/>
              </a:ext>
            </a:extLst>
          </p:cNvPr>
          <p:cNvSpPr txBox="1"/>
          <p:nvPr/>
        </p:nvSpPr>
        <p:spPr>
          <a:xfrm>
            <a:off x="97637" y="6082361"/>
            <a:ext cx="2830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>
                <a:latin typeface="Gill Sans"/>
              </a:rPr>
              <a:t>Future Leaders Special Issue. </a:t>
            </a:r>
          </a:p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F71922-FA38-D0BD-5752-25AB14C12D94}"/>
              </a:ext>
            </a:extLst>
          </p:cNvPr>
          <p:cNvSpPr txBox="1"/>
          <p:nvPr/>
        </p:nvSpPr>
        <p:spPr>
          <a:xfrm>
            <a:off x="3357461" y="5943048"/>
            <a:ext cx="34539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s-ES" sz="1600" b="1" dirty="0">
                <a:latin typeface="Gill Sans"/>
              </a:rPr>
              <a:t>1: </a:t>
            </a:r>
            <a:r>
              <a:rPr lang="en-US" sz="1600" i="1" dirty="0">
                <a:latin typeface="Gill Sans"/>
              </a:rPr>
              <a:t>Proc. Comb. Inst.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39</a:t>
            </a:r>
            <a:r>
              <a:rPr lang="fr-FR" sz="1600" dirty="0">
                <a:latin typeface="Gill Sans"/>
              </a:rPr>
              <a:t>, 877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2</a:t>
            </a:r>
            <a:r>
              <a:rPr lang="en-US" sz="1600" dirty="0">
                <a:latin typeface="Gill Sans"/>
              </a:rPr>
              <a:t>,</a:t>
            </a:r>
            <a:r>
              <a:rPr lang="en-US" sz="1600" b="1" dirty="0">
                <a:latin typeface="Gill Sans"/>
              </a:rPr>
              <a:t> 3: </a:t>
            </a:r>
            <a:r>
              <a:rPr lang="de-DE" sz="1600" i="1" dirty="0">
                <a:latin typeface="Gill Sans"/>
              </a:rPr>
              <a:t>Chem. Eng. J.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466</a:t>
            </a:r>
            <a:r>
              <a:rPr lang="de-DE" sz="1600" dirty="0">
                <a:latin typeface="Gill Sans"/>
              </a:rPr>
              <a:t>, 143346.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4:</a:t>
            </a:r>
            <a:r>
              <a:rPr lang="en-US" sz="1600" dirty="0">
                <a:latin typeface="Gill Sans"/>
              </a:rPr>
              <a:t> </a:t>
            </a:r>
            <a:r>
              <a:rPr lang="fr-FR" sz="1600" i="1" dirty="0">
                <a:latin typeface="Gill Sans"/>
              </a:rPr>
              <a:t>Nature Commun. </a:t>
            </a:r>
            <a:r>
              <a:rPr lang="fr-FR" sz="1600" b="1" dirty="0">
                <a:latin typeface="Gill Sans"/>
              </a:rPr>
              <a:t>2022</a:t>
            </a:r>
            <a:r>
              <a:rPr lang="fr-FR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13</a:t>
            </a:r>
            <a:r>
              <a:rPr lang="fr-FR" sz="1600" dirty="0">
                <a:latin typeface="Gill Sans"/>
              </a:rPr>
              <a:t>, 6885.</a:t>
            </a:r>
            <a:endParaRPr lang="en-US" sz="1600" dirty="0">
              <a:latin typeface="Gill San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72CA5F-D64B-67B5-98E1-1EE5F4ECD72E}"/>
              </a:ext>
            </a:extLst>
          </p:cNvPr>
          <p:cNvCxnSpPr/>
          <p:nvPr/>
        </p:nvCxnSpPr>
        <p:spPr>
          <a:xfrm>
            <a:off x="3071527" y="5963508"/>
            <a:ext cx="0" cy="810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FE7E5C-B2EC-C698-B6DA-50F418EDC05B}"/>
              </a:ext>
            </a:extLst>
          </p:cNvPr>
          <p:cNvSpPr txBox="1"/>
          <p:nvPr/>
        </p:nvSpPr>
        <p:spPr>
          <a:xfrm>
            <a:off x="6936361" y="5943047"/>
            <a:ext cx="4873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5: </a:t>
            </a:r>
            <a:r>
              <a:rPr lang="de-DE" sz="1600" i="1" dirty="0">
                <a:latin typeface="Gill Sans"/>
              </a:rPr>
              <a:t>J. Am. Chem. Soc. </a:t>
            </a:r>
            <a:r>
              <a:rPr lang="de-DE" sz="1600" b="1" dirty="0">
                <a:latin typeface="Gill Sans"/>
              </a:rPr>
              <a:t>2022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144</a:t>
            </a:r>
            <a:r>
              <a:rPr lang="de-DE" sz="1600" dirty="0">
                <a:latin typeface="Gill Sans"/>
              </a:rPr>
              <a:t>, 86.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6: </a:t>
            </a:r>
            <a:r>
              <a:rPr lang="de-DE" sz="1600" i="1" dirty="0">
                <a:latin typeface="Gill Sans"/>
              </a:rPr>
              <a:t>Chem. Eur. J. </a:t>
            </a:r>
            <a:r>
              <a:rPr lang="de-DE" sz="1600" b="1" dirty="0">
                <a:latin typeface="Gill Sans"/>
              </a:rPr>
              <a:t>2017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23</a:t>
            </a:r>
            <a:r>
              <a:rPr lang="de-DE" sz="1600" dirty="0">
                <a:latin typeface="Gill Sans"/>
              </a:rPr>
              <a:t>, 15336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7: </a:t>
            </a:r>
            <a:r>
              <a:rPr lang="de-DE" sz="1600" i="1" dirty="0">
                <a:latin typeface="Gill Sans"/>
              </a:rPr>
              <a:t>ChemRxiv</a:t>
            </a:r>
            <a:r>
              <a:rPr lang="de-DE" sz="1600" dirty="0">
                <a:latin typeface="Gill Sans"/>
              </a:rPr>
              <a:t>,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10.26434/chemrxiv-2023-8jzsp </a:t>
            </a:r>
            <a:r>
              <a:rPr lang="en-US" sz="1600" dirty="0">
                <a:latin typeface="Gill Sans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95A29-8752-E452-1B8B-625DB80A2B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3862"/>
          <a:stretch/>
        </p:blipFill>
        <p:spPr>
          <a:xfrm>
            <a:off x="1696434" y="2100286"/>
            <a:ext cx="9089136" cy="235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46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9A38-11B8-9B84-CF6C-D6DBD9BB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C004E3-A71D-AB99-9376-DA8164F240FB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99C8BA8-B305-E523-5013-1A3629A21F7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8FC3E59C-8E5C-E2FA-3CEC-678E2C64B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1F39DAF-289A-5307-F0B8-538D5DC0BBCD}"/>
              </a:ext>
            </a:extLst>
          </p:cNvPr>
          <p:cNvSpPr>
            <a:spLocks/>
          </p:cNvSpPr>
          <p:nvPr/>
        </p:nvSpPr>
        <p:spPr bwMode="auto">
          <a:xfrm>
            <a:off x="284498" y="1313244"/>
            <a:ext cx="39270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Conformer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searches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are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tricky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B15715E-B23D-BD06-C6C6-D153962E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29</a:t>
            </a:fld>
            <a:endParaRPr lang="en-US" sz="1400"/>
          </a:p>
        </p:txBody>
      </p:sp>
      <p:pic>
        <p:nvPicPr>
          <p:cNvPr id="10" name="Picture 9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F7E29298-A78E-08B1-2195-E35CC2AAC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C42B6A-B455-3C10-E85D-FC49767E226B}"/>
              </a:ext>
            </a:extLst>
          </p:cNvPr>
          <p:cNvSpPr txBox="1"/>
          <p:nvPr/>
        </p:nvSpPr>
        <p:spPr>
          <a:xfrm>
            <a:off x="97637" y="6082361"/>
            <a:ext cx="2830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>
                <a:latin typeface="Gill Sans"/>
              </a:rPr>
              <a:t>Future Leaders Special Issue. </a:t>
            </a:r>
          </a:p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8EFB0-3AA2-0E3D-57B4-91B3F9AAD862}"/>
              </a:ext>
            </a:extLst>
          </p:cNvPr>
          <p:cNvSpPr txBox="1"/>
          <p:nvPr/>
        </p:nvSpPr>
        <p:spPr>
          <a:xfrm>
            <a:off x="3357461" y="5943048"/>
            <a:ext cx="34539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s-ES" sz="1600" b="1" dirty="0">
                <a:latin typeface="Gill Sans"/>
              </a:rPr>
              <a:t>1: </a:t>
            </a:r>
            <a:r>
              <a:rPr lang="en-US" sz="1600" i="1" dirty="0">
                <a:latin typeface="Gill Sans"/>
              </a:rPr>
              <a:t>Proc. Comb. Inst.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39</a:t>
            </a:r>
            <a:r>
              <a:rPr lang="fr-FR" sz="1600" dirty="0">
                <a:latin typeface="Gill Sans"/>
              </a:rPr>
              <a:t>, 877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2</a:t>
            </a:r>
            <a:r>
              <a:rPr lang="en-US" sz="1600" dirty="0">
                <a:latin typeface="Gill Sans"/>
              </a:rPr>
              <a:t>,</a:t>
            </a:r>
            <a:r>
              <a:rPr lang="en-US" sz="1600" b="1" dirty="0">
                <a:latin typeface="Gill Sans"/>
              </a:rPr>
              <a:t> 3: </a:t>
            </a:r>
            <a:r>
              <a:rPr lang="de-DE" sz="1600" i="1" dirty="0">
                <a:latin typeface="Gill Sans"/>
              </a:rPr>
              <a:t>Chem. Eng. J.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466</a:t>
            </a:r>
            <a:r>
              <a:rPr lang="de-DE" sz="1600" dirty="0">
                <a:latin typeface="Gill Sans"/>
              </a:rPr>
              <a:t>, 143346.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4:</a:t>
            </a:r>
            <a:r>
              <a:rPr lang="en-US" sz="1600" dirty="0">
                <a:latin typeface="Gill Sans"/>
              </a:rPr>
              <a:t> </a:t>
            </a:r>
            <a:r>
              <a:rPr lang="fr-FR" sz="1600" i="1" dirty="0">
                <a:latin typeface="Gill Sans"/>
              </a:rPr>
              <a:t>Nature Commun. </a:t>
            </a:r>
            <a:r>
              <a:rPr lang="fr-FR" sz="1600" b="1" dirty="0">
                <a:latin typeface="Gill Sans"/>
              </a:rPr>
              <a:t>2022</a:t>
            </a:r>
            <a:r>
              <a:rPr lang="fr-FR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13</a:t>
            </a:r>
            <a:r>
              <a:rPr lang="fr-FR" sz="1600" dirty="0">
                <a:latin typeface="Gill Sans"/>
              </a:rPr>
              <a:t>, 6885.</a:t>
            </a:r>
            <a:endParaRPr lang="en-US" sz="1600" dirty="0">
              <a:latin typeface="Gill San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67BC5A-B599-C275-4C9B-93EE554C05D2}"/>
              </a:ext>
            </a:extLst>
          </p:cNvPr>
          <p:cNvCxnSpPr/>
          <p:nvPr/>
        </p:nvCxnSpPr>
        <p:spPr>
          <a:xfrm>
            <a:off x="3071527" y="5963508"/>
            <a:ext cx="0" cy="810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E42FC8-CABE-F26E-53ED-8237A1D832D6}"/>
              </a:ext>
            </a:extLst>
          </p:cNvPr>
          <p:cNvSpPr txBox="1"/>
          <p:nvPr/>
        </p:nvSpPr>
        <p:spPr>
          <a:xfrm>
            <a:off x="6936361" y="5943047"/>
            <a:ext cx="4873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5: </a:t>
            </a:r>
            <a:r>
              <a:rPr lang="de-DE" sz="1600" i="1" dirty="0">
                <a:latin typeface="Gill Sans"/>
              </a:rPr>
              <a:t>J. Am. Chem. Soc. </a:t>
            </a:r>
            <a:r>
              <a:rPr lang="de-DE" sz="1600" b="1" dirty="0">
                <a:latin typeface="Gill Sans"/>
              </a:rPr>
              <a:t>2022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144</a:t>
            </a:r>
            <a:r>
              <a:rPr lang="de-DE" sz="1600" dirty="0">
                <a:latin typeface="Gill Sans"/>
              </a:rPr>
              <a:t>, 86.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6: </a:t>
            </a:r>
            <a:r>
              <a:rPr lang="de-DE" sz="1600" i="1" dirty="0">
                <a:latin typeface="Gill Sans"/>
              </a:rPr>
              <a:t>Chem. Eur. J. </a:t>
            </a:r>
            <a:r>
              <a:rPr lang="de-DE" sz="1600" b="1" dirty="0">
                <a:latin typeface="Gill Sans"/>
              </a:rPr>
              <a:t>2017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23</a:t>
            </a:r>
            <a:r>
              <a:rPr lang="de-DE" sz="1600" dirty="0">
                <a:latin typeface="Gill Sans"/>
              </a:rPr>
              <a:t>, 15336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7: </a:t>
            </a:r>
            <a:r>
              <a:rPr lang="de-DE" sz="1600" i="1" dirty="0">
                <a:latin typeface="Gill Sans"/>
              </a:rPr>
              <a:t>ChemRxiv</a:t>
            </a:r>
            <a:r>
              <a:rPr lang="de-DE" sz="1600" dirty="0">
                <a:latin typeface="Gill Sans"/>
              </a:rPr>
              <a:t>,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10.26434/chemrxiv-2023-8jzsp </a:t>
            </a:r>
            <a:r>
              <a:rPr lang="en-US" sz="1600" dirty="0">
                <a:latin typeface="Gill Sans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38118-E9EB-1842-0CBC-782B92B00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434" y="2100285"/>
            <a:ext cx="9089136" cy="356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2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100D-7B56-CD1E-05BB-77FD7F22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BE8CD2-9D45-73F2-8B6C-00897D4BC90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A11497C-DB71-9845-622F-96864007A1B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7AB1278-BBB2-960F-4B49-B912614FC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5DA9C4E-8EC1-CE49-2421-18CB4D44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30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08787C2-6979-8A7C-C684-3D9C25CF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9A6801D-E508-C9F7-FDD8-F06F02F23E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4" y="1551824"/>
            <a:ext cx="11713257" cy="4183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A61EE1-78CF-5586-9187-E953662B01EF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6</a:t>
            </a:r>
            <a:r>
              <a:rPr lang="en-US" sz="1600" dirty="0">
                <a:latin typeface="Gill Sans"/>
              </a:rPr>
              <a:t>, 459</a:t>
            </a:r>
          </a:p>
        </p:txBody>
      </p:sp>
      <p:pic>
        <p:nvPicPr>
          <p:cNvPr id="1026" name="Picture 2" descr="Prof. Dr. Kjell Jorner | ETH Zurich">
            <a:extLst>
              <a:ext uri="{FF2B5EF4-FFF2-40B4-BE49-F238E27FC236}">
                <a16:creationId xmlns:a16="http://schemas.microsoft.com/office/drawing/2014/main" id="{247E2F0C-3902-469E-C327-1B69EF21F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" b="24000"/>
          <a:stretch/>
        </p:blipFill>
        <p:spPr bwMode="auto">
          <a:xfrm>
            <a:off x="7224830" y="5407388"/>
            <a:ext cx="1374140" cy="1366657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46B62D-11B2-5F1E-2D9F-718A38718165}"/>
              </a:ext>
            </a:extLst>
          </p:cNvPr>
          <p:cNvSpPr txBox="1"/>
          <p:nvPr/>
        </p:nvSpPr>
        <p:spPr>
          <a:xfrm>
            <a:off x="5521719" y="6019746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"/>
              </a:rPr>
              <a:t>Dr. Kjell </a:t>
            </a:r>
            <a:r>
              <a:rPr lang="en-US" dirty="0" err="1">
                <a:latin typeface="Gill Sans"/>
              </a:rPr>
              <a:t>Jorner</a:t>
            </a:r>
            <a:endParaRPr lang="en-US" dirty="0">
              <a:latin typeface="Gill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B0BC9E-7CFD-2CAB-D280-5FC475BB1C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146"/>
          <a:stretch/>
        </p:blipFill>
        <p:spPr>
          <a:xfrm>
            <a:off x="9266161" y="5844381"/>
            <a:ext cx="2015948" cy="3600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539E7D-DCD6-ED49-3EDC-F843EB5400AC}"/>
              </a:ext>
            </a:extLst>
          </p:cNvPr>
          <p:cNvSpPr/>
          <p:nvPr/>
        </p:nvSpPr>
        <p:spPr>
          <a:xfrm>
            <a:off x="236044" y="1551824"/>
            <a:ext cx="11795744" cy="216292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1E08A-D98C-7003-233B-01627ABE20CC}"/>
              </a:ext>
            </a:extLst>
          </p:cNvPr>
          <p:cNvSpPr/>
          <p:nvPr/>
        </p:nvSpPr>
        <p:spPr>
          <a:xfrm>
            <a:off x="137352" y="3658579"/>
            <a:ext cx="5691948" cy="216292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0E72F9-974D-3E25-DB45-5EC6AB213E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8979" y="6242154"/>
            <a:ext cx="810312" cy="55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88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B731-3886-15DE-317C-F6215283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49249C-BB79-FCA3-478A-523C600FF3D5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FAA4C8C-6810-E4D1-1F1E-1A884289861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54AA612-D889-0AF6-104D-A50947C0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1ABB34E-FE89-4A27-EA5E-A14AADE5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31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A48B048-35F9-2CF7-44AD-105F8A06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4FE13-83E1-E52B-1C89-7C9A5D6D5506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ABE200-C347-EA45-BDD2-9BDDF48AD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327" y="1714864"/>
            <a:ext cx="6055345" cy="412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3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F13E-85DF-3D7C-0D00-99E8E45F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BE639F-D50C-1F79-D4CD-AE96DFDB835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3270A0A-9F02-6324-E214-883B4F9F964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0F69F39-E791-F65C-1E6A-721FDE23E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1DB94CC-7B5B-F827-D473-DE47A139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9793EB3-8BC9-00DF-7C57-CD572E07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58F9A645-77DD-A346-3320-476BF3E418C3}"/>
              </a:ext>
            </a:extLst>
          </p:cNvPr>
          <p:cNvSpPr>
            <a:spLocks/>
          </p:cNvSpPr>
          <p:nvPr/>
        </p:nvSpPr>
        <p:spPr bwMode="auto">
          <a:xfrm>
            <a:off x="2155056" y="3527122"/>
            <a:ext cx="987673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were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not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enough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low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)</a:t>
            </a: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many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other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with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hard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interpretation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. RDKit)</a:t>
            </a:r>
          </a:p>
        </p:txBody>
      </p:sp>
      <p:pic>
        <p:nvPicPr>
          <p:cNvPr id="1032" name="Picture 8" descr="191,200+ Goals Icon Stock Illustrations, Royalty-Free Vector Graphics &amp;  Clip Art - iStock | Smart goals icon, Financial goals icon, Business goals  icon">
            <a:extLst>
              <a:ext uri="{FF2B5EF4-FFF2-40B4-BE49-F238E27FC236}">
                <a16:creationId xmlns:a16="http://schemas.microsoft.com/office/drawing/2014/main" id="{4BFF8B59-4031-DCF5-BF08-558405AB81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22133" r="12100" b="21675"/>
          <a:stretch/>
        </p:blipFill>
        <p:spPr bwMode="auto">
          <a:xfrm>
            <a:off x="778451" y="1487562"/>
            <a:ext cx="891540" cy="77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rning symbol Images - Free Download on Freepik">
            <a:extLst>
              <a:ext uri="{FF2B5EF4-FFF2-40B4-BE49-F238E27FC236}">
                <a16:creationId xmlns:a16="http://schemas.microsoft.com/office/drawing/2014/main" id="{3FC2EE06-0330-AC24-756E-10538032C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34" y="3304415"/>
            <a:ext cx="746210" cy="7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57998411-ABF8-BAD5-AB36-8C4D9C6C3E1E}"/>
              </a:ext>
            </a:extLst>
          </p:cNvPr>
          <p:cNvSpPr>
            <a:spLocks/>
          </p:cNvSpPr>
          <p:nvPr/>
        </p:nvSpPr>
        <p:spPr bwMode="auto">
          <a:xfrm>
            <a:off x="776797" y="2355456"/>
            <a:ext cx="902819" cy="37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GOAL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E2CBA9E6-B333-7D86-D851-B379BE33B432}"/>
              </a:ext>
            </a:extLst>
          </p:cNvPr>
          <p:cNvSpPr>
            <a:spLocks/>
          </p:cNvSpPr>
          <p:nvPr/>
        </p:nvSpPr>
        <p:spPr bwMode="auto">
          <a:xfrm>
            <a:off x="367120" y="4202644"/>
            <a:ext cx="17030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PROBLEMS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F817FF77-AA4B-DFBD-662A-F6FF4A85E575}"/>
              </a:ext>
            </a:extLst>
          </p:cNvPr>
          <p:cNvSpPr>
            <a:spLocks/>
          </p:cNvSpPr>
          <p:nvPr/>
        </p:nvSpPr>
        <p:spPr bwMode="auto">
          <a:xfrm>
            <a:off x="2155056" y="1790501"/>
            <a:ext cx="960641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Design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cost-efficient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workflows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promote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use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ML in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chemistry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Avoid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HPC use (Gaussian, ORCA, etc.)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2BE0D-A353-9514-79B6-21DB77910C38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7383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C850-807D-290D-587B-131C9F93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387835-1025-4C95-D315-54A4C4A70C2A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03B22B-40DF-2AFB-DA96-B0B5B0851B8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DC3B982-FDE5-3217-6254-76305D5D7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D53E421-FA97-9EAE-874F-A80F4A7D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91AD00D6-C8B6-3CA3-FE18-64E590BE3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89792217-6D7D-5654-7E8C-5C1199B59B2D}"/>
              </a:ext>
            </a:extLst>
          </p:cNvPr>
          <p:cNvSpPr>
            <a:spLocks/>
          </p:cNvSpPr>
          <p:nvPr/>
        </p:nvSpPr>
        <p:spPr bwMode="auto">
          <a:xfrm>
            <a:off x="355336" y="114836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AQME v2 –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adapted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create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wide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-MORFEUS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D29594-CF90-B1C8-63F5-DD15AB75EA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643"/>
          <a:stretch/>
        </p:blipFill>
        <p:spPr>
          <a:xfrm>
            <a:off x="399700" y="2434217"/>
            <a:ext cx="5482898" cy="30278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5F1A32-9290-C2D8-B86A-594251B65254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92702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179D-277B-81CC-F300-0BE4F458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0C192A-B9F8-ED48-94CA-7B477098860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2766E27-EE32-2AA5-776D-B1ECC6C2FA16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BF64CD3-01DE-A50E-D0A9-1F3C4C247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F8BA6F4-7AA4-9CE4-D983-A60082EB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2E64EB-EFC8-3180-65FA-F1A06C010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E30ED8F4-AEE7-8BE5-75CC-4D0259937CB4}"/>
              </a:ext>
            </a:extLst>
          </p:cNvPr>
          <p:cNvSpPr>
            <a:spLocks/>
          </p:cNvSpPr>
          <p:nvPr/>
        </p:nvSpPr>
        <p:spPr bwMode="auto">
          <a:xfrm>
            <a:off x="355336" y="114836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AQME v2 –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adapted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create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wide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-MORFEUS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A4155F-9F80-D157-EC75-9D832645D9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643"/>
          <a:stretch/>
        </p:blipFill>
        <p:spPr>
          <a:xfrm>
            <a:off x="399700" y="2434217"/>
            <a:ext cx="5482898" cy="30278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F665B-BD03-409E-94F8-DA63031202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125"/>
          <a:stretch/>
        </p:blipFill>
        <p:spPr>
          <a:xfrm>
            <a:off x="6540841" y="3351785"/>
            <a:ext cx="5369554" cy="1602846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C8276A28-EC77-0D9A-15CA-2BB3444A67F5}"/>
              </a:ext>
            </a:extLst>
          </p:cNvPr>
          <p:cNvSpPr>
            <a:spLocks/>
          </p:cNvSpPr>
          <p:nvPr/>
        </p:nvSpPr>
        <p:spPr bwMode="auto">
          <a:xfrm>
            <a:off x="6419448" y="5266233"/>
            <a:ext cx="561234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b="1" dirty="0">
                <a:latin typeface="Gill Sans" charset="0"/>
                <a:cs typeface="Gill Sans" charset="0"/>
                <a:sym typeface="Gill Sans" charset="0"/>
              </a:rPr>
              <a:t>AQME </a:t>
            </a:r>
            <a:r>
              <a:rPr lang="es-ES" b="1" dirty="0" err="1">
                <a:latin typeface="Gill Sans" charset="0"/>
                <a:cs typeface="Gill Sans" charset="0"/>
                <a:sym typeface="Gill Sans" charset="0"/>
              </a:rPr>
              <a:t>workflow</a:t>
            </a:r>
            <a:r>
              <a:rPr lang="es-ES" b="1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  <a:p>
            <a:pPr marL="44978" algn="ctr">
              <a:buSzPct val="77000"/>
            </a:pP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Organic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species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, </a:t>
            </a: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organometallic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 complexes, </a:t>
            </a: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radicals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, 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5C110-DDAD-AE7E-DB17-478B4478856D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95649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E87E36-E46B-E1BC-748D-17040D6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CD9499-0471-C969-DDBE-5658FEAD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ADDCDE-7E30-DC97-AA60-770133D8DD98}"/>
              </a:ext>
            </a:extLst>
          </p:cNvPr>
          <p:cNvSpPr/>
          <p:nvPr/>
        </p:nvSpPr>
        <p:spPr>
          <a:xfrm>
            <a:off x="338089" y="1681392"/>
            <a:ext cx="2834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u="sng" dirty="0">
                <a:latin typeface="Gill Sans"/>
                <a:cs typeface="Arial" panose="020B0604020202020204" pitchFamily="34" charset="0"/>
              </a:rPr>
              <a:t>Input:</a:t>
            </a:r>
            <a:r>
              <a:rPr lang="pt-BR" sz="1600" dirty="0">
                <a:latin typeface="Gill Sans"/>
                <a:cs typeface="Arial" panose="020B0604020202020204" pitchFamily="34" charset="0"/>
              </a:rPr>
              <a:t> CSV with SMILES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AD04B8-477D-C8CD-7C9B-EB20999F4480}"/>
              </a:ext>
            </a:extLst>
          </p:cNvPr>
          <p:cNvSpPr>
            <a:spLocks/>
          </p:cNvSpPr>
          <p:nvPr/>
        </p:nvSpPr>
        <p:spPr bwMode="auto">
          <a:xfrm>
            <a:off x="124478" y="1193984"/>
            <a:ext cx="5451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dirty="0">
                <a:latin typeface="Gill Sans" charset="0"/>
                <a:cs typeface="Gill Sans" charset="0"/>
                <a:sym typeface="Gill Sans" charset="0"/>
              </a:rPr>
              <a:t>Automated generation of predictors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58A84-E089-6DFE-7014-09002D9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12" y="1382821"/>
            <a:ext cx="6845584" cy="19726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5A9AC-B501-A8EA-AA4F-0F604F79C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30" y="2179495"/>
            <a:ext cx="2522220" cy="1272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AEE9E9-4D03-CCAA-4A46-FDFC66E60B27}"/>
              </a:ext>
            </a:extLst>
          </p:cNvPr>
          <p:cNvSpPr txBox="1"/>
          <p:nvPr/>
        </p:nvSpPr>
        <p:spPr>
          <a:xfrm>
            <a:off x="129443" y="641390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2024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14</a:t>
            </a:r>
            <a:r>
              <a:rPr lang="en-US" sz="1600" dirty="0">
                <a:latin typeface="Gill Sans"/>
              </a:rPr>
              <a:t>, e1733</a:t>
            </a:r>
          </a:p>
        </p:txBody>
      </p:sp>
    </p:spTree>
    <p:extLst>
      <p:ext uri="{BB962C8B-B14F-4D97-AF65-F5344CB8AC3E}">
        <p14:creationId xmlns:p14="http://schemas.microsoft.com/office/powerpoint/2010/main" val="1399588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E87E36-E46B-E1BC-748D-17040D6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CD9499-0471-C969-DDBE-5658FEAD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doblada hacia arriba 1">
            <a:extLst>
              <a:ext uri="{FF2B5EF4-FFF2-40B4-BE49-F238E27FC236}">
                <a16:creationId xmlns:a16="http://schemas.microsoft.com/office/drawing/2014/main" id="{798031EF-5872-4E7C-89CD-F8A71204FC55}"/>
              </a:ext>
            </a:extLst>
          </p:cNvPr>
          <p:cNvSpPr/>
          <p:nvPr/>
        </p:nvSpPr>
        <p:spPr>
          <a:xfrm rot="10800000">
            <a:off x="2913115" y="2184222"/>
            <a:ext cx="1903740" cy="1425476"/>
          </a:xfrm>
          <a:prstGeom prst="bentUpArrow">
            <a:avLst/>
          </a:prstGeom>
          <a:solidFill>
            <a:srgbClr val="E1D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2047" tIns="161365" rIns="242047" bIns="161365" rtlCol="0" anchor="ctr"/>
          <a:lstStyle/>
          <a:p>
            <a:pPr algn="ctr"/>
            <a:endParaRPr lang="es-ES" sz="1588" dirty="0">
              <a:latin typeface="Proxima Nova" charset="0"/>
              <a:ea typeface="Proxima Nova" charset="0"/>
              <a:cs typeface="Proxima Nova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CC04363-73E1-6E99-BF71-E1C2DF509D79}"/>
              </a:ext>
            </a:extLst>
          </p:cNvPr>
          <p:cNvSpPr>
            <a:spLocks/>
          </p:cNvSpPr>
          <p:nvPr/>
        </p:nvSpPr>
        <p:spPr bwMode="auto">
          <a:xfrm>
            <a:off x="2981695" y="1804664"/>
            <a:ext cx="1903740" cy="325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57799" bIns="0">
            <a:spAutoFit/>
          </a:bodyPr>
          <a:lstStyle/>
          <a:p>
            <a:pPr marL="39689">
              <a:buSzPct val="77000"/>
            </a:pP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1 </a:t>
            </a:r>
            <a:r>
              <a:rPr lang="es-ES" sz="2118" b="1" dirty="0" err="1">
                <a:latin typeface="Gill Sans" charset="0"/>
                <a:cs typeface="Gill Sans" charset="0"/>
                <a:sym typeface="Gill Sans" charset="0"/>
              </a:rPr>
              <a:t>command</a:t>
            </a: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 line</a:t>
            </a:r>
            <a:endParaRPr lang="en-US" sz="2118" b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DDCDE-7E30-DC97-AA60-770133D8DD98}"/>
              </a:ext>
            </a:extLst>
          </p:cNvPr>
          <p:cNvSpPr/>
          <p:nvPr/>
        </p:nvSpPr>
        <p:spPr>
          <a:xfrm>
            <a:off x="338089" y="1681392"/>
            <a:ext cx="2834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u="sng" dirty="0">
                <a:latin typeface="Gill Sans"/>
                <a:cs typeface="Arial" panose="020B0604020202020204" pitchFamily="34" charset="0"/>
              </a:rPr>
              <a:t>Input:</a:t>
            </a:r>
            <a:r>
              <a:rPr lang="pt-BR" sz="1600" dirty="0">
                <a:latin typeface="Gill Sans"/>
                <a:cs typeface="Arial" panose="020B0604020202020204" pitchFamily="34" charset="0"/>
              </a:rPr>
              <a:t> CSV with SMILES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AD04B8-477D-C8CD-7C9B-EB20999F4480}"/>
              </a:ext>
            </a:extLst>
          </p:cNvPr>
          <p:cNvSpPr>
            <a:spLocks/>
          </p:cNvSpPr>
          <p:nvPr/>
        </p:nvSpPr>
        <p:spPr bwMode="auto">
          <a:xfrm>
            <a:off x="124478" y="1193984"/>
            <a:ext cx="5451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dirty="0">
                <a:latin typeface="Gill Sans" charset="0"/>
                <a:cs typeface="Gill Sans" charset="0"/>
                <a:sym typeface="Gill Sans" charset="0"/>
              </a:rPr>
              <a:t>Automated generation of predictors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58A84-E089-6DFE-7014-09002D9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12" y="1382821"/>
            <a:ext cx="6845584" cy="19726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5A9AC-B501-A8EA-AA4F-0F604F79C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30" y="2179495"/>
            <a:ext cx="2522220" cy="1272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721316-95DC-DDA6-2282-391A6070B8E6}"/>
              </a:ext>
            </a:extLst>
          </p:cNvPr>
          <p:cNvSpPr txBox="1"/>
          <p:nvPr/>
        </p:nvSpPr>
        <p:spPr>
          <a:xfrm>
            <a:off x="129443" y="641390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2024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14</a:t>
            </a:r>
            <a:r>
              <a:rPr lang="en-US" sz="1600" dirty="0">
                <a:latin typeface="Gill Sans"/>
              </a:rPr>
              <a:t>, e1733</a:t>
            </a:r>
          </a:p>
        </p:txBody>
      </p:sp>
    </p:spTree>
    <p:extLst>
      <p:ext uri="{BB962C8B-B14F-4D97-AF65-F5344CB8AC3E}">
        <p14:creationId xmlns:p14="http://schemas.microsoft.com/office/powerpoint/2010/main" val="323977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E87E36-E46B-E1BC-748D-17040D6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37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CD9499-0471-C969-DDBE-5658FEAD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doblada hacia arriba 1">
            <a:extLst>
              <a:ext uri="{FF2B5EF4-FFF2-40B4-BE49-F238E27FC236}">
                <a16:creationId xmlns:a16="http://schemas.microsoft.com/office/drawing/2014/main" id="{798031EF-5872-4E7C-89CD-F8A71204FC55}"/>
              </a:ext>
            </a:extLst>
          </p:cNvPr>
          <p:cNvSpPr/>
          <p:nvPr/>
        </p:nvSpPr>
        <p:spPr>
          <a:xfrm rot="10800000">
            <a:off x="2913115" y="2184222"/>
            <a:ext cx="1903740" cy="1425476"/>
          </a:xfrm>
          <a:prstGeom prst="bentUpArrow">
            <a:avLst/>
          </a:prstGeom>
          <a:solidFill>
            <a:srgbClr val="E1D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2047" tIns="161365" rIns="242047" bIns="161365" rtlCol="0" anchor="ctr"/>
          <a:lstStyle/>
          <a:p>
            <a:pPr algn="ctr"/>
            <a:endParaRPr lang="es-ES" sz="1588" dirty="0">
              <a:latin typeface="Proxima Nova" charset="0"/>
              <a:ea typeface="Proxima Nova" charset="0"/>
              <a:cs typeface="Proxima Nova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CC04363-73E1-6E99-BF71-E1C2DF509D79}"/>
              </a:ext>
            </a:extLst>
          </p:cNvPr>
          <p:cNvSpPr>
            <a:spLocks/>
          </p:cNvSpPr>
          <p:nvPr/>
        </p:nvSpPr>
        <p:spPr bwMode="auto">
          <a:xfrm>
            <a:off x="2981695" y="1804664"/>
            <a:ext cx="1903740" cy="325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57799" bIns="0">
            <a:spAutoFit/>
          </a:bodyPr>
          <a:lstStyle/>
          <a:p>
            <a:pPr marL="39689">
              <a:buSzPct val="77000"/>
            </a:pP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1 </a:t>
            </a:r>
            <a:r>
              <a:rPr lang="es-ES" sz="2118" b="1" dirty="0" err="1">
                <a:latin typeface="Gill Sans" charset="0"/>
                <a:cs typeface="Gill Sans" charset="0"/>
                <a:sym typeface="Gill Sans" charset="0"/>
              </a:rPr>
              <a:t>command</a:t>
            </a: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 line</a:t>
            </a:r>
            <a:endParaRPr lang="en-US" sz="2118" b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DDCDE-7E30-DC97-AA60-770133D8DD98}"/>
              </a:ext>
            </a:extLst>
          </p:cNvPr>
          <p:cNvSpPr/>
          <p:nvPr/>
        </p:nvSpPr>
        <p:spPr>
          <a:xfrm>
            <a:off x="338089" y="1681392"/>
            <a:ext cx="2834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u="sng" dirty="0">
                <a:latin typeface="Gill Sans"/>
                <a:cs typeface="Arial" panose="020B0604020202020204" pitchFamily="34" charset="0"/>
              </a:rPr>
              <a:t>Input:</a:t>
            </a:r>
            <a:r>
              <a:rPr lang="pt-BR" sz="1600" dirty="0">
                <a:latin typeface="Gill Sans"/>
                <a:cs typeface="Arial" panose="020B0604020202020204" pitchFamily="34" charset="0"/>
              </a:rPr>
              <a:t> CSV with SMILES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AD04B8-477D-C8CD-7C9B-EB20999F4480}"/>
              </a:ext>
            </a:extLst>
          </p:cNvPr>
          <p:cNvSpPr>
            <a:spLocks/>
          </p:cNvSpPr>
          <p:nvPr/>
        </p:nvSpPr>
        <p:spPr bwMode="auto">
          <a:xfrm>
            <a:off x="124478" y="1193984"/>
            <a:ext cx="5451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dirty="0">
                <a:latin typeface="Gill Sans" charset="0"/>
                <a:cs typeface="Gill Sans" charset="0"/>
                <a:sym typeface="Gill Sans" charset="0"/>
              </a:rPr>
              <a:t>Automated generation of predictors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58A84-E089-6DFE-7014-09002D9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12" y="1382821"/>
            <a:ext cx="6845584" cy="197269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E3EECE-7B28-B05A-A8A6-3CC221BCC8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670" b="5530"/>
          <a:stretch/>
        </p:blipFill>
        <p:spPr>
          <a:xfrm>
            <a:off x="85754" y="3616311"/>
            <a:ext cx="11946034" cy="26453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5A9AC-B501-A8EA-AA4F-0F604F79C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30" y="2179495"/>
            <a:ext cx="2522220" cy="127254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A6E22CAD-C6CE-2B55-B815-D1C429014BF6}"/>
              </a:ext>
            </a:extLst>
          </p:cNvPr>
          <p:cNvGrpSpPr/>
          <p:nvPr/>
        </p:nvGrpSpPr>
        <p:grpSpPr>
          <a:xfrm>
            <a:off x="93358" y="6247157"/>
            <a:ext cx="8581479" cy="311166"/>
            <a:chOff x="93358" y="6247157"/>
            <a:chExt cx="8581479" cy="31116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36CA061-F35E-BA59-9DAD-B28FBA1C6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46930"/>
            <a:stretch/>
          </p:blipFill>
          <p:spPr>
            <a:xfrm>
              <a:off x="93358" y="6247157"/>
              <a:ext cx="5719116" cy="31116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B798A74-4FEF-FAE4-C5AE-743B177C9C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73439"/>
            <a:stretch/>
          </p:blipFill>
          <p:spPr>
            <a:xfrm>
              <a:off x="5812474" y="6247157"/>
              <a:ext cx="2862363" cy="3111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586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88F28-3FEA-9382-72F1-B56589D0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C932EE-06A0-3BE1-8D14-3F0DF18D5D4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08487E8-C703-2320-1123-17642FDA766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E878928-6A6B-7BE4-B902-0D8C5B093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FF2218D-AE2E-1A5B-0AE5-8942A766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99894F57-CE2A-1135-E2A1-F93960AF2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8B0E6683-3D5A-28E3-6290-14319E0FBAB2}"/>
              </a:ext>
            </a:extLst>
          </p:cNvPr>
          <p:cNvSpPr>
            <a:spLocks/>
          </p:cNvSpPr>
          <p:nvPr/>
        </p:nvSpPr>
        <p:spPr bwMode="auto">
          <a:xfrm>
            <a:off x="2155056" y="3527122"/>
            <a:ext cx="987673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were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not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enough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low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)</a:t>
            </a: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many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other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with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hard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interpretation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. RDKit)</a:t>
            </a:r>
          </a:p>
        </p:txBody>
      </p:sp>
      <p:pic>
        <p:nvPicPr>
          <p:cNvPr id="1032" name="Picture 8" descr="191,200+ Goals Icon Stock Illustrations, Royalty-Free Vector Graphics &amp;  Clip Art - iStock | Smart goals icon, Financial goals icon, Business goals  icon">
            <a:extLst>
              <a:ext uri="{FF2B5EF4-FFF2-40B4-BE49-F238E27FC236}">
                <a16:creationId xmlns:a16="http://schemas.microsoft.com/office/drawing/2014/main" id="{C60FB5B5-C088-2D19-FF9D-7F137B2AC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22133" r="12100" b="21675"/>
          <a:stretch/>
        </p:blipFill>
        <p:spPr bwMode="auto">
          <a:xfrm>
            <a:off x="778451" y="1487562"/>
            <a:ext cx="891540" cy="77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rning symbol Images - Free Download on Freepik">
            <a:extLst>
              <a:ext uri="{FF2B5EF4-FFF2-40B4-BE49-F238E27FC236}">
                <a16:creationId xmlns:a16="http://schemas.microsoft.com/office/drawing/2014/main" id="{A9D5D546-CD92-641F-AC2B-16040417C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34" y="3304415"/>
            <a:ext cx="746210" cy="7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2+ Hundred Uphill Struggle Icons Royalty-Free Images, Stock Photos &amp;  Pictures | Shutterstock">
            <a:extLst>
              <a:ext uri="{FF2B5EF4-FFF2-40B4-BE49-F238E27FC236}">
                <a16:creationId xmlns:a16="http://schemas.microsoft.com/office/drawing/2014/main" id="{068B3823-BB56-4EC0-5225-4B3361532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" t="7829" r="2696" b="13829"/>
          <a:stretch/>
        </p:blipFill>
        <p:spPr bwMode="auto">
          <a:xfrm>
            <a:off x="776797" y="5115469"/>
            <a:ext cx="821691" cy="74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B610B52C-A34E-D3B0-774F-D281B2F52CD9}"/>
              </a:ext>
            </a:extLst>
          </p:cNvPr>
          <p:cNvSpPr>
            <a:spLocks/>
          </p:cNvSpPr>
          <p:nvPr/>
        </p:nvSpPr>
        <p:spPr bwMode="auto">
          <a:xfrm>
            <a:off x="776797" y="2355456"/>
            <a:ext cx="902819" cy="37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GOAL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613BEE73-6AB7-FD15-EB8C-57492BCDD121}"/>
              </a:ext>
            </a:extLst>
          </p:cNvPr>
          <p:cNvSpPr>
            <a:spLocks/>
          </p:cNvSpPr>
          <p:nvPr/>
        </p:nvSpPr>
        <p:spPr bwMode="auto">
          <a:xfrm>
            <a:off x="367120" y="4202644"/>
            <a:ext cx="17030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PROBLEMS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B4D5EE6C-4132-63FF-E4DF-4248E82971DB}"/>
              </a:ext>
            </a:extLst>
          </p:cNvPr>
          <p:cNvSpPr>
            <a:spLocks/>
          </p:cNvSpPr>
          <p:nvPr/>
        </p:nvSpPr>
        <p:spPr bwMode="auto">
          <a:xfrm>
            <a:off x="113048" y="6020018"/>
            <a:ext cx="2149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UPHILL BATTLE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57329D55-9D76-B107-3479-1B8E91113A3B}"/>
              </a:ext>
            </a:extLst>
          </p:cNvPr>
          <p:cNvSpPr>
            <a:spLocks/>
          </p:cNvSpPr>
          <p:nvPr/>
        </p:nvSpPr>
        <p:spPr bwMode="auto">
          <a:xfrm>
            <a:off x="2419189" y="5536386"/>
            <a:ext cx="9624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u="sng" dirty="0">
                <a:latin typeface="Gill Sans" charset="0"/>
                <a:cs typeface="Gill Sans" charset="0"/>
                <a:sym typeface="Gill Sans" charset="0"/>
              </a:rPr>
              <a:t>Human </a:t>
            </a:r>
            <a:r>
              <a:rPr lang="es-ES" sz="2400" u="sng" dirty="0" err="1">
                <a:latin typeface="Gill Sans" charset="0"/>
                <a:cs typeface="Gill Sans" charset="0"/>
                <a:sym typeface="Gill Sans" charset="0"/>
              </a:rPr>
              <a:t>bias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isn’t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able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replace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DFT,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quite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bad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for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metals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, etc.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795E8A-6C3C-E240-9D25-2213FD0DBBA6}"/>
              </a:ext>
            </a:extLst>
          </p:cNvPr>
          <p:cNvSpPr>
            <a:spLocks/>
          </p:cNvSpPr>
          <p:nvPr/>
        </p:nvSpPr>
        <p:spPr bwMode="auto">
          <a:xfrm>
            <a:off x="2155056" y="1790501"/>
            <a:ext cx="960641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Design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cost-efficient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workflows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promote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use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ML in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chemistry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Avoid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HPC use (Gaussian, ORCA, etc.)</a:t>
            </a:r>
          </a:p>
        </p:txBody>
      </p:sp>
    </p:spTree>
    <p:extLst>
      <p:ext uri="{BB962C8B-B14F-4D97-AF65-F5344CB8AC3E}">
        <p14:creationId xmlns:p14="http://schemas.microsoft.com/office/powerpoint/2010/main" val="3187843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989F-FFD1-CAB7-7DBE-00F4ABDFD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86E15D-2CEB-FCFB-E069-5F41F56BE433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A853F1A-5B44-CD5E-B199-44BD37DCED2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A39AF26-68F4-D84E-AAF1-1F0BDB09F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7B33261-3742-0732-29AE-46A6008A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9AC2352-E719-1D81-38F6-D305703DE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7D492DBB-41F0-5EEF-0334-9610365EEB07}"/>
              </a:ext>
            </a:extLst>
          </p:cNvPr>
          <p:cNvSpPr>
            <a:spLocks/>
          </p:cNvSpPr>
          <p:nvPr/>
        </p:nvSpPr>
        <p:spPr bwMode="auto">
          <a:xfrm>
            <a:off x="399700" y="1182873"/>
            <a:ext cx="10073781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-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Metrics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for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10x 5-fold CV (80%) and test set (20%)	 </a:t>
            </a: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- SHAP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analysis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for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interpretability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	  - Similar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ranges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in X and Y axis</a:t>
            </a:r>
          </a:p>
        </p:txBody>
      </p:sp>
    </p:spTree>
    <p:extLst>
      <p:ext uri="{BB962C8B-B14F-4D97-AF65-F5344CB8AC3E}">
        <p14:creationId xmlns:p14="http://schemas.microsoft.com/office/powerpoint/2010/main" val="11945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F6D39-1663-61A0-3A22-4A68E1B3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0C6EBC-66CB-F1A3-513F-21045666644D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08C3274-BE52-8938-A77F-4601B69AE00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16DF0B94-D4B2-AC5D-5EAA-3A5CAABF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DC916BD-C0BA-B2F8-47C8-A4E3953A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0A6E77E-9058-4FFD-E08E-E7B2DF5FA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6B3F25-C659-261B-8248-C0EF343B3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863AA5FA-B7AB-0CFB-FABD-D68B08F4F72F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3610750-26BB-42AA-6C6C-2ED241963B74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29C5C9-1525-A758-04D8-9EDAAC0BC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B2DEFF-394B-EA15-CF76-E24D6F16FA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CAC7F83-25EF-4B1B-3744-D211C406B1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491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DC5DD-F7F4-AD47-FEFB-4C965356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186BB896-132E-AB4D-99B6-9F47DE70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3F268A-B30F-355A-C166-162A0E7A3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619CD23-22F8-BE30-4A6F-E7C5A84EE4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2BBBCB6-62E5-E018-8380-D3A3CF76F8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703A1B-7CF8-713F-CFB2-E17B1640217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A07F4F6-CF69-BF35-8D11-F755F8F2759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C25F895-1DC8-9DC1-C513-8EEF83A40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F8F9565-E910-098A-C7C5-FDC46D4A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B2F4823D-1884-8800-FE86-6774A868A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5">
            <a:extLst>
              <a:ext uri="{FF2B5EF4-FFF2-40B4-BE49-F238E27FC236}">
                <a16:creationId xmlns:a16="http://schemas.microsoft.com/office/drawing/2014/main" id="{5AEB850F-AA02-3726-366B-14F37E051B49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9E6EBB0-CCCB-32DE-97EF-AE939F429948}"/>
              </a:ext>
            </a:extLst>
          </p:cNvPr>
          <p:cNvSpPr>
            <a:spLocks/>
          </p:cNvSpPr>
          <p:nvPr/>
        </p:nvSpPr>
        <p:spPr bwMode="auto">
          <a:xfrm>
            <a:off x="4269245" y="2457974"/>
            <a:ext cx="4096258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Are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these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two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Decent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and comparable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publication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quality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)</a:t>
            </a:r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5E21BB2F-77D2-BB11-C797-6F7E4E33A451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830984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FEC6-AE0F-C79A-0B12-A0FC6462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84CC8344-6508-F873-5A9B-A78B57D49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47471CE-D5D3-D163-9EAD-E59A1A300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37E694C-53E2-D1E7-34F8-5EEAFA1156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19C42D0-06D9-B00F-FF5E-9544BCCFD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BAE917F-8293-BC84-FBC8-E12101CFBFEE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5B4D1-67AC-51A2-E57C-5878F8817CC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46C9FDE-8F4F-B26C-44C6-E2553921E6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2EDE675-A274-EA16-E8B4-91F2DFF87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3F09DF9-A474-F4A1-CC67-4DA2B5E7B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 5">
            <a:extLst>
              <a:ext uri="{FF2B5EF4-FFF2-40B4-BE49-F238E27FC236}">
                <a16:creationId xmlns:a16="http://schemas.microsoft.com/office/drawing/2014/main" id="{3F2D25C8-3196-7DF7-C9E7-8521FDEC756C}"/>
              </a:ext>
            </a:extLst>
          </p:cNvPr>
          <p:cNvSpPr>
            <a:spLocks/>
          </p:cNvSpPr>
          <p:nvPr/>
        </p:nvSpPr>
        <p:spPr bwMode="auto">
          <a:xfrm>
            <a:off x="2548808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8C514BC9-21AD-DADD-D7A2-1455585C68DA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8DCE2F88-B1FA-003C-4E6F-14D5E92C7F57}"/>
              </a:ext>
            </a:extLst>
          </p:cNvPr>
          <p:cNvSpPr>
            <a:spLocks/>
          </p:cNvSpPr>
          <p:nvPr/>
        </p:nvSpPr>
        <p:spPr bwMode="auto">
          <a:xfrm>
            <a:off x="7966241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DFT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4" name="Rectangle 5">
            <a:extLst>
              <a:ext uri="{FF2B5EF4-FFF2-40B4-BE49-F238E27FC236}">
                <a16:creationId xmlns:a16="http://schemas.microsoft.com/office/drawing/2014/main" id="{E3162418-69C8-C881-86ED-A00A4DF9872B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563268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7412-A119-C035-4ED7-E319135CB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E17D792-6E3C-8E6B-92F6-7DC1B2F99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544E50-8F63-CD7C-0AA0-822033022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90A3AA9-CA27-202A-B318-5517BDD9E2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9F76C6-4FD5-B91E-2350-3DB6416023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sp>
        <p:nvSpPr>
          <p:cNvPr id="37" name="Rectangle 5">
            <a:extLst>
              <a:ext uri="{FF2B5EF4-FFF2-40B4-BE49-F238E27FC236}">
                <a16:creationId xmlns:a16="http://schemas.microsoft.com/office/drawing/2014/main" id="{31493B43-6BE0-714D-8D24-4579528B7DF3}"/>
              </a:ext>
            </a:extLst>
          </p:cNvPr>
          <p:cNvSpPr>
            <a:spLocks/>
          </p:cNvSpPr>
          <p:nvPr/>
        </p:nvSpPr>
        <p:spPr bwMode="auto">
          <a:xfrm>
            <a:off x="2548808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8658A1CF-FE37-3385-3FF9-362AFB05F1C2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9C514A25-196D-9AEB-D142-F8E4F88777E0}"/>
              </a:ext>
            </a:extLst>
          </p:cNvPr>
          <p:cNvSpPr>
            <a:spLocks/>
          </p:cNvSpPr>
          <p:nvPr/>
        </p:nvSpPr>
        <p:spPr bwMode="auto">
          <a:xfrm>
            <a:off x="7966241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DFT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13CB573A-E48B-891D-E8C6-FFFAA7DDF47F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C1405C-F467-EA4D-378F-8B745443DD08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D87B000-CDA1-2D7C-1D50-6715D7745EC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36680641-ACFA-11E6-76B8-C9CC409AE3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57AB990C-4655-C5DA-7E76-BDFAFBE0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CAC91D1-9DC3-34E6-85CA-286CBF321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F34398-40C2-1D72-9F32-86D0C3DDBBBE}"/>
              </a:ext>
            </a:extLst>
          </p:cNvPr>
          <p:cNvSpPr/>
          <p:nvPr/>
        </p:nvSpPr>
        <p:spPr>
          <a:xfrm>
            <a:off x="1797245" y="4889395"/>
            <a:ext cx="338124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8AFAA1-8EA3-1573-8B7D-11C40DC35BFC}"/>
              </a:ext>
            </a:extLst>
          </p:cNvPr>
          <p:cNvSpPr/>
          <p:nvPr/>
        </p:nvSpPr>
        <p:spPr>
          <a:xfrm>
            <a:off x="7197159" y="4889395"/>
            <a:ext cx="3459555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618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77756-52B9-493A-DFB3-097BDA191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4949C8-8336-A966-231A-2DA3A41CD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667ABB-D283-B6ED-70C5-D4B8DFB10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927B9FD-3FE8-F3B6-D3A7-F49517AD73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1E1D9A7-8B8F-0B8B-2CA3-B986D4ACD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sp>
        <p:nvSpPr>
          <p:cNvPr id="37" name="Rectangle 5">
            <a:extLst>
              <a:ext uri="{FF2B5EF4-FFF2-40B4-BE49-F238E27FC236}">
                <a16:creationId xmlns:a16="http://schemas.microsoft.com/office/drawing/2014/main" id="{04B731BE-6284-9EAE-F917-695E4B58C219}"/>
              </a:ext>
            </a:extLst>
          </p:cNvPr>
          <p:cNvSpPr>
            <a:spLocks/>
          </p:cNvSpPr>
          <p:nvPr/>
        </p:nvSpPr>
        <p:spPr bwMode="auto">
          <a:xfrm>
            <a:off x="2548808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F4251A51-FA1B-CCDE-2C3E-EE6F6C2AC32E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7CBE529A-9F3D-D1EF-95DC-88362281FA14}"/>
              </a:ext>
            </a:extLst>
          </p:cNvPr>
          <p:cNvSpPr>
            <a:spLocks/>
          </p:cNvSpPr>
          <p:nvPr/>
        </p:nvSpPr>
        <p:spPr bwMode="auto">
          <a:xfrm>
            <a:off x="7966241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DFT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3682A819-0C07-4725-AD55-B66265D73461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D070149-6E19-A186-41B2-EB5E4B3EE5C9}"/>
              </a:ext>
            </a:extLst>
          </p:cNvPr>
          <p:cNvSpPr/>
          <p:nvPr/>
        </p:nvSpPr>
        <p:spPr>
          <a:xfrm>
            <a:off x="1797245" y="4889395"/>
            <a:ext cx="338124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60CF08-1DFC-892C-D72B-95F191F78C7B}"/>
              </a:ext>
            </a:extLst>
          </p:cNvPr>
          <p:cNvSpPr/>
          <p:nvPr/>
        </p:nvSpPr>
        <p:spPr>
          <a:xfrm>
            <a:off x="7197159" y="4889395"/>
            <a:ext cx="3459555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2992CD-4150-4AE7-01BF-F3245F4056C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5208B1D-D7BE-AAC2-5031-50019E1D4386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A3B3C3CC-4AEE-B425-1BB6-B0FC8C56E1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694EC24-D538-C95B-45BE-D352FE54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1608078-7FD3-87D3-FEB0-671D020F6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5235B2-9139-788F-9652-9B38FC20F907}"/>
              </a:ext>
            </a:extLst>
          </p:cNvPr>
          <p:cNvCxnSpPr>
            <a:cxnSpLocks/>
          </p:cNvCxnSpPr>
          <p:nvPr/>
        </p:nvCxnSpPr>
        <p:spPr>
          <a:xfrm>
            <a:off x="4661532" y="1879298"/>
            <a:ext cx="0" cy="907938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08A3244-8A5B-988B-E369-20643629D947}"/>
              </a:ext>
            </a:extLst>
          </p:cNvPr>
          <p:cNvCxnSpPr>
            <a:cxnSpLocks/>
          </p:cNvCxnSpPr>
          <p:nvPr/>
        </p:nvCxnSpPr>
        <p:spPr>
          <a:xfrm>
            <a:off x="9870136" y="2075490"/>
            <a:ext cx="0" cy="59018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042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55494-1708-B6C3-245F-6DBCBC712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EAE05543-5C31-7AE5-5050-82522ED6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542C97-6965-4C63-ED24-DD0DA6F58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5EF44A5-8833-772C-C555-FFF3349C79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9505A10-7A11-2CB8-95F1-8B2CC7307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sp>
        <p:nvSpPr>
          <p:cNvPr id="39" name="Rectangle 5">
            <a:extLst>
              <a:ext uri="{FF2B5EF4-FFF2-40B4-BE49-F238E27FC236}">
                <a16:creationId xmlns:a16="http://schemas.microsoft.com/office/drawing/2014/main" id="{E1507C50-ADCB-6E4B-5C00-49DEC15306CC}"/>
              </a:ext>
            </a:extLst>
          </p:cNvPr>
          <p:cNvSpPr>
            <a:spLocks/>
          </p:cNvSpPr>
          <p:nvPr/>
        </p:nvSpPr>
        <p:spPr bwMode="auto">
          <a:xfrm>
            <a:off x="2548808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F171D3F4-6743-1B52-12B9-9CDECCBFB406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AE20C7DA-4AF8-2D5F-6CED-F2EDC6E29737}"/>
              </a:ext>
            </a:extLst>
          </p:cNvPr>
          <p:cNvSpPr>
            <a:spLocks/>
          </p:cNvSpPr>
          <p:nvPr/>
        </p:nvSpPr>
        <p:spPr bwMode="auto">
          <a:xfrm>
            <a:off x="7966241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DFT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D7ED7E42-E697-DFA7-4A68-77D66998FB8B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F44F11-EA97-B574-536F-31194E5706BB}"/>
              </a:ext>
            </a:extLst>
          </p:cNvPr>
          <p:cNvSpPr/>
          <p:nvPr/>
        </p:nvSpPr>
        <p:spPr>
          <a:xfrm>
            <a:off x="1797245" y="4889395"/>
            <a:ext cx="338124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3CD444-1E1C-9FFD-C5B6-9C99B0657EEC}"/>
              </a:ext>
            </a:extLst>
          </p:cNvPr>
          <p:cNvSpPr/>
          <p:nvPr/>
        </p:nvSpPr>
        <p:spPr>
          <a:xfrm>
            <a:off x="7197159" y="4889395"/>
            <a:ext cx="3459555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718E30-2542-F017-AA59-118CF79A9DD9}"/>
              </a:ext>
            </a:extLst>
          </p:cNvPr>
          <p:cNvCxnSpPr>
            <a:cxnSpLocks/>
          </p:cNvCxnSpPr>
          <p:nvPr/>
        </p:nvCxnSpPr>
        <p:spPr>
          <a:xfrm>
            <a:off x="4661532" y="1879298"/>
            <a:ext cx="0" cy="907938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E411CA-F3F7-94C1-FC46-9D5A351837BA}"/>
              </a:ext>
            </a:extLst>
          </p:cNvPr>
          <p:cNvCxnSpPr>
            <a:cxnSpLocks/>
          </p:cNvCxnSpPr>
          <p:nvPr/>
        </p:nvCxnSpPr>
        <p:spPr>
          <a:xfrm>
            <a:off x="9870136" y="2075490"/>
            <a:ext cx="0" cy="59018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9F81D9-A6C4-30AB-D4FC-D99E47B01FB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F6C78C8-85D3-E0B1-4F16-C79F2420DE5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7DC8A3C3-64CE-DFF1-AC68-F37B62B719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A204CD9-5210-85FB-C1CA-B4BC38D02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8154E27-7301-A9CE-655A-A1B780FB5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49A4C672-BF77-B058-C5A2-5D8A7FE14138}"/>
              </a:ext>
            </a:extLst>
          </p:cNvPr>
          <p:cNvSpPr>
            <a:spLocks/>
          </p:cNvSpPr>
          <p:nvPr/>
        </p:nvSpPr>
        <p:spPr bwMode="auto">
          <a:xfrm>
            <a:off x="4239639" y="3244334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Outliers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90343A-C11B-0A3E-825B-210979CF11C7}"/>
              </a:ext>
            </a:extLst>
          </p:cNvPr>
          <p:cNvSpPr/>
          <p:nvPr/>
        </p:nvSpPr>
        <p:spPr>
          <a:xfrm>
            <a:off x="4082288" y="2698995"/>
            <a:ext cx="818147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071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7BD09-A1D0-4B9E-29B4-50173F78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04458CC8-FB97-1E82-9F26-E1C54E075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EE3FB2A-DD5F-CCEF-D5CD-DEE3C0C67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2AAE76C-3DE9-06CE-4B9C-77BE4AC759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6BD594A-2D8A-118F-3E1D-0E08E4302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sp>
        <p:nvSpPr>
          <p:cNvPr id="40" name="Rectangle 5">
            <a:extLst>
              <a:ext uri="{FF2B5EF4-FFF2-40B4-BE49-F238E27FC236}">
                <a16:creationId xmlns:a16="http://schemas.microsoft.com/office/drawing/2014/main" id="{8C1B142B-25B9-E13C-B9F3-9C0A2DEF0338}"/>
              </a:ext>
            </a:extLst>
          </p:cNvPr>
          <p:cNvSpPr>
            <a:spLocks/>
          </p:cNvSpPr>
          <p:nvPr/>
        </p:nvSpPr>
        <p:spPr bwMode="auto">
          <a:xfrm>
            <a:off x="2548808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FEC1C357-B9AE-DDA0-F37A-0F70A4C25E11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A57B4FBF-8657-5096-600A-F7226AC22DFA}"/>
              </a:ext>
            </a:extLst>
          </p:cNvPr>
          <p:cNvSpPr>
            <a:spLocks/>
          </p:cNvSpPr>
          <p:nvPr/>
        </p:nvSpPr>
        <p:spPr bwMode="auto">
          <a:xfrm>
            <a:off x="7966241" y="1907291"/>
            <a:ext cx="891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DFT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3" name="Rectangle 5">
            <a:extLst>
              <a:ext uri="{FF2B5EF4-FFF2-40B4-BE49-F238E27FC236}">
                <a16:creationId xmlns:a16="http://schemas.microsoft.com/office/drawing/2014/main" id="{6CB5AEC4-54A7-3903-7484-21E4A2E32647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96B9E89-937E-5557-A77E-6A438534D98B}"/>
              </a:ext>
            </a:extLst>
          </p:cNvPr>
          <p:cNvSpPr/>
          <p:nvPr/>
        </p:nvSpPr>
        <p:spPr>
          <a:xfrm>
            <a:off x="1797245" y="4889395"/>
            <a:ext cx="338124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BA32A1A-DF96-0072-8841-A33DA60F9600}"/>
              </a:ext>
            </a:extLst>
          </p:cNvPr>
          <p:cNvSpPr/>
          <p:nvPr/>
        </p:nvSpPr>
        <p:spPr>
          <a:xfrm>
            <a:off x="7197159" y="4889395"/>
            <a:ext cx="3459555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E790A96-F984-F438-0D3C-CA49FC71D290}"/>
              </a:ext>
            </a:extLst>
          </p:cNvPr>
          <p:cNvCxnSpPr>
            <a:cxnSpLocks/>
          </p:cNvCxnSpPr>
          <p:nvPr/>
        </p:nvCxnSpPr>
        <p:spPr>
          <a:xfrm>
            <a:off x="4661532" y="1879298"/>
            <a:ext cx="0" cy="907938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D3E1DC4-321A-1D50-7F51-421D1425AC94}"/>
              </a:ext>
            </a:extLst>
          </p:cNvPr>
          <p:cNvCxnSpPr>
            <a:cxnSpLocks/>
          </p:cNvCxnSpPr>
          <p:nvPr/>
        </p:nvCxnSpPr>
        <p:spPr>
          <a:xfrm>
            <a:off x="9870136" y="2075490"/>
            <a:ext cx="0" cy="59018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5">
            <a:extLst>
              <a:ext uri="{FF2B5EF4-FFF2-40B4-BE49-F238E27FC236}">
                <a16:creationId xmlns:a16="http://schemas.microsoft.com/office/drawing/2014/main" id="{62315E58-3743-2343-7190-2D314337D7D8}"/>
              </a:ext>
            </a:extLst>
          </p:cNvPr>
          <p:cNvSpPr>
            <a:spLocks/>
          </p:cNvSpPr>
          <p:nvPr/>
        </p:nvSpPr>
        <p:spPr bwMode="auto">
          <a:xfrm>
            <a:off x="4239639" y="3244334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Outliers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CE792E-A02F-6A59-9366-EC75055232CD}"/>
              </a:ext>
            </a:extLst>
          </p:cNvPr>
          <p:cNvSpPr/>
          <p:nvPr/>
        </p:nvSpPr>
        <p:spPr>
          <a:xfrm>
            <a:off x="4082288" y="2698995"/>
            <a:ext cx="818147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751CED-590A-263C-446B-AE7AF427858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C5FF20E4-320D-A3C5-5351-B5344C0BAC1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B77B193-B0FE-C3F4-A9F3-082AF9F70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46AF6EB-8500-719A-0D5C-E0D3599D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B4C53D3E-79EC-A39E-22E1-512DBE079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5">
            <a:extLst>
              <a:ext uri="{FF2B5EF4-FFF2-40B4-BE49-F238E27FC236}">
                <a16:creationId xmlns:a16="http://schemas.microsoft.com/office/drawing/2014/main" id="{5C0BEA64-A529-E2E0-0DEA-6195B8389573}"/>
              </a:ext>
            </a:extLst>
          </p:cNvPr>
          <p:cNvSpPr>
            <a:spLocks/>
          </p:cNvSpPr>
          <p:nvPr/>
        </p:nvSpPr>
        <p:spPr bwMode="auto">
          <a:xfrm>
            <a:off x="4269245" y="2778524"/>
            <a:ext cx="4096258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Are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these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two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Actually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one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with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seems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have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more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issues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0099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5B89-9E56-DA3C-49E1-2221A66C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5E698CFF-01A9-ECFC-8E07-2F8EEC77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083" y="1538358"/>
            <a:ext cx="3991138" cy="365588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8B1F9FB-34D4-1872-7109-BF5694C6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998" y="1553805"/>
            <a:ext cx="3895351" cy="368781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7AEF72D-F8BF-295A-945E-23EFED3D0E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67" b="1"/>
          <a:stretch/>
        </p:blipFill>
        <p:spPr>
          <a:xfrm>
            <a:off x="399700" y="5276746"/>
            <a:ext cx="5654747" cy="155116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9ED92AF-0CC5-D36A-0989-2E1CCCBA9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626" y="5304195"/>
            <a:ext cx="5100813" cy="1459848"/>
          </a:xfrm>
          <a:prstGeom prst="rect">
            <a:avLst/>
          </a:prstGeom>
        </p:spPr>
      </p:pic>
      <p:sp>
        <p:nvSpPr>
          <p:cNvPr id="40" name="Rectangle 5">
            <a:extLst>
              <a:ext uri="{FF2B5EF4-FFF2-40B4-BE49-F238E27FC236}">
                <a16:creationId xmlns:a16="http://schemas.microsoft.com/office/drawing/2014/main" id="{4701DA83-9FFE-939F-B006-86C7446D2849}"/>
              </a:ext>
            </a:extLst>
          </p:cNvPr>
          <p:cNvSpPr>
            <a:spLocks/>
          </p:cNvSpPr>
          <p:nvPr/>
        </p:nvSpPr>
        <p:spPr bwMode="auto">
          <a:xfrm>
            <a:off x="297085" y="2593858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18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points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E11F878E-65A5-C07E-A9B5-3A49EBC5382A}"/>
              </a:ext>
            </a:extLst>
          </p:cNvPr>
          <p:cNvSpPr>
            <a:spLocks/>
          </p:cNvSpPr>
          <p:nvPr/>
        </p:nvSpPr>
        <p:spPr bwMode="auto">
          <a:xfrm>
            <a:off x="399700" y="1039483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Unbiased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evaluation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overfitting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617F96-2E9D-24CE-1786-416DC611C2B0}"/>
              </a:ext>
            </a:extLst>
          </p:cNvPr>
          <p:cNvSpPr/>
          <p:nvPr/>
        </p:nvSpPr>
        <p:spPr>
          <a:xfrm>
            <a:off x="1797245" y="4889395"/>
            <a:ext cx="3381245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7C1D0E-03A2-17ED-7C0F-8447A058D324}"/>
              </a:ext>
            </a:extLst>
          </p:cNvPr>
          <p:cNvSpPr/>
          <p:nvPr/>
        </p:nvSpPr>
        <p:spPr>
          <a:xfrm>
            <a:off x="7197159" y="4889395"/>
            <a:ext cx="3459555" cy="36933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9A7FABD-43A3-BC9A-BF47-9CD01CC30C03}"/>
              </a:ext>
            </a:extLst>
          </p:cNvPr>
          <p:cNvCxnSpPr>
            <a:cxnSpLocks/>
          </p:cNvCxnSpPr>
          <p:nvPr/>
        </p:nvCxnSpPr>
        <p:spPr>
          <a:xfrm>
            <a:off x="4661532" y="1879298"/>
            <a:ext cx="0" cy="907938"/>
          </a:xfrm>
          <a:prstGeom prst="straightConnector1">
            <a:avLst/>
          </a:prstGeom>
          <a:ln w="190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3C847E-79A5-81C8-0B1A-8BD5A4955C00}"/>
              </a:ext>
            </a:extLst>
          </p:cNvPr>
          <p:cNvCxnSpPr>
            <a:cxnSpLocks/>
          </p:cNvCxnSpPr>
          <p:nvPr/>
        </p:nvCxnSpPr>
        <p:spPr>
          <a:xfrm>
            <a:off x="9870136" y="2075490"/>
            <a:ext cx="0" cy="59018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5">
            <a:extLst>
              <a:ext uri="{FF2B5EF4-FFF2-40B4-BE49-F238E27FC236}">
                <a16:creationId xmlns:a16="http://schemas.microsoft.com/office/drawing/2014/main" id="{CCD9CBBB-BE54-249F-88B3-186BA26445EA}"/>
              </a:ext>
            </a:extLst>
          </p:cNvPr>
          <p:cNvSpPr>
            <a:spLocks/>
          </p:cNvSpPr>
          <p:nvPr/>
        </p:nvSpPr>
        <p:spPr bwMode="auto">
          <a:xfrm>
            <a:off x="4239639" y="3244334"/>
            <a:ext cx="1592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Outliers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1B92F0-EF2A-87D8-400E-B56D4D131E47}"/>
              </a:ext>
            </a:extLst>
          </p:cNvPr>
          <p:cNvSpPr/>
          <p:nvPr/>
        </p:nvSpPr>
        <p:spPr>
          <a:xfrm>
            <a:off x="4082288" y="2698995"/>
            <a:ext cx="818147" cy="3693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0F3D61-36C2-76E1-3744-E79D51BD7BAA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6090135-BB54-07C8-B5A2-8268B4D9C9F3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9E0B86E-C702-A7D3-6DE0-2E1DC7016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9B67A3E-2E17-7F53-28D5-2D37E4AF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47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44B48B6-E3D9-178E-247C-DC1AE33C1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5">
            <a:extLst>
              <a:ext uri="{FF2B5EF4-FFF2-40B4-BE49-F238E27FC236}">
                <a16:creationId xmlns:a16="http://schemas.microsoft.com/office/drawing/2014/main" id="{AF7E5B13-AD8D-3DFB-4A77-5D6319D84BB1}"/>
              </a:ext>
            </a:extLst>
          </p:cNvPr>
          <p:cNvSpPr>
            <a:spLocks/>
          </p:cNvSpPr>
          <p:nvPr/>
        </p:nvSpPr>
        <p:spPr bwMode="auto">
          <a:xfrm>
            <a:off x="2548808" y="1907291"/>
            <a:ext cx="8917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strike="sngStrike" dirty="0" err="1">
                <a:solidFill>
                  <a:schemeClr val="bg1">
                    <a:lumMod val="65000"/>
                  </a:schemeClr>
                </a:solidFill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b="1" strike="sngStrike" dirty="0">
              <a:solidFill>
                <a:schemeClr val="bg1">
                  <a:lumMod val="65000"/>
                </a:schemeClr>
              </a:solidFill>
              <a:latin typeface="Gill Sans" charset="0"/>
              <a:cs typeface="Gill Sans" charset="0"/>
              <a:sym typeface="Gill Sans" charset="0"/>
            </a:endParaRPr>
          </a:p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DFT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A92D9B6E-0979-2BED-9824-ACD22D3C6955}"/>
              </a:ext>
            </a:extLst>
          </p:cNvPr>
          <p:cNvSpPr>
            <a:spLocks/>
          </p:cNvSpPr>
          <p:nvPr/>
        </p:nvSpPr>
        <p:spPr bwMode="auto">
          <a:xfrm>
            <a:off x="7966241" y="1907291"/>
            <a:ext cx="89174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strike="sngStrike" dirty="0">
                <a:solidFill>
                  <a:schemeClr val="bg1">
                    <a:lumMod val="65000"/>
                  </a:schemeClr>
                </a:solidFill>
                <a:latin typeface="Gill Sans" charset="0"/>
                <a:cs typeface="Gill Sans" charset="0"/>
                <a:sym typeface="Gill Sans" charset="0"/>
              </a:rPr>
              <a:t>DFT</a:t>
            </a:r>
          </a:p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9715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6131-59E5-D096-2828-4BB3EC5C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277F8D-F2B0-3A04-87AF-2EFC0E5589F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460FFA1-F05D-7C67-763A-943BFC4E740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2687A5EC-8C89-CD13-6871-8F2587CC6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57DF711-CD48-80F9-3365-7154B151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D3EB1D0-4A8C-78C6-B18F-E5FDF0F2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CBB4D-F260-A564-4C30-31EA10287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829" y="1058784"/>
            <a:ext cx="9530341" cy="56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30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2B98-02FD-EE2F-8290-FA689FDE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BCFE9-1F9E-860D-2D1D-97FF5459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29" y="1058784"/>
            <a:ext cx="9530341" cy="562025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2F51D2-96A6-34C6-515B-D413C1931413}"/>
              </a:ext>
            </a:extLst>
          </p:cNvPr>
          <p:cNvSpPr/>
          <p:nvPr/>
        </p:nvSpPr>
        <p:spPr>
          <a:xfrm>
            <a:off x="954156" y="4308866"/>
            <a:ext cx="10207327" cy="237017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61605C-BBD7-80AD-C7FD-114A5C52D238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FF53F99-EFB5-B632-ABC2-5B818F841E0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38B3F913-4A1E-921B-533E-0580B2456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8DE032-19BF-0975-6922-871BDED3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A41F362-DB92-A101-0816-B88B4ED14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A6525DBB-B1EC-6D5C-53E2-575B9B9234C3}"/>
              </a:ext>
            </a:extLst>
          </p:cNvPr>
          <p:cNvSpPr>
            <a:spLocks/>
          </p:cNvSpPr>
          <p:nvPr/>
        </p:nvSpPr>
        <p:spPr bwMode="auto">
          <a:xfrm>
            <a:off x="1511303" y="4383685"/>
            <a:ext cx="592777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387878" indent="-342900" algn="ctr">
              <a:buSzPct val="77000"/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isn’t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for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metals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  <a:p>
            <a:pPr marL="387878" indent="-342900" algn="ctr">
              <a:buSzPct val="77000"/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doesn’t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in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-data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regimes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  <a:p>
            <a:pPr marL="387878" indent="-342900" algn="ctr">
              <a:buSzPct val="77000"/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Further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challenge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E9BA2-E3AE-5388-5E84-F70986B30C23}"/>
              </a:ext>
            </a:extLst>
          </p:cNvPr>
          <p:cNvCxnSpPr>
            <a:cxnSpLocks/>
          </p:cNvCxnSpPr>
          <p:nvPr/>
        </p:nvCxnSpPr>
        <p:spPr>
          <a:xfrm flipH="1">
            <a:off x="6265334" y="3547533"/>
            <a:ext cx="1752599" cy="880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2C8C5C-01FF-75DB-F275-3D3DE0651A51}"/>
              </a:ext>
            </a:extLst>
          </p:cNvPr>
          <p:cNvCxnSpPr>
            <a:cxnSpLocks/>
          </p:cNvCxnSpPr>
          <p:nvPr/>
        </p:nvCxnSpPr>
        <p:spPr>
          <a:xfrm flipH="1">
            <a:off x="7052063" y="4101514"/>
            <a:ext cx="965870" cy="6809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D1F782-C717-FA35-C6BA-0A755A3A1493}"/>
              </a:ext>
            </a:extLst>
          </p:cNvPr>
          <p:cNvCxnSpPr>
            <a:cxnSpLocks/>
          </p:cNvCxnSpPr>
          <p:nvPr/>
        </p:nvCxnSpPr>
        <p:spPr>
          <a:xfrm flipH="1">
            <a:off x="5839953" y="5315953"/>
            <a:ext cx="28781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05FF5F-6CA7-E159-3712-86191647AF24}"/>
              </a:ext>
            </a:extLst>
          </p:cNvPr>
          <p:cNvCxnSpPr>
            <a:cxnSpLocks/>
          </p:cNvCxnSpPr>
          <p:nvPr/>
        </p:nvCxnSpPr>
        <p:spPr>
          <a:xfrm>
            <a:off x="8718072" y="3901001"/>
            <a:ext cx="0" cy="1414952"/>
          </a:xfrm>
          <a:prstGeom prst="straightConnector1">
            <a:avLst/>
          </a:prstGeom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756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7190-538A-9696-7C4D-6F92620E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9608B7-BDF0-58AD-CA5C-1519AAAE6CCA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E54DA74-3C0B-D763-6C7C-9E84A70E8D0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1B4591E5-7A1C-D189-20B0-DD472DEF0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2DDE9F0-D7A0-CB3E-65BD-8035FED9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4AA3D9C-823F-9CC7-5A36-39E29BE26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CA835A-87B0-A179-6E73-81E4B8CCE7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52524"/>
          <a:stretch/>
        </p:blipFill>
        <p:spPr>
          <a:xfrm>
            <a:off x="987921" y="2352582"/>
            <a:ext cx="10216157" cy="3299907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9123677C-D4B1-A8B0-4381-2536A5F67478}"/>
              </a:ext>
            </a:extLst>
          </p:cNvPr>
          <p:cNvSpPr>
            <a:spLocks/>
          </p:cNvSpPr>
          <p:nvPr/>
        </p:nvSpPr>
        <p:spPr bwMode="auto">
          <a:xfrm>
            <a:off x="399700" y="1514148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Expert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survey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 (more </a:t>
            </a: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than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 15 </a:t>
            </a: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institutions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 / </a:t>
            </a: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countries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!)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4EA0B-25F6-2A0E-02C9-427B7414E047}"/>
              </a:ext>
            </a:extLst>
          </p:cNvPr>
          <p:cNvSpPr txBox="1"/>
          <p:nvPr/>
        </p:nvSpPr>
        <p:spPr>
          <a:xfrm>
            <a:off x="5774712" y="3442479"/>
            <a:ext cx="47000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5C1E0-CD09-CE41-74EC-A9F87807FF52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343134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8E04-85FC-E1E4-9DFC-70F05308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5FCCF3-00AC-3ED3-4A7C-83B33A68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F3EABF-33FF-01D9-0C8C-5170F8C389C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D909D1B-19DF-5F4A-3365-2BD65C0592E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C129B408-D1CF-F294-8B1A-DCB9D4299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7133792-8A45-AC94-62EF-ACAE2B18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5B5A232-CB60-B537-C5DA-25E89864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5067397-D4A9-36AB-B358-1DC4F29EA0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33CAC6-9CBF-5FE2-75CA-03FBBE0A3B27}"/>
              </a:ext>
            </a:extLst>
          </p:cNvPr>
          <p:cNvSpPr/>
          <p:nvPr/>
        </p:nvSpPr>
        <p:spPr>
          <a:xfrm>
            <a:off x="6096000" y="1500189"/>
            <a:ext cx="5729692" cy="401092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11FA2-727E-4B19-7B73-D0F1FAC34D3E}"/>
              </a:ext>
            </a:extLst>
          </p:cNvPr>
          <p:cNvSpPr/>
          <p:nvPr/>
        </p:nvSpPr>
        <p:spPr>
          <a:xfrm>
            <a:off x="156584" y="3731745"/>
            <a:ext cx="5729692" cy="26425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BFA1E-A4FE-FE7F-70A8-2BF53CEA39E4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1556890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9737-DBB7-8261-5FD9-507A9882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9BFF5B-65AB-5DC6-C3E8-AEA7CFA8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81A794-FFD3-A4B8-F501-24D3305D0A1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3C93814-844A-2F1D-DC8F-F3DCED77AA9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D5AB26E3-33A1-8F40-BCDD-B615B7D72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857FC09-7330-1869-7535-1AD9AC43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5196D72-199D-1E88-89A4-A2370A4F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6349AB-3CAB-270B-656F-8CE13767CF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6FC566-D8E2-ECD2-3B7B-81E19AE42A56}"/>
              </a:ext>
            </a:extLst>
          </p:cNvPr>
          <p:cNvSpPr/>
          <p:nvPr/>
        </p:nvSpPr>
        <p:spPr>
          <a:xfrm>
            <a:off x="6096000" y="1500189"/>
            <a:ext cx="5729692" cy="401092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3B482-2036-9AD8-BB38-F9D21D55A133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971676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472A2-35FB-DCF5-43E6-8392829A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912B0B-3EE8-1106-1105-E0BC8900DB6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D1CB05B-BDC9-8A7F-5DB6-29FC7E3415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801BC5B5-2B80-E796-4313-57507F8A0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8C66053-D31B-D9D7-9335-68A30F12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2664101-02B5-42FB-7FD6-9AAD19ACE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92FC1C-7B5A-28C0-E38F-27E7618E7D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B426AA-09D1-DCE1-BAAE-CC10921A0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378267-104B-C626-D2E0-4D995502D40E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6105290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C5D2-C43B-ED8D-9EB6-7B77E6EB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2E48C4-150E-B123-B948-7F3DBF3C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E4118D-97E3-6BEE-35CA-07C61656C10D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42DBA90-0AEE-991D-E0DB-CA50DDBCC40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19AFAEAC-3979-081F-AD02-15865E47C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8C7E2FD-2CF4-6A08-E67A-A75E06EE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58BBFFD-97B2-88DD-8E9F-61115E86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A9670A-993B-6AF7-2D2A-70E1010509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F02EC6-34C9-3D7E-8180-00D991CFA431}"/>
              </a:ext>
            </a:extLst>
          </p:cNvPr>
          <p:cNvSpPr/>
          <p:nvPr/>
        </p:nvSpPr>
        <p:spPr>
          <a:xfrm>
            <a:off x="284498" y="1500188"/>
            <a:ext cx="11541194" cy="48677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BD6E738-CB74-1700-21D0-E0C0EA4EBA95}"/>
              </a:ext>
            </a:extLst>
          </p:cNvPr>
          <p:cNvSpPr>
            <a:spLocks/>
          </p:cNvSpPr>
          <p:nvPr/>
        </p:nvSpPr>
        <p:spPr bwMode="auto">
          <a:xfrm>
            <a:off x="1500188" y="3429000"/>
            <a:ext cx="9156526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When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compared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blindly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,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experts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field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consider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xTB-based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ML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be 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similar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DFT-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based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publication-quality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4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2C17E-9F93-6325-FDD6-4A1FE6FDD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09AD79-B30F-0FF0-D988-D7259CA4813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467E0FD-8B4A-7C87-943B-D08B061776D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E90CB57-C950-EF45-8C93-C207CAD17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5C4A29E-D8FA-0AE2-9303-0A11D03F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C7A50DC-6945-3644-DF2C-2CF750D52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458A0A6D-D8E1-2CD6-9726-49C32D0663BE}"/>
              </a:ext>
            </a:extLst>
          </p:cNvPr>
          <p:cNvSpPr>
            <a:spLocks/>
          </p:cNvSpPr>
          <p:nvPr/>
        </p:nvSpPr>
        <p:spPr bwMode="auto">
          <a:xfrm>
            <a:off x="355336" y="1558035"/>
            <a:ext cx="95087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noProof="0" dirty="0">
                <a:latin typeface="Gill Sans" charset="0"/>
                <a:cs typeface="Gill Sans" charset="0"/>
                <a:sym typeface="Gill Sans" charset="0"/>
              </a:rPr>
              <a:t>How is this possible if xTB has lower level of theory compared to DFT?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1BA7F74-3CFC-4DDE-9A19-ADE8E44CD498}"/>
              </a:ext>
            </a:extLst>
          </p:cNvPr>
          <p:cNvSpPr>
            <a:spLocks/>
          </p:cNvSpPr>
          <p:nvPr/>
        </p:nvSpPr>
        <p:spPr bwMode="auto">
          <a:xfrm>
            <a:off x="399700" y="2152590"/>
            <a:ext cx="56963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u="sng" noProof="0" dirty="0">
                <a:latin typeface="Gill Sans" charset="0"/>
                <a:cs typeface="Gill Sans" charset="0"/>
                <a:sym typeface="Gill Sans" charset="0"/>
              </a:rPr>
              <a:t>Strong correlations</a:t>
            </a:r>
          </a:p>
          <a:p>
            <a:pPr marL="44978">
              <a:buSzPct val="77000"/>
            </a:pPr>
            <a:endParaRPr lang="en-US" sz="600" u="sng" noProof="0" dirty="0">
              <a:latin typeface="Gill Sans" charset="0"/>
              <a:cs typeface="Gill Sans" charset="0"/>
              <a:sym typeface="Gill Sans" charset="0"/>
            </a:endParaRPr>
          </a:p>
          <a:p>
            <a:pPr marL="44978">
              <a:buSzPct val="77000"/>
            </a:pPr>
            <a:r>
              <a:rPr lang="en-US" sz="2400" i="1" dirty="0">
                <a:latin typeface="Gill Sans" charset="0"/>
                <a:cs typeface="Gill Sans" charset="0"/>
                <a:sym typeface="Gill Sans" charset="0"/>
              </a:rPr>
              <a:t>(even if absolute values are less accurate)</a:t>
            </a:r>
            <a:endParaRPr lang="en-US" sz="2400" i="1" noProof="0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07C93F21-38A8-5784-CF6D-A98AD84F0D63}"/>
              </a:ext>
            </a:extLst>
          </p:cNvPr>
          <p:cNvSpPr>
            <a:spLocks/>
          </p:cNvSpPr>
          <p:nvPr/>
        </p:nvSpPr>
        <p:spPr bwMode="auto">
          <a:xfrm>
            <a:off x="6331483" y="2590910"/>
            <a:ext cx="41614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u="sng" noProof="0" dirty="0">
                <a:latin typeface="Gill Sans" charset="0"/>
                <a:cs typeface="Gill Sans" charset="0"/>
                <a:sym typeface="Gill Sans" charset="0"/>
              </a:rPr>
              <a:t>More variety of descriptors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10368E6-64AB-4547-8F9C-685867EE3B29}"/>
              </a:ext>
            </a:extLst>
          </p:cNvPr>
          <p:cNvSpPr>
            <a:spLocks/>
          </p:cNvSpPr>
          <p:nvPr/>
        </p:nvSpPr>
        <p:spPr bwMode="auto">
          <a:xfrm>
            <a:off x="6331483" y="3623784"/>
            <a:ext cx="586051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Often, people try less than 5-10 types of QM descriptors (i.e., charge, </a:t>
            </a:r>
            <a:r>
              <a:rPr lang="en-US" sz="2400" noProof="0" dirty="0" err="1">
                <a:latin typeface="Gill Sans" charset="0"/>
                <a:cs typeface="Gill Sans" charset="0"/>
                <a:sym typeface="Gill Sans" charset="0"/>
              </a:rPr>
              <a:t>V</a:t>
            </a:r>
            <a:r>
              <a:rPr lang="en-US" sz="2400" baseline="-25000" noProof="0" dirty="0" err="1">
                <a:latin typeface="Gill Sans" charset="0"/>
                <a:cs typeface="Gill Sans" charset="0"/>
                <a:sym typeface="Gill Sans" charset="0"/>
              </a:rPr>
              <a:t>bur</a:t>
            </a: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, Fukui, etc.)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F137A39F-2971-0384-09B6-281704A03D2F}"/>
              </a:ext>
            </a:extLst>
          </p:cNvPr>
          <p:cNvSpPr>
            <a:spLocks/>
          </p:cNvSpPr>
          <p:nvPr/>
        </p:nvSpPr>
        <p:spPr bwMode="auto">
          <a:xfrm>
            <a:off x="6318239" y="5071707"/>
            <a:ext cx="540553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New AQME workflow: 39 descriptors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8E5BEB53-1A8F-CF7B-16FC-3C5C48D54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" y="3224213"/>
          <a:ext cx="426402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092133" imgH="1382205" progId="ChemDraw.Document.6.0">
                  <p:embed/>
                </p:oleObj>
              </mc:Choice>
              <mc:Fallback>
                <p:oleObj name="CS ChemDraw Drawing" r:id="rId4" imgW="2092133" imgH="1382205" progId="ChemDraw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8E5BEB53-1A8F-CF7B-16FC-3C5C48D549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0050" y="3224213"/>
                        <a:ext cx="426402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5">
            <a:extLst>
              <a:ext uri="{FF2B5EF4-FFF2-40B4-BE49-F238E27FC236}">
                <a16:creationId xmlns:a16="http://schemas.microsoft.com/office/drawing/2014/main" id="{27F80A9D-C93C-BE18-2B36-FF547E8A960F}"/>
              </a:ext>
            </a:extLst>
          </p:cNvPr>
          <p:cNvSpPr>
            <a:spLocks/>
          </p:cNvSpPr>
          <p:nvPr/>
        </p:nvSpPr>
        <p:spPr bwMode="auto">
          <a:xfrm>
            <a:off x="4862819" y="5643056"/>
            <a:ext cx="8940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…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CFFDE800-8E03-563C-E8E5-6206F7F66CBE}"/>
              </a:ext>
            </a:extLst>
          </p:cNvPr>
          <p:cNvSpPr>
            <a:spLocks/>
          </p:cNvSpPr>
          <p:nvPr/>
        </p:nvSpPr>
        <p:spPr bwMode="auto">
          <a:xfrm>
            <a:off x="305169" y="6210677"/>
            <a:ext cx="58968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R</a:t>
            </a:r>
            <a:r>
              <a:rPr lang="en-US" sz="2400" baseline="30000" noProof="0" dirty="0">
                <a:latin typeface="Gill Sans" charset="0"/>
                <a:cs typeface="Gill Sans" charset="0"/>
                <a:sym typeface="Gill Sans" charset="0"/>
              </a:rPr>
              <a:t>2</a:t>
            </a: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 &gt; 0.9 in HOMO, LUMO, dipole, </a:t>
            </a:r>
            <a:r>
              <a:rPr lang="en-US" sz="2400" noProof="0" dirty="0" err="1">
                <a:latin typeface="Gill Sans" charset="0"/>
                <a:cs typeface="Gill Sans" charset="0"/>
                <a:sym typeface="Gill Sans" charset="0"/>
              </a:rPr>
              <a:t>V</a:t>
            </a:r>
            <a:r>
              <a:rPr lang="en-US" sz="2400" baseline="-25000" noProof="0" dirty="0" err="1">
                <a:latin typeface="Gill Sans" charset="0"/>
                <a:cs typeface="Gill Sans" charset="0"/>
                <a:sym typeface="Gill Sans" charset="0"/>
              </a:rPr>
              <a:t>bur</a:t>
            </a:r>
            <a:r>
              <a:rPr lang="en-US" sz="2400" noProof="0" dirty="0">
                <a:latin typeface="Gill Sans" charset="0"/>
                <a:cs typeface="Gill Sans" charset="0"/>
                <a:sym typeface="Gill Sans" charset="0"/>
              </a:rPr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3509987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3142</TotalTime>
  <Words>2286</Words>
  <Application>Microsoft Office PowerPoint</Application>
  <PresentationFormat>Widescreen</PresentationFormat>
  <Paragraphs>407</Paragraphs>
  <Slides>55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Arial</vt:lpstr>
      <vt:lpstr>Calibri</vt:lpstr>
      <vt:lpstr>Calibri Light</vt:lpstr>
      <vt:lpstr>Gill Sans</vt:lpstr>
      <vt:lpstr>Proxima Nova</vt:lpstr>
      <vt:lpstr>Times New Roman</vt:lpstr>
      <vt:lpstr>Wingdings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jvalegre</dc:creator>
  <cp:lastModifiedBy>Juan Vicente Alegre Requena</cp:lastModifiedBy>
  <cp:revision>963</cp:revision>
  <dcterms:created xsi:type="dcterms:W3CDTF">2023-06-21T09:49:49Z</dcterms:created>
  <dcterms:modified xsi:type="dcterms:W3CDTF">2026-05-13T07:57:09Z</dcterms:modified>
</cp:coreProperties>
</file>