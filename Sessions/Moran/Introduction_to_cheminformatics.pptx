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1124" r:id="rId3"/>
    <p:sldId id="1128" r:id="rId4"/>
    <p:sldId id="1139" r:id="rId5"/>
    <p:sldId id="1138" r:id="rId6"/>
    <p:sldId id="1137" r:id="rId7"/>
    <p:sldId id="1136" r:id="rId8"/>
    <p:sldId id="1135" r:id="rId9"/>
    <p:sldId id="1134" r:id="rId10"/>
    <p:sldId id="1133" r:id="rId11"/>
    <p:sldId id="1132" r:id="rId12"/>
    <p:sldId id="1131" r:id="rId13"/>
    <p:sldId id="1144" r:id="rId14"/>
    <p:sldId id="1143" r:id="rId15"/>
    <p:sldId id="1142" r:id="rId16"/>
    <p:sldId id="1141" r:id="rId17"/>
    <p:sldId id="1149" r:id="rId18"/>
    <p:sldId id="1148" r:id="rId19"/>
    <p:sldId id="115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7194"/>
    <a:srgbClr val="40C040"/>
    <a:srgbClr val="339933"/>
    <a:srgbClr val="BEA698"/>
    <a:srgbClr val="826251"/>
    <a:srgbClr val="FDD7A5"/>
    <a:srgbClr val="FF7F0E"/>
    <a:srgbClr val="A0D9E4"/>
    <a:srgbClr val="68C3D4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1AF5-2077-4BA1-B113-2310F8AFC2A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82E02-BE67-4161-A544-735639CA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A205-1E8A-553E-C42C-C7CE4C66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16F9E-6FD3-99BF-4536-3007B1CA3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1D167-896C-8C8F-B520-AE14E2481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EEACA-4A8B-1B51-9569-196DA5453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14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3608-BDDD-464F-FD5A-4296AFC5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6FB2E-7AF3-1E9E-DCF7-5DB6EA17E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F86C6-CD7B-CC9D-B2CA-AADC56B7B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A355F-78FE-8545-B03F-57325A9B1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29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9D54A-1146-D129-A553-79D2DDA0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4E0D4-B787-F68D-CE30-6DCF1DF76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2F396-ECCD-1B58-1683-27B8227B0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F2D1-74DA-178B-0624-6F4FBF947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76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BF00-6679-D478-0A20-4842BFE2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3041A-443B-17C8-2230-2F8E217EB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09A5C-48B5-6FCA-6C9F-031498E8F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C711-1077-799E-D0FB-E39368790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04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4CF8-0178-0D90-E0E3-186DF43D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A97EA-0803-7F7B-B648-04A0FCA7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51E72-4C67-638A-01AC-EFC92C1AA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104A0-4200-2EAB-B264-48CCC3015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37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9410-F8FF-6B4E-52FF-39FAB23C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6028A-ADE2-2F1B-FBBA-5008263DD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02223-1DEA-63AE-E8F9-706CBF233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F3343-4AB1-A6A9-EDBD-F0FEFA28F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37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8A42-A95D-C37F-6FBD-1922FFF2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35E88-6A3C-9CD7-DE73-4D4DD1450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1BD90-4ED8-2C82-EF3D-1DEDB2AE8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44FC5-B881-54F5-15BD-99B91DDA7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6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FEDF-4E64-345E-AB62-B3B4C3C3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F668F-4D49-BEC6-DE7C-3E869E4C3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BBD0C-4663-05EE-0B83-C11FA3EE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2CCF-237E-83F8-B005-64F5214B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B476C-6E96-DD45-2402-1F3F7AC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1E64-873A-F2AD-8994-87C8CBDD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7738-D6CD-4FE9-21DC-9002E943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65BA-1C07-4CA3-BEA6-DF7BA250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666A9-47FC-92AC-3D31-81DDD663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A462-15CD-C29C-E9C6-B1D9568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9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2848-2DED-2C41-E3E5-3B62EFE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583DC-4676-E553-60FF-66EA0889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E372-058D-562A-84B7-4419FA66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8AE9-8941-F00C-07BD-FD96501D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D62E-2C63-1145-4574-BB2722CB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7F5A-E538-B3CD-CF09-91561668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A79E-6161-6672-29A8-EC3C973AB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B898-5571-7270-3233-154A5865F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AFF83-BD61-AB1C-8C60-56029E96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86F6-8EE4-DB9B-D695-2BABE749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F7A8-A7F3-7042-C169-CCFFB06E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787-421D-742A-F54E-DA803BEA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EB2A1-3672-84FD-20EB-D83F5B7E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62D6D-8D88-C374-2F67-ADCB2BB8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DB75-1F9E-F53E-508C-BCE9B3782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F1EFE-EC88-4821-35D1-3407704E5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6E025-767D-7906-E6C6-4602AA6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C0F4C-CAE9-141D-0786-18FD7A08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A92E7-DEE4-4A74-892A-04ED10FF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4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2D4D-8A8A-D7B1-CBE0-BF7770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7319B-B47D-7A08-2F8C-E7EB1E8D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6DD35-3499-7039-923A-D0896FEC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48622-66E6-191B-1055-1D41143F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26E8E-E7BA-8B1D-6E80-B365CF62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36EBD-6204-65B4-1215-D1E79729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E6FFC-1A90-2A23-9852-B364E823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8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2233-DCC5-AF65-EE61-9E909FE9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B15B-37C3-7912-25DA-F47A1729F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6F9B-4EA1-435B-6259-16F6C65B4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394C-4E2C-C28B-E4BE-B68AF5B8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F3B6-E364-8138-3149-EC061516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C2979-B81B-BE1F-F5EC-9891334A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6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6B83-7426-D5F9-9D77-F7FE2A4C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69F1C-5711-FEA7-460E-558F05E75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69A31-C776-1CFE-0628-85455C5B2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505B0-AC3F-D67C-E9F6-8B42B47E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1662D-3839-D918-F502-456F0294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57953-DB77-5DAF-1FDE-2157760F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7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5EF6-1A03-E077-5421-EA6D0113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ED6B2-3D95-3D77-E588-3642905EF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8059-EE05-C8EF-611C-8AE03E9F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9D03-F220-8DA1-9752-70D59D89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C519-9006-853C-9114-A194FB73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2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39F53-5EF9-330F-C790-33D876D1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94974-3B66-9295-234A-3017DF34E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107D8-2EC0-DAEF-7FFA-CF9338D4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FBEF-88CE-42B1-779C-F8C8B60D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E6F-A31C-7113-4656-B135E3F8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19A77-428C-CA5F-A609-10144762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34FDC-52EE-F578-5882-91F9B0B16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5487C-3F15-30BE-6046-30E72900D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9E1F9-83F8-4EE8-BA17-07AD297525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C16A-EE89-EC75-5A37-DF77F16FD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1131-F98E-F9B3-BCB0-6E3FE79C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hyperlink" Target="https://www.daylight.com/dayhtml/doc/theory/theory.smiles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skoff.com/s01812-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5FF854-1024-C381-AEE0-126931EE515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157228C-0CF7-471A-6DB4-679BDC043B1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AI workshop</a:t>
            </a:r>
            <a:endParaRPr lang="en-US" sz="3600" baseline="300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B4A076C-4020-499F-F6D5-05042578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3A1941D-2C73-70D5-34E3-9CB427DCE40F}"/>
              </a:ext>
            </a:extLst>
          </p:cNvPr>
          <p:cNvSpPr txBox="1">
            <a:spLocks/>
          </p:cNvSpPr>
          <p:nvPr/>
        </p:nvSpPr>
        <p:spPr>
          <a:xfrm>
            <a:off x="284498" y="1951672"/>
            <a:ext cx="11100819" cy="2954655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</a:rPr>
              <a:t>Introduction to cheminformatics</a:t>
            </a:r>
          </a:p>
          <a:p>
            <a:pPr algn="ctr"/>
            <a:endParaRPr lang="en-US" sz="4000" dirty="0">
              <a:solidFill>
                <a:schemeClr val="tx1"/>
              </a:solidFill>
            </a:endParaRPr>
          </a:p>
          <a:p>
            <a:pPr algn="ctr"/>
            <a:endParaRPr lang="en-US" sz="40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Author: Itzel Muro Puente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May 20</a:t>
            </a:r>
            <a:r>
              <a:rPr lang="en-US" sz="2800" baseline="30000" dirty="0">
                <a:solidFill>
                  <a:schemeClr val="tx1"/>
                </a:solidFill>
              </a:rPr>
              <a:t>th</a:t>
            </a:r>
            <a:r>
              <a:rPr lang="en-US" sz="2800" dirty="0">
                <a:solidFill>
                  <a:schemeClr val="tx1"/>
                </a:solidFill>
              </a:rPr>
              <a:t>, 2026</a:t>
            </a:r>
          </a:p>
        </p:txBody>
      </p:sp>
      <p:pic>
        <p:nvPicPr>
          <p:cNvPr id="3" name="Picture 2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0F39FD7-3E82-0F6A-4ACC-8A28505E8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549F3C-C0D0-9DF9-94A6-955F875E2663}"/>
              </a:ext>
            </a:extLst>
          </p:cNvPr>
          <p:cNvSpPr/>
          <p:nvPr/>
        </p:nvSpPr>
        <p:spPr>
          <a:xfrm>
            <a:off x="0" y="5690883"/>
            <a:ext cx="12192000" cy="1168979"/>
          </a:xfrm>
          <a:prstGeom prst="rect">
            <a:avLst/>
          </a:prstGeom>
          <a:solidFill>
            <a:srgbClr val="237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Imagen 5">
            <a:extLst>
              <a:ext uri="{FF2B5EF4-FFF2-40B4-BE49-F238E27FC236}">
                <a16:creationId xmlns:a16="http://schemas.microsoft.com/office/drawing/2014/main" id="{C75F6C1C-53D8-3ACD-9301-F34408D980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7" r="1609"/>
          <a:stretch>
            <a:fillRect/>
          </a:stretch>
        </p:blipFill>
        <p:spPr>
          <a:xfrm>
            <a:off x="-2069348" y="19499512"/>
            <a:ext cx="19710434" cy="245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1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A5B7-6D98-155E-BE72-0D3900B3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FF1642-F792-8EBE-16AA-CC2D25F93E5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C78CA60-6508-7996-5784-7C4367133CB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Cheminformatics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EFAD176-015D-A5E8-4636-E8AC940A1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7C4DD51-D30D-6B76-A26D-04B860E7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1AD0C0C-E844-1DF1-68BB-4DBC9950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F5D4D516-566D-8C5C-719A-6AEEDD8BDD0B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2269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8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Combines chemistry, computer science, and information science to organize, process, and present chemical data.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B4B5B0C9-8FAF-B8F1-4F69-C040E4D4295B}"/>
              </a:ext>
            </a:extLst>
          </p:cNvPr>
          <p:cNvSpPr>
            <a:spLocks noChangeAspect="1"/>
          </p:cNvSpPr>
          <p:nvPr/>
        </p:nvSpPr>
        <p:spPr>
          <a:xfrm>
            <a:off x="4635458" y="4468949"/>
            <a:ext cx="2626830" cy="2305096"/>
          </a:xfrm>
          <a:custGeom>
            <a:avLst/>
            <a:gdLst/>
            <a:ahLst/>
            <a:cxnLst/>
            <a:rect l="l" t="t" r="r" b="b"/>
            <a:pathLst>
              <a:path w="3402692" h="2985931">
                <a:moveTo>
                  <a:pt x="0" y="0"/>
                </a:moveTo>
                <a:lnTo>
                  <a:pt x="3402692" y="0"/>
                </a:lnTo>
                <a:lnTo>
                  <a:pt x="3402692" y="2985931"/>
                </a:lnTo>
                <a:lnTo>
                  <a:pt x="0" y="298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957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9BD1-E24B-8C9F-334A-1D8B9054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6222CB-C089-53F2-1A22-09A64D27CF4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E37596E-5965-14B8-96B1-EA2135ABFE2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Cheminformatics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A6995557-6239-0C6E-BBE5-C690FBE8E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E1EA46F-AFF8-1C62-A8BC-1E8D7157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E6E26C09-9DA2-DC59-C257-BDDF3FDC7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F28C4DA8-A633-0F8A-0DC5-1C5ABFAEBCEA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2269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8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Combines chemistry, computer science, and information science to organize, process, and present chemical data.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0634C39-F185-36D7-6DE1-DF0101D787D9}"/>
              </a:ext>
            </a:extLst>
          </p:cNvPr>
          <p:cNvSpPr>
            <a:spLocks noChangeAspect="1"/>
          </p:cNvSpPr>
          <p:nvPr/>
        </p:nvSpPr>
        <p:spPr>
          <a:xfrm>
            <a:off x="4635458" y="4468949"/>
            <a:ext cx="2626830" cy="2305096"/>
          </a:xfrm>
          <a:custGeom>
            <a:avLst/>
            <a:gdLst/>
            <a:ahLst/>
            <a:cxnLst/>
            <a:rect l="l" t="t" r="r" b="b"/>
            <a:pathLst>
              <a:path w="3402692" h="2985931">
                <a:moveTo>
                  <a:pt x="0" y="0"/>
                </a:moveTo>
                <a:lnTo>
                  <a:pt x="3402692" y="0"/>
                </a:lnTo>
                <a:lnTo>
                  <a:pt x="3402692" y="2985931"/>
                </a:lnTo>
                <a:lnTo>
                  <a:pt x="0" y="298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957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4AB45-BED6-4F61-1C1E-C36D8D50A5D6}"/>
              </a:ext>
            </a:extLst>
          </p:cNvPr>
          <p:cNvSpPr txBox="1"/>
          <p:nvPr/>
        </p:nvSpPr>
        <p:spPr>
          <a:xfrm>
            <a:off x="399700" y="3679230"/>
            <a:ext cx="11098346" cy="1136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Computers don’t know chemistry, the translation of “chemistry” to computer language is necessary.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E6B3-4654-DDA3-E220-7D88486B7996}"/>
              </a:ext>
            </a:extLst>
          </p:cNvPr>
          <p:cNvSpPr/>
          <p:nvPr/>
        </p:nvSpPr>
        <p:spPr>
          <a:xfrm>
            <a:off x="284498" y="1216152"/>
            <a:ext cx="11507802" cy="203910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93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4687-1B0D-F515-ED26-F65666E8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58C48-A910-C9FE-12C3-1F31616E427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6CE3D3B-C3EF-820D-AB58-87AE6A5B347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E0DEF2B-C322-1EDE-E00D-CD442249E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53A564B-09E5-8888-1368-56B63EAF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899371D-FC82-489C-0F13-CE018CC01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FCAB3AAB-1E0C-ADFC-3869-C4DFCBFFE49D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1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785D-0BA6-04CC-65C1-DA0009B6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BEB4B1-9126-26B5-3430-3C05D1989FB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2ECB187-1F82-C2C8-ACB9-81B412A4695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B5C8808-E029-1D4B-CD91-29CC1BDE1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9C75858-2234-3D1C-BC9B-B7F7BF55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FB38B75-6362-4B61-10D5-981F33D9C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2356B840-01B5-36D1-6E85-939301544198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1592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0180A-05F5-BF18-F2CF-3690470CF0C4}"/>
              </a:ext>
            </a:extLst>
          </p:cNvPr>
          <p:cNvSpPr/>
          <p:nvPr/>
        </p:nvSpPr>
        <p:spPr>
          <a:xfrm>
            <a:off x="284498" y="1281735"/>
            <a:ext cx="8821282" cy="889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95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6EF5-41DE-23D8-D623-8FFDC866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29E1EA-BC5F-2E4F-3139-1DC8CB7A8BFE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8F42A67-A59C-2596-DF2C-A2AB9F42D8CA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48B6D73-5624-9006-2C40-39866A6C4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A217A90-C08E-1E84-0912-6EA4C207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B41AD98E-9CB4-3EC0-C6D2-BE332A74D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1364079D-BBF4-6422-74C7-51F075881472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42ED1E-BF46-6AF9-FA92-212E69889E25}"/>
              </a:ext>
            </a:extLst>
          </p:cNvPr>
          <p:cNvSpPr/>
          <p:nvPr/>
        </p:nvSpPr>
        <p:spPr>
          <a:xfrm>
            <a:off x="284498" y="1281735"/>
            <a:ext cx="8821282" cy="152090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3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6162-93BA-C9FA-AF00-DDAA51BC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FB66BE-EC48-6714-D997-F6D5EDE1C3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7E02C77-3647-3CEB-0CB7-A8BB2242937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E1F68AF-DF55-A61F-6096-FBC5750FC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56349B0-412B-6795-5553-3B6BE0C4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7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FB217383-7FE6-DA7A-C949-6E5D4C75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3E91981E-AAAF-76C4-FECD-DBCFE5E39EFE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F5A26417-A05F-FBF4-9B1A-35AC1E0DA16F}"/>
              </a:ext>
            </a:extLst>
          </p:cNvPr>
          <p:cNvSpPr>
            <a:spLocks noChangeAspect="1"/>
          </p:cNvSpPr>
          <p:nvPr/>
        </p:nvSpPr>
        <p:spPr>
          <a:xfrm>
            <a:off x="1835433" y="2802645"/>
            <a:ext cx="1841217" cy="3041822"/>
          </a:xfrm>
          <a:custGeom>
            <a:avLst/>
            <a:gdLst/>
            <a:ahLst/>
            <a:cxnLst/>
            <a:rect l="l" t="t" r="r" b="b"/>
            <a:pathLst>
              <a:path w="8821282" h="3041822">
                <a:moveTo>
                  <a:pt x="0" y="0"/>
                </a:moveTo>
                <a:lnTo>
                  <a:pt x="8821282" y="0"/>
                </a:lnTo>
                <a:lnTo>
                  <a:pt x="8821282" y="3041822"/>
                </a:lnTo>
                <a:lnTo>
                  <a:pt x="0" y="3041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7910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187E3359-71F9-8D04-0610-DBB6341E982C}"/>
              </a:ext>
            </a:extLst>
          </p:cNvPr>
          <p:cNvSpPr txBox="1"/>
          <p:nvPr/>
        </p:nvSpPr>
        <p:spPr>
          <a:xfrm>
            <a:off x="2183774" y="5836450"/>
            <a:ext cx="11545512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CCC                     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0FE13-D60F-AF9F-59BD-FD8EB8AE5D29}"/>
              </a:ext>
            </a:extLst>
          </p:cNvPr>
          <p:cNvSpPr/>
          <p:nvPr/>
        </p:nvSpPr>
        <p:spPr>
          <a:xfrm>
            <a:off x="284498" y="1281735"/>
            <a:ext cx="8821282" cy="152090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29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7733-796F-AB6D-545E-4AE8F3A7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DA8E15-7891-678D-7619-61E54E9219B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B9E6A6F-5866-A027-87B7-486B7C415BD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D902927-EB35-D22F-30BF-D68DE5B7F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427CE4C-4FF9-58D3-2522-380EE4A5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B157194-886E-CB4A-F73D-9F4A46B10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AA5B7A3F-5858-B88D-338C-6DCBF0366525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B6DF06A5-6F6C-27AE-0209-B940E81CB8E2}"/>
              </a:ext>
            </a:extLst>
          </p:cNvPr>
          <p:cNvSpPr>
            <a:spLocks noChangeAspect="1"/>
          </p:cNvSpPr>
          <p:nvPr/>
        </p:nvSpPr>
        <p:spPr>
          <a:xfrm>
            <a:off x="1835433" y="2802645"/>
            <a:ext cx="3320491" cy="3041822"/>
          </a:xfrm>
          <a:custGeom>
            <a:avLst/>
            <a:gdLst/>
            <a:ahLst/>
            <a:cxnLst/>
            <a:rect l="l" t="t" r="r" b="b"/>
            <a:pathLst>
              <a:path w="8821282" h="3041822">
                <a:moveTo>
                  <a:pt x="0" y="0"/>
                </a:moveTo>
                <a:lnTo>
                  <a:pt x="8821282" y="0"/>
                </a:lnTo>
                <a:lnTo>
                  <a:pt x="8821282" y="3041822"/>
                </a:lnTo>
                <a:lnTo>
                  <a:pt x="0" y="3041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6566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EC4413CD-6CB9-5F44-1C27-DD582B6B532D}"/>
              </a:ext>
            </a:extLst>
          </p:cNvPr>
          <p:cNvSpPr txBox="1"/>
          <p:nvPr/>
        </p:nvSpPr>
        <p:spPr>
          <a:xfrm>
            <a:off x="2183774" y="5836450"/>
            <a:ext cx="11545512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CCC               CC=C        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E24E64-30C1-083E-DD9C-865E8F573B9F}"/>
              </a:ext>
            </a:extLst>
          </p:cNvPr>
          <p:cNvSpPr/>
          <p:nvPr/>
        </p:nvSpPr>
        <p:spPr>
          <a:xfrm>
            <a:off x="1835432" y="2802644"/>
            <a:ext cx="1536417" cy="353253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9E6A8-4174-8200-3C9F-3ADEE6163F7D}"/>
              </a:ext>
            </a:extLst>
          </p:cNvPr>
          <p:cNvSpPr/>
          <p:nvPr/>
        </p:nvSpPr>
        <p:spPr>
          <a:xfrm>
            <a:off x="284498" y="1281735"/>
            <a:ext cx="8821282" cy="152090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763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D4FE-AD67-6A6F-C618-5584D428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143D49-7563-085C-5F17-CEA1B075D9F5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0DA7E5B-8799-4B29-EE5E-F7126E62DEC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CA491D1-1624-27A4-3B87-1C0B7B0B1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EED8A10-FFB2-E672-F446-594FFA88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4A421C1-C4E0-67E8-097F-7A5991F26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D199DFD1-08F3-CD37-111B-67B881587E34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CAD8B6BC-80C3-2E2B-737C-D8FE726B1435}"/>
              </a:ext>
            </a:extLst>
          </p:cNvPr>
          <p:cNvSpPr>
            <a:spLocks noChangeAspect="1"/>
          </p:cNvSpPr>
          <p:nvPr/>
        </p:nvSpPr>
        <p:spPr>
          <a:xfrm>
            <a:off x="1835433" y="2802645"/>
            <a:ext cx="5118720" cy="3041822"/>
          </a:xfrm>
          <a:custGeom>
            <a:avLst/>
            <a:gdLst/>
            <a:ahLst/>
            <a:cxnLst/>
            <a:rect l="l" t="t" r="r" b="b"/>
            <a:pathLst>
              <a:path w="8821282" h="3041822">
                <a:moveTo>
                  <a:pt x="0" y="0"/>
                </a:moveTo>
                <a:lnTo>
                  <a:pt x="8821282" y="0"/>
                </a:lnTo>
                <a:lnTo>
                  <a:pt x="8821282" y="3041822"/>
                </a:lnTo>
                <a:lnTo>
                  <a:pt x="0" y="3041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7233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ADF86FC8-4F29-1363-5F41-62A0E73DB2F4}"/>
              </a:ext>
            </a:extLst>
          </p:cNvPr>
          <p:cNvSpPr txBox="1"/>
          <p:nvPr/>
        </p:nvSpPr>
        <p:spPr>
          <a:xfrm>
            <a:off x="2183774" y="5836450"/>
            <a:ext cx="11545512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CCC               CC=C           CC#C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7A7C6-3F47-6EB3-FD31-6BC712CD3F13}"/>
              </a:ext>
            </a:extLst>
          </p:cNvPr>
          <p:cNvSpPr/>
          <p:nvPr/>
        </p:nvSpPr>
        <p:spPr>
          <a:xfrm>
            <a:off x="1835432" y="2802644"/>
            <a:ext cx="3231867" cy="353253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0DE67-60F8-3083-2243-D6C634911551}"/>
              </a:ext>
            </a:extLst>
          </p:cNvPr>
          <p:cNvSpPr/>
          <p:nvPr/>
        </p:nvSpPr>
        <p:spPr>
          <a:xfrm>
            <a:off x="284498" y="1281735"/>
            <a:ext cx="8821282" cy="152090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49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FB02-3ADB-CE7C-8B4B-6233C87B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D46403-A17E-CE29-2009-FED85DCA7BBB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6434435-BCD0-92DD-639E-53B669BD5F1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A82DF78-8613-A2C3-BE6E-ECE568CF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553E0A6-6142-8503-CE5E-A6AC6820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E386DF8F-E101-EEB1-3DEE-D6E3DE452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F5374C59-7847-3417-7A02-92D078DC17D6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3FD30158-1F60-A039-B4CB-74EE840792C0}"/>
              </a:ext>
            </a:extLst>
          </p:cNvPr>
          <p:cNvSpPr>
            <a:spLocks noChangeAspect="1"/>
          </p:cNvSpPr>
          <p:nvPr/>
        </p:nvSpPr>
        <p:spPr>
          <a:xfrm>
            <a:off x="1835432" y="2802645"/>
            <a:ext cx="7076603" cy="3041822"/>
          </a:xfrm>
          <a:custGeom>
            <a:avLst/>
            <a:gdLst/>
            <a:ahLst/>
            <a:cxnLst/>
            <a:rect l="l" t="t" r="r" b="b"/>
            <a:pathLst>
              <a:path w="8821282" h="3041822">
                <a:moveTo>
                  <a:pt x="0" y="0"/>
                </a:moveTo>
                <a:lnTo>
                  <a:pt x="8821282" y="0"/>
                </a:lnTo>
                <a:lnTo>
                  <a:pt x="8821282" y="3041822"/>
                </a:lnTo>
                <a:lnTo>
                  <a:pt x="0" y="3041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65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008720E2-558E-ADF1-88E0-85A2DC1F8B8D}"/>
              </a:ext>
            </a:extLst>
          </p:cNvPr>
          <p:cNvSpPr txBox="1"/>
          <p:nvPr/>
        </p:nvSpPr>
        <p:spPr>
          <a:xfrm>
            <a:off x="2183774" y="5836450"/>
            <a:ext cx="11545512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CCC               CC=C           CC#C        c1ccccc1           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FF0145-BA88-219F-8BA3-30CF11BA19D1}"/>
              </a:ext>
            </a:extLst>
          </p:cNvPr>
          <p:cNvSpPr/>
          <p:nvPr/>
        </p:nvSpPr>
        <p:spPr>
          <a:xfrm>
            <a:off x="1835432" y="2802644"/>
            <a:ext cx="5003518" cy="353253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3D64DA-2D9D-9B95-5AFD-CDC0B193FC29}"/>
              </a:ext>
            </a:extLst>
          </p:cNvPr>
          <p:cNvSpPr/>
          <p:nvPr/>
        </p:nvSpPr>
        <p:spPr>
          <a:xfrm>
            <a:off x="284498" y="1281735"/>
            <a:ext cx="8821282" cy="152090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27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870E-70E9-CE5C-7C30-516E5849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650A74-3D9D-8CD4-FF85-4E5519AEB695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4461D4C-6C02-EA9D-5CD2-B8828CE9C1B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648D5DF-26FE-5EFC-E690-C3C389291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3C796DA-3778-E3FA-2781-04850687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85C32D01-99AF-F1B3-7FED-F60181EEA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66585902-DB84-DB3B-9F03-A553CEF881D6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483E9494-92E3-E1AF-BC88-F99D0B24CA94}"/>
              </a:ext>
            </a:extLst>
          </p:cNvPr>
          <p:cNvSpPr/>
          <p:nvPr/>
        </p:nvSpPr>
        <p:spPr>
          <a:xfrm>
            <a:off x="1835432" y="2802645"/>
            <a:ext cx="8821282" cy="3041822"/>
          </a:xfrm>
          <a:custGeom>
            <a:avLst/>
            <a:gdLst/>
            <a:ahLst/>
            <a:cxnLst/>
            <a:rect l="l" t="t" r="r" b="b"/>
            <a:pathLst>
              <a:path w="8821282" h="3041822">
                <a:moveTo>
                  <a:pt x="0" y="0"/>
                </a:moveTo>
                <a:lnTo>
                  <a:pt x="8821282" y="0"/>
                </a:lnTo>
                <a:lnTo>
                  <a:pt x="8821282" y="3041822"/>
                </a:lnTo>
                <a:lnTo>
                  <a:pt x="0" y="3041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66ED6112-B649-4EFF-D72F-04CDF7411571}"/>
              </a:ext>
            </a:extLst>
          </p:cNvPr>
          <p:cNvSpPr txBox="1"/>
          <p:nvPr/>
        </p:nvSpPr>
        <p:spPr>
          <a:xfrm>
            <a:off x="2183774" y="5836450"/>
            <a:ext cx="11545512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CCC               CC=C           CC#C        c1ccccc1             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ClC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(Cl)Cl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4A92C1-B0A6-9028-8F8D-78B04F3D4EEE}"/>
              </a:ext>
            </a:extLst>
          </p:cNvPr>
          <p:cNvSpPr/>
          <p:nvPr/>
        </p:nvSpPr>
        <p:spPr>
          <a:xfrm>
            <a:off x="245432" y="1367536"/>
            <a:ext cx="8975550" cy="496764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157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586A-C2A9-D0A1-A96D-19647B90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A074A6-9403-8E65-46DD-FEACBAC21B8D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B7570CF-F1B0-CCEE-36D6-FA8AFB2EC6E0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SMILES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401850F-7208-58F4-0E60-6FCB07A3E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70A9385-030C-29A2-51AA-278F0408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E31707FB-A140-4F35-A9A1-874F1EF20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40BE8216-2B8F-63A3-485B-81A30497A8BF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implified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olecular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nput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ine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ntry </a:t>
            </a: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ystem.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way to write molecules in one string that is easy for humans to read. 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83A4FDC-CED1-A750-F119-39FE473F7EB2}"/>
              </a:ext>
            </a:extLst>
          </p:cNvPr>
          <p:cNvSpPr>
            <a:spLocks/>
          </p:cNvSpPr>
          <p:nvPr/>
        </p:nvSpPr>
        <p:spPr bwMode="auto">
          <a:xfrm>
            <a:off x="401056" y="6371262"/>
            <a:ext cx="115455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0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Tutorial on SMILES </a:t>
            </a:r>
            <a:r>
              <a:rPr lang="en-US" sz="20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for more information. </a:t>
            </a:r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29342F1D-12EA-90FB-8564-E4761EB9BD9B}"/>
              </a:ext>
            </a:extLst>
          </p:cNvPr>
          <p:cNvSpPr/>
          <p:nvPr/>
        </p:nvSpPr>
        <p:spPr>
          <a:xfrm>
            <a:off x="1835432" y="2802645"/>
            <a:ext cx="8821282" cy="3041822"/>
          </a:xfrm>
          <a:custGeom>
            <a:avLst/>
            <a:gdLst/>
            <a:ahLst/>
            <a:cxnLst/>
            <a:rect l="l" t="t" r="r" b="b"/>
            <a:pathLst>
              <a:path w="8821282" h="3041822">
                <a:moveTo>
                  <a:pt x="0" y="0"/>
                </a:moveTo>
                <a:lnTo>
                  <a:pt x="8821282" y="0"/>
                </a:lnTo>
                <a:lnTo>
                  <a:pt x="8821282" y="3041822"/>
                </a:lnTo>
                <a:lnTo>
                  <a:pt x="0" y="3041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4A81FF4E-6F84-5151-6728-5DE0E16E3D00}"/>
              </a:ext>
            </a:extLst>
          </p:cNvPr>
          <p:cNvSpPr txBox="1"/>
          <p:nvPr/>
        </p:nvSpPr>
        <p:spPr>
          <a:xfrm>
            <a:off x="2183774" y="5836450"/>
            <a:ext cx="11545512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CCC               CC=C           CC#C        c1ccccc1             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ClC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Alegreya Sans"/>
                <a:cs typeface="Alegreya Sans"/>
                <a:sym typeface="Alegreya Sans"/>
              </a:rPr>
              <a:t>(Cl)Cl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D4433-7D99-69A0-B216-2161EBAB7D20}"/>
              </a:ext>
            </a:extLst>
          </p:cNvPr>
          <p:cNvSpPr/>
          <p:nvPr/>
        </p:nvSpPr>
        <p:spPr>
          <a:xfrm>
            <a:off x="284498" y="1367536"/>
            <a:ext cx="8936484" cy="496764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7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9DAD-0FC5-BFCD-0CC1-544DBB45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3DEE387-4908-D1E9-685E-450329422A0E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SMILES of molecule?</a:t>
            </a: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spcAft>
                <a:spcPts val="300"/>
              </a:spcAft>
              <a:buAutoNum type="alphaLcParenR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CCS			b) C(S)C			c) SCC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0EAC6B-EE42-E9B4-3489-30FCC50BE8F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D1084DE-22FF-9C1E-1FDC-AD58C273B4B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Can</a:t>
            </a:r>
            <a:r>
              <a:rPr lang="en-US" sz="3600" dirty="0" err="1">
                <a:solidFill>
                  <a:schemeClr val="tx1"/>
                </a:solidFill>
              </a:rPr>
              <a:t>onical</a:t>
            </a:r>
            <a:r>
              <a:rPr lang="en-US" sz="3600" dirty="0">
                <a:solidFill>
                  <a:schemeClr val="tx1"/>
                </a:solidFill>
              </a:rPr>
              <a:t> 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C97989D5-5C87-54CD-0741-6360C9E8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2DB827B-76CF-AFAD-736B-70734AFC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FF2EF049-8C36-2D1F-B051-DDABFA7B5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31">
            <a:extLst>
              <a:ext uri="{FF2B5EF4-FFF2-40B4-BE49-F238E27FC236}">
                <a16:creationId xmlns:a16="http://schemas.microsoft.com/office/drawing/2014/main" id="{32935EE5-54FD-BE75-1CE4-4108EB1792AE}"/>
              </a:ext>
            </a:extLst>
          </p:cNvPr>
          <p:cNvSpPr>
            <a:spLocks noChangeAspect="1"/>
          </p:cNvSpPr>
          <p:nvPr/>
        </p:nvSpPr>
        <p:spPr>
          <a:xfrm>
            <a:off x="5114822" y="1656578"/>
            <a:ext cx="2346967" cy="1142602"/>
          </a:xfrm>
          <a:custGeom>
            <a:avLst/>
            <a:gdLst/>
            <a:ahLst/>
            <a:cxnLst/>
            <a:rect l="l" t="t" r="r" b="b"/>
            <a:pathLst>
              <a:path w="3296360" h="1604807">
                <a:moveTo>
                  <a:pt x="0" y="0"/>
                </a:moveTo>
                <a:lnTo>
                  <a:pt x="3296360" y="0"/>
                </a:lnTo>
                <a:lnTo>
                  <a:pt x="3296360" y="1604807"/>
                </a:lnTo>
                <a:lnTo>
                  <a:pt x="0" y="1604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0180" t="-562324" r="-366069" b="-13654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28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D0616-40A3-1A7E-02A3-059AC6A6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65D9E28C-9EC0-8B9B-BD13-1DC649930713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4039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SMILES of molecule?</a:t>
            </a: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spcAft>
                <a:spcPts val="300"/>
              </a:spcAft>
              <a:buAutoNum type="alphaLcParenR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CCS			b) C(S)C			c) SCC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All are correct, but in a database, will lead to duplicates.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B1AED7-C5F0-F4B1-B11B-D85166C576B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4051A06-A725-D555-23AE-026C1B8415F0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Can</a:t>
            </a:r>
            <a:r>
              <a:rPr lang="en-US" sz="3600" dirty="0" err="1">
                <a:solidFill>
                  <a:schemeClr val="tx1"/>
                </a:solidFill>
              </a:rPr>
              <a:t>onical</a:t>
            </a:r>
            <a:r>
              <a:rPr lang="en-US" sz="3600" dirty="0">
                <a:solidFill>
                  <a:schemeClr val="tx1"/>
                </a:solidFill>
              </a:rPr>
              <a:t> 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4D384AB9-5504-6B63-7779-0DF304C69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8990BE0-7BE0-4108-ADF0-8718B45A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38D48E2-B4AF-2BF3-2511-1C919B9FD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31">
            <a:extLst>
              <a:ext uri="{FF2B5EF4-FFF2-40B4-BE49-F238E27FC236}">
                <a16:creationId xmlns:a16="http://schemas.microsoft.com/office/drawing/2014/main" id="{AC9A63EF-8CAE-D595-49A5-0FA2820FC761}"/>
              </a:ext>
            </a:extLst>
          </p:cNvPr>
          <p:cNvSpPr>
            <a:spLocks noChangeAspect="1"/>
          </p:cNvSpPr>
          <p:nvPr/>
        </p:nvSpPr>
        <p:spPr>
          <a:xfrm>
            <a:off x="5114822" y="1656578"/>
            <a:ext cx="2346967" cy="1142602"/>
          </a:xfrm>
          <a:custGeom>
            <a:avLst/>
            <a:gdLst/>
            <a:ahLst/>
            <a:cxnLst/>
            <a:rect l="l" t="t" r="r" b="b"/>
            <a:pathLst>
              <a:path w="3296360" h="1604807">
                <a:moveTo>
                  <a:pt x="0" y="0"/>
                </a:moveTo>
                <a:lnTo>
                  <a:pt x="3296360" y="0"/>
                </a:lnTo>
                <a:lnTo>
                  <a:pt x="3296360" y="1604807"/>
                </a:lnTo>
                <a:lnTo>
                  <a:pt x="0" y="1604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0180" t="-562324" r="-366069" b="-1365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583D74-3205-0282-A438-384289AC44F8}"/>
              </a:ext>
            </a:extLst>
          </p:cNvPr>
          <p:cNvSpPr/>
          <p:nvPr/>
        </p:nvSpPr>
        <p:spPr>
          <a:xfrm>
            <a:off x="430530" y="1316561"/>
            <a:ext cx="11361770" cy="211243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393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996A-EAE4-BBC2-77ED-1A599917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0CE608AC-9306-1550-3E2E-887FE19C098A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481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SMILES of molecule?</a:t>
            </a: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spcAft>
                <a:spcPts val="300"/>
              </a:spcAft>
              <a:buAutoNum type="alphaLcParenR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CCS		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b) C(S)C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			c) SCC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All are correct, but in a database, will lead to duplicates.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The canonical SMILES must be obtained to get a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unique standardized text representation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 is a) CCS.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6D54F1-A390-93FB-2A7C-9F23478584DD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C085486-0E1D-61DD-ADD2-CF823C23213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Can</a:t>
            </a:r>
            <a:r>
              <a:rPr lang="en-US" sz="3600" dirty="0" err="1">
                <a:solidFill>
                  <a:schemeClr val="tx1"/>
                </a:solidFill>
              </a:rPr>
              <a:t>onical</a:t>
            </a:r>
            <a:r>
              <a:rPr lang="en-US" sz="3600" dirty="0">
                <a:solidFill>
                  <a:schemeClr val="tx1"/>
                </a:solidFill>
              </a:rPr>
              <a:t> 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0DDD966-94CF-BEE5-F026-27EE6716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161F76F-B0D2-0E71-8B75-4116189A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E222E75-B559-F15F-EBF9-5A40DDDE6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31">
            <a:extLst>
              <a:ext uri="{FF2B5EF4-FFF2-40B4-BE49-F238E27FC236}">
                <a16:creationId xmlns:a16="http://schemas.microsoft.com/office/drawing/2014/main" id="{029DE787-3B2B-8FA7-2D34-D531A6D539D5}"/>
              </a:ext>
            </a:extLst>
          </p:cNvPr>
          <p:cNvSpPr>
            <a:spLocks noChangeAspect="1"/>
          </p:cNvSpPr>
          <p:nvPr/>
        </p:nvSpPr>
        <p:spPr>
          <a:xfrm>
            <a:off x="5114822" y="1656578"/>
            <a:ext cx="2346967" cy="1142602"/>
          </a:xfrm>
          <a:custGeom>
            <a:avLst/>
            <a:gdLst/>
            <a:ahLst/>
            <a:cxnLst/>
            <a:rect l="l" t="t" r="r" b="b"/>
            <a:pathLst>
              <a:path w="3296360" h="1604807">
                <a:moveTo>
                  <a:pt x="0" y="0"/>
                </a:moveTo>
                <a:lnTo>
                  <a:pt x="3296360" y="0"/>
                </a:lnTo>
                <a:lnTo>
                  <a:pt x="3296360" y="1604807"/>
                </a:lnTo>
                <a:lnTo>
                  <a:pt x="0" y="1604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0180" t="-562324" r="-366069" b="-1365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D4C8BD-8FAA-5FF2-7857-D1CB8D1BB6EA}"/>
              </a:ext>
            </a:extLst>
          </p:cNvPr>
          <p:cNvSpPr/>
          <p:nvPr/>
        </p:nvSpPr>
        <p:spPr>
          <a:xfrm>
            <a:off x="399700" y="1150138"/>
            <a:ext cx="11361770" cy="315763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683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30E5-E80D-42FB-ECE9-EF67A09D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93EECAA7-E91F-D494-073B-366901292495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5224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SMILES of molecule?</a:t>
            </a: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spcAft>
                <a:spcPts val="300"/>
              </a:spcAft>
              <a:buAutoNum type="alphaLcParenR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CCS			b) C(S)C			c) SCC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All are correct, but in a database, will lead to duplicates.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The canonical SMILES must be obtained to get a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unique standardized text representation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 is a) CCS.</a:t>
            </a:r>
          </a:p>
          <a:p>
            <a:pPr algn="just">
              <a:spcAft>
                <a:spcPts val="3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  <a:p>
            <a:pPr algn="just">
              <a:spcAft>
                <a:spcPts val="300"/>
              </a:spcAf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You can check with this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  <a:hlinkClick r:id="rId3"/>
              </a:rPr>
              <a:t>tool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997771-F851-0AA5-ED3E-E11381D1055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56F3B4E-FC13-F710-932C-F610B6456FC0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Can</a:t>
            </a:r>
            <a:r>
              <a:rPr lang="en-US" sz="3600" dirty="0" err="1">
                <a:solidFill>
                  <a:schemeClr val="tx1"/>
                </a:solidFill>
              </a:rPr>
              <a:t>onical</a:t>
            </a:r>
            <a:r>
              <a:rPr lang="en-US" sz="3600" dirty="0">
                <a:solidFill>
                  <a:schemeClr val="tx1"/>
                </a:solidFill>
              </a:rPr>
              <a:t> 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59031F8-9AF9-CC19-5756-237F67318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FEDDFB7-0486-C427-E697-31A769AB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2896C7B-3555-A599-D929-D0DAEAA20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31">
            <a:extLst>
              <a:ext uri="{FF2B5EF4-FFF2-40B4-BE49-F238E27FC236}">
                <a16:creationId xmlns:a16="http://schemas.microsoft.com/office/drawing/2014/main" id="{C1125EA2-8FB8-1C63-BF73-0BD6D998BBA1}"/>
              </a:ext>
            </a:extLst>
          </p:cNvPr>
          <p:cNvSpPr>
            <a:spLocks noChangeAspect="1"/>
          </p:cNvSpPr>
          <p:nvPr/>
        </p:nvSpPr>
        <p:spPr>
          <a:xfrm>
            <a:off x="5114822" y="1656578"/>
            <a:ext cx="2346967" cy="1142602"/>
          </a:xfrm>
          <a:custGeom>
            <a:avLst/>
            <a:gdLst/>
            <a:ahLst/>
            <a:cxnLst/>
            <a:rect l="l" t="t" r="r" b="b"/>
            <a:pathLst>
              <a:path w="3296360" h="1604807">
                <a:moveTo>
                  <a:pt x="0" y="0"/>
                </a:moveTo>
                <a:lnTo>
                  <a:pt x="3296360" y="0"/>
                </a:lnTo>
                <a:lnTo>
                  <a:pt x="3296360" y="1604807"/>
                </a:lnTo>
                <a:lnTo>
                  <a:pt x="0" y="1604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0180" t="-562324" r="-366069" b="-1365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3E2A43-3FAC-9C4A-6706-F14D3EBD9E29}"/>
              </a:ext>
            </a:extLst>
          </p:cNvPr>
          <p:cNvSpPr/>
          <p:nvPr/>
        </p:nvSpPr>
        <p:spPr>
          <a:xfrm>
            <a:off x="399700" y="1261962"/>
            <a:ext cx="11361770" cy="447369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581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6D3B-D870-6FAF-56F8-201AF7F3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1F43B2-C560-8219-0B9D-44BA3ACA4D8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83AD0EC-205A-FA2F-F852-00165B4597B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Transition</a:t>
            </a:r>
            <a:r>
              <a:rPr lang="es-ES" sz="3600" dirty="0">
                <a:solidFill>
                  <a:schemeClr val="tx1"/>
                </a:solidFill>
              </a:rPr>
              <a:t> metal complexes </a:t>
            </a:r>
            <a:r>
              <a:rPr lang="en-US" sz="3600" dirty="0">
                <a:solidFill>
                  <a:schemeClr val="tx1"/>
                </a:solidFill>
              </a:rPr>
              <a:t>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C9EFC76F-E4DF-1258-EF92-0D2429F1F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1AA3945-8CB6-111C-A6CF-271CC1941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6D566-C938-7060-754A-771723D6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435" y="1249837"/>
            <a:ext cx="10515600" cy="43132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2"/>
                </a:solidFill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614899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96AD-A8C3-C65F-A512-7EE4A77B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691B0B-7C9E-58E0-11D0-BC8F43031D25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C86EC11-49B1-9FE9-9A7A-7ED178AE43C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Transition</a:t>
            </a:r>
            <a:r>
              <a:rPr lang="es-ES" sz="3600" dirty="0">
                <a:solidFill>
                  <a:schemeClr val="tx1"/>
                </a:solidFill>
              </a:rPr>
              <a:t> metal complexes </a:t>
            </a:r>
            <a:r>
              <a:rPr lang="en-US" sz="3600" dirty="0">
                <a:solidFill>
                  <a:schemeClr val="tx1"/>
                </a:solidFill>
              </a:rPr>
              <a:t>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B05D7FF-51D0-D299-A9EE-FE408874B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6E22BF4-73E8-C12C-9A00-96E92F394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5E9F0-7524-8835-4311-7DB118D7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435" y="1249837"/>
            <a:ext cx="10515600" cy="43132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2"/>
                </a:solidFill>
              </a:rPr>
              <a:t>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A130D-E5D9-F2FD-E56E-31ADDC30421E}"/>
              </a:ext>
            </a:extLst>
          </p:cNvPr>
          <p:cNvSpPr txBox="1"/>
          <p:nvPr/>
        </p:nvSpPr>
        <p:spPr>
          <a:xfrm>
            <a:off x="1240251" y="2042437"/>
            <a:ext cx="10144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000" b="1" dirty="0"/>
              <a:t>Machine-</a:t>
            </a:r>
            <a:r>
              <a:rPr lang="es-ES" sz="2000" b="1" dirty="0" err="1"/>
              <a:t>readable</a:t>
            </a:r>
            <a:r>
              <a:rPr lang="es-ES" sz="2000" b="1" dirty="0"/>
              <a:t> </a:t>
            </a:r>
            <a:r>
              <a:rPr lang="es-ES" sz="2000" b="1" dirty="0" err="1"/>
              <a:t>object</a:t>
            </a:r>
            <a:r>
              <a:rPr lang="es-ES" sz="2000" dirty="0"/>
              <a:t> metal-</a:t>
            </a:r>
            <a:r>
              <a:rPr lang="es-ES" sz="2000" dirty="0" err="1"/>
              <a:t>containing</a:t>
            </a:r>
            <a:r>
              <a:rPr lang="es-ES" sz="2000" dirty="0"/>
              <a:t> </a:t>
            </a:r>
            <a:r>
              <a:rPr lang="es-ES" sz="2000" dirty="0" err="1"/>
              <a:t>compound</a:t>
            </a:r>
            <a:r>
              <a:rPr lang="es-ES" sz="2000" dirty="0"/>
              <a:t>: no </a:t>
            </a:r>
            <a:r>
              <a:rPr lang="es-ES" sz="2000" dirty="0" err="1"/>
              <a:t>clear</a:t>
            </a:r>
            <a:r>
              <a:rPr lang="es-ES" sz="2000" dirty="0"/>
              <a:t> bond </a:t>
            </a:r>
            <a:r>
              <a:rPr lang="es-ES" sz="2000" dirty="0" err="1"/>
              <a:t>definitions</a:t>
            </a:r>
            <a:r>
              <a:rPr lang="es-ES" sz="2000" dirty="0"/>
              <a:t> </a:t>
            </a:r>
            <a:endParaRPr lang="en-GB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63FF57-61C3-094A-5D11-A8756CC9A81D}"/>
              </a:ext>
            </a:extLst>
          </p:cNvPr>
          <p:cNvGrpSpPr/>
          <p:nvPr/>
        </p:nvGrpSpPr>
        <p:grpSpPr>
          <a:xfrm>
            <a:off x="701435" y="2040063"/>
            <a:ext cx="360000" cy="400110"/>
            <a:chOff x="658200" y="1058988"/>
            <a:chExt cx="360000" cy="4001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E203E58-91F5-8EB4-7182-1927094790BF}"/>
                </a:ext>
              </a:extLst>
            </p:cNvPr>
            <p:cNvSpPr/>
            <p:nvPr/>
          </p:nvSpPr>
          <p:spPr>
            <a:xfrm>
              <a:off x="658200" y="1079043"/>
              <a:ext cx="360000" cy="360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3DBE53-C50E-EEEB-8A92-847A8715CA69}"/>
                </a:ext>
              </a:extLst>
            </p:cNvPr>
            <p:cNvSpPr txBox="1"/>
            <p:nvPr/>
          </p:nvSpPr>
          <p:spPr>
            <a:xfrm>
              <a:off x="697253" y="1058988"/>
              <a:ext cx="2818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2000" b="1" dirty="0"/>
                <a:t>!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BBF8AED-1A0A-C0F1-FCC3-256327C3F1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092"/>
          <a:stretch>
            <a:fillRect/>
          </a:stretch>
        </p:blipFill>
        <p:spPr>
          <a:xfrm>
            <a:off x="1449291" y="2865529"/>
            <a:ext cx="4013362" cy="15445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B90B4-3AB8-F9E0-FEE4-E5E34649AB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781" b="-1311"/>
          <a:stretch>
            <a:fillRect/>
          </a:stretch>
        </p:blipFill>
        <p:spPr>
          <a:xfrm>
            <a:off x="6102723" y="2703569"/>
            <a:ext cx="3675283" cy="19953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E7FA861-1778-55C7-DE0F-851D62A810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2713"/>
          <a:stretch>
            <a:fillRect/>
          </a:stretch>
        </p:blipFill>
        <p:spPr>
          <a:xfrm>
            <a:off x="5818266" y="2503539"/>
            <a:ext cx="4013362" cy="26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6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71A2-1F3E-7D69-74DF-C193207D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7EEC95-7C65-4504-08D7-1F84F332430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407194F-4C98-930D-44FA-080B5F5F988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Transition</a:t>
            </a:r>
            <a:r>
              <a:rPr lang="es-ES" sz="3600" dirty="0">
                <a:solidFill>
                  <a:schemeClr val="tx1"/>
                </a:solidFill>
              </a:rPr>
              <a:t> metal complexes </a:t>
            </a:r>
            <a:r>
              <a:rPr lang="en-US" sz="3600" dirty="0">
                <a:solidFill>
                  <a:schemeClr val="tx1"/>
                </a:solidFill>
              </a:rPr>
              <a:t>SMILES</a:t>
            </a:r>
            <a:endParaRPr lang="es-E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FE619A8-C7B5-550F-48FC-A88B8B9B9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E0DD93B4-8930-0148-AEA9-456E6D821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E29C9-7BE3-C978-FD86-9DC792D2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435" y="1249837"/>
            <a:ext cx="10515600" cy="43132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2"/>
                </a:solidFill>
              </a:rPr>
              <a:t>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99198-2B2A-ABB6-9595-0C134F12A3BD}"/>
              </a:ext>
            </a:extLst>
          </p:cNvPr>
          <p:cNvSpPr txBox="1"/>
          <p:nvPr/>
        </p:nvSpPr>
        <p:spPr>
          <a:xfrm>
            <a:off x="1240251" y="2042437"/>
            <a:ext cx="10144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000" b="1" dirty="0"/>
              <a:t>Machine-</a:t>
            </a:r>
            <a:r>
              <a:rPr lang="es-ES" sz="2000" b="1" dirty="0" err="1"/>
              <a:t>readable</a:t>
            </a:r>
            <a:r>
              <a:rPr lang="es-ES" sz="2000" b="1" dirty="0"/>
              <a:t> </a:t>
            </a:r>
            <a:r>
              <a:rPr lang="es-ES" sz="2000" b="1" dirty="0" err="1"/>
              <a:t>object</a:t>
            </a:r>
            <a:r>
              <a:rPr lang="es-ES" sz="2000" dirty="0"/>
              <a:t> metal-</a:t>
            </a:r>
            <a:r>
              <a:rPr lang="es-ES" sz="2000" dirty="0" err="1"/>
              <a:t>containing</a:t>
            </a:r>
            <a:r>
              <a:rPr lang="es-ES" sz="2000" dirty="0"/>
              <a:t> </a:t>
            </a:r>
            <a:r>
              <a:rPr lang="es-ES" sz="2000" dirty="0" err="1"/>
              <a:t>compound</a:t>
            </a:r>
            <a:r>
              <a:rPr lang="es-ES" sz="2000" dirty="0"/>
              <a:t>: no </a:t>
            </a:r>
            <a:r>
              <a:rPr lang="es-ES" sz="2000" dirty="0" err="1"/>
              <a:t>clear</a:t>
            </a:r>
            <a:r>
              <a:rPr lang="es-ES" sz="2000" dirty="0"/>
              <a:t> bond </a:t>
            </a:r>
            <a:r>
              <a:rPr lang="es-ES" sz="2000" dirty="0" err="1"/>
              <a:t>definitions</a:t>
            </a:r>
            <a:r>
              <a:rPr lang="es-ES" sz="2000" dirty="0"/>
              <a:t> 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99A4B-8A78-0F92-8891-20B10B6D52D5}"/>
              </a:ext>
            </a:extLst>
          </p:cNvPr>
          <p:cNvSpPr txBox="1"/>
          <p:nvPr/>
        </p:nvSpPr>
        <p:spPr>
          <a:xfrm>
            <a:off x="1240251" y="4810065"/>
            <a:ext cx="7505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QM</a:t>
            </a:r>
            <a:r>
              <a:rPr lang="es-ES" sz="2000" dirty="0"/>
              <a:t> </a:t>
            </a:r>
            <a:r>
              <a:rPr lang="es-ES" sz="2000" dirty="0" err="1"/>
              <a:t>accurate</a:t>
            </a:r>
            <a:r>
              <a:rPr lang="es-ES" sz="2000" dirty="0"/>
              <a:t> </a:t>
            </a:r>
            <a:r>
              <a:rPr lang="es-ES" sz="2000" dirty="0" err="1"/>
              <a:t>calculations</a:t>
            </a:r>
            <a:r>
              <a:rPr lang="es-ES" sz="2000" dirty="0"/>
              <a:t> are </a:t>
            </a:r>
            <a:r>
              <a:rPr lang="es-ES" sz="2000" b="1" dirty="0" err="1"/>
              <a:t>expensive</a:t>
            </a:r>
            <a:r>
              <a:rPr lang="es-ES" sz="2000" dirty="0"/>
              <a:t> </a:t>
            </a:r>
            <a:r>
              <a:rPr lang="es-ES" sz="2000" dirty="0" err="1"/>
              <a:t>with</a:t>
            </a:r>
            <a:r>
              <a:rPr lang="es-ES" sz="2000" dirty="0"/>
              <a:t> </a:t>
            </a:r>
            <a:r>
              <a:rPr lang="es-ES" sz="2000" dirty="0" err="1"/>
              <a:t>metals</a:t>
            </a:r>
            <a:r>
              <a:rPr lang="es-ES" sz="20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BD32A-2F00-DDD8-6945-06ED80B6C43C}"/>
              </a:ext>
            </a:extLst>
          </p:cNvPr>
          <p:cNvSpPr txBox="1"/>
          <p:nvPr/>
        </p:nvSpPr>
        <p:spPr>
          <a:xfrm>
            <a:off x="1240251" y="5693519"/>
            <a:ext cx="5872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 err="1"/>
              <a:t>Inconsistent</a:t>
            </a:r>
            <a:r>
              <a:rPr lang="es-ES" sz="2000" dirty="0"/>
              <a:t> </a:t>
            </a:r>
            <a:r>
              <a:rPr lang="es-ES" sz="2000" dirty="0" err="1"/>
              <a:t>formats</a:t>
            </a:r>
            <a:r>
              <a:rPr lang="es-ES" sz="2000" dirty="0"/>
              <a:t> </a:t>
            </a:r>
            <a:r>
              <a:rPr lang="es-ES" sz="2000" dirty="0" err="1"/>
              <a:t>across</a:t>
            </a:r>
            <a:r>
              <a:rPr lang="es-ES" sz="2000" dirty="0"/>
              <a:t> </a:t>
            </a:r>
            <a:r>
              <a:rPr lang="es-ES" sz="2000" dirty="0" err="1"/>
              <a:t>literature</a:t>
            </a:r>
            <a:r>
              <a:rPr lang="es-ES" sz="2000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E990EE-6057-3FD9-267A-0414DFF87929}"/>
              </a:ext>
            </a:extLst>
          </p:cNvPr>
          <p:cNvGrpSpPr/>
          <p:nvPr/>
        </p:nvGrpSpPr>
        <p:grpSpPr>
          <a:xfrm>
            <a:off x="701435" y="2040063"/>
            <a:ext cx="360000" cy="400110"/>
            <a:chOff x="658200" y="1058988"/>
            <a:chExt cx="360000" cy="4001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C6EEFB5-9663-3299-2E8E-D6A7AACCC3D8}"/>
                </a:ext>
              </a:extLst>
            </p:cNvPr>
            <p:cNvSpPr/>
            <p:nvPr/>
          </p:nvSpPr>
          <p:spPr>
            <a:xfrm>
              <a:off x="658200" y="1079043"/>
              <a:ext cx="360000" cy="360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50D559-1AE0-8717-35A6-F04A63A37B03}"/>
                </a:ext>
              </a:extLst>
            </p:cNvPr>
            <p:cNvSpPr txBox="1"/>
            <p:nvPr/>
          </p:nvSpPr>
          <p:spPr>
            <a:xfrm>
              <a:off x="697253" y="1058988"/>
              <a:ext cx="2818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2000" b="1" dirty="0"/>
                <a:t>!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3C8AC5-B770-72E3-9CD1-71DB57AD69E5}"/>
              </a:ext>
            </a:extLst>
          </p:cNvPr>
          <p:cNvGrpSpPr/>
          <p:nvPr/>
        </p:nvGrpSpPr>
        <p:grpSpPr>
          <a:xfrm>
            <a:off x="701435" y="4825458"/>
            <a:ext cx="360000" cy="400110"/>
            <a:chOff x="658200" y="1058988"/>
            <a:chExt cx="360000" cy="40011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6A59DE0-9F3D-40F1-DD4D-B680C1F54293}"/>
                </a:ext>
              </a:extLst>
            </p:cNvPr>
            <p:cNvSpPr/>
            <p:nvPr/>
          </p:nvSpPr>
          <p:spPr>
            <a:xfrm>
              <a:off x="658200" y="1079043"/>
              <a:ext cx="360000" cy="360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90F3EB-0D30-940C-5A26-5AEE25C5D7A9}"/>
                </a:ext>
              </a:extLst>
            </p:cNvPr>
            <p:cNvSpPr txBox="1"/>
            <p:nvPr/>
          </p:nvSpPr>
          <p:spPr>
            <a:xfrm>
              <a:off x="697253" y="1058988"/>
              <a:ext cx="2818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2000" b="1" dirty="0"/>
                <a:t>!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BFE213-C564-568E-9289-4F4194B92811}"/>
              </a:ext>
            </a:extLst>
          </p:cNvPr>
          <p:cNvGrpSpPr/>
          <p:nvPr/>
        </p:nvGrpSpPr>
        <p:grpSpPr>
          <a:xfrm>
            <a:off x="704121" y="5720847"/>
            <a:ext cx="360000" cy="400110"/>
            <a:chOff x="658200" y="1058988"/>
            <a:chExt cx="360000" cy="40011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27292C7-2E00-5F71-B493-B36D6F561D58}"/>
                </a:ext>
              </a:extLst>
            </p:cNvPr>
            <p:cNvSpPr/>
            <p:nvPr/>
          </p:nvSpPr>
          <p:spPr>
            <a:xfrm>
              <a:off x="658200" y="1079043"/>
              <a:ext cx="360000" cy="360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4E3123-9330-64F4-DDD4-EB9FC2F88319}"/>
                </a:ext>
              </a:extLst>
            </p:cNvPr>
            <p:cNvSpPr txBox="1"/>
            <p:nvPr/>
          </p:nvSpPr>
          <p:spPr>
            <a:xfrm>
              <a:off x="697253" y="1058988"/>
              <a:ext cx="2818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2000" b="1" dirty="0"/>
                <a:t>!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7D66502-141F-9442-3EAE-DCEFC0189C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092"/>
          <a:stretch>
            <a:fillRect/>
          </a:stretch>
        </p:blipFill>
        <p:spPr>
          <a:xfrm>
            <a:off x="1449291" y="2865529"/>
            <a:ext cx="4013362" cy="15445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F98A83-1F0A-5E37-A4B5-EB2EE40BC8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781" b="-1311"/>
          <a:stretch>
            <a:fillRect/>
          </a:stretch>
        </p:blipFill>
        <p:spPr>
          <a:xfrm>
            <a:off x="6102723" y="2703569"/>
            <a:ext cx="3675283" cy="19953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975BB62-A250-349D-7EFC-0F6450C83C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2713"/>
          <a:stretch>
            <a:fillRect/>
          </a:stretch>
        </p:blipFill>
        <p:spPr>
          <a:xfrm>
            <a:off x="5818266" y="2503539"/>
            <a:ext cx="4013362" cy="26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8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3212</TotalTime>
  <Words>609</Words>
  <Application>Microsoft Office PowerPoint</Application>
  <PresentationFormat>Widescreen</PresentationFormat>
  <Paragraphs>145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Gill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</vt:lpstr>
      <vt:lpstr>Challenges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jvalegre</dc:creator>
  <cp:lastModifiedBy>Lucia Moran Gonzalez</cp:lastModifiedBy>
  <cp:revision>965</cp:revision>
  <dcterms:created xsi:type="dcterms:W3CDTF">2023-06-21T09:49:49Z</dcterms:created>
  <dcterms:modified xsi:type="dcterms:W3CDTF">2026-05-20T13:17:30Z</dcterms:modified>
</cp:coreProperties>
</file>