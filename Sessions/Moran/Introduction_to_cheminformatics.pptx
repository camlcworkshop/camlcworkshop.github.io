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1124" r:id="rId3"/>
    <p:sldId id="1128" r:id="rId4"/>
    <p:sldId id="1139" r:id="rId5"/>
    <p:sldId id="1138" r:id="rId6"/>
    <p:sldId id="1137" r:id="rId7"/>
    <p:sldId id="1136" r:id="rId8"/>
    <p:sldId id="1135" r:id="rId9"/>
    <p:sldId id="1134" r:id="rId10"/>
    <p:sldId id="1133" r:id="rId11"/>
    <p:sldId id="1132" r:id="rId12"/>
    <p:sldId id="1131" r:id="rId13"/>
    <p:sldId id="1144" r:id="rId14"/>
    <p:sldId id="1143" r:id="rId15"/>
    <p:sldId id="1142" r:id="rId16"/>
    <p:sldId id="114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37194"/>
    <a:srgbClr val="40C040"/>
    <a:srgbClr val="339933"/>
    <a:srgbClr val="BEA698"/>
    <a:srgbClr val="826251"/>
    <a:srgbClr val="FDD7A5"/>
    <a:srgbClr val="FF7F0E"/>
    <a:srgbClr val="A0D9E4"/>
    <a:srgbClr val="68C3D4"/>
    <a:srgbClr val="0066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86" autoAdjust="0"/>
    <p:restoredTop sz="94660"/>
  </p:normalViewPr>
  <p:slideViewPr>
    <p:cSldViewPr snapToGrid="0">
      <p:cViewPr varScale="1">
        <p:scale>
          <a:sx n="78" d="100"/>
          <a:sy n="78" d="100"/>
        </p:scale>
        <p:origin x="73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491AF5-2077-4BA1-B113-2310F8AFC2A1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682E02-BE67-4161-A544-735639CA5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7289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9A205-1E8A-553E-C42C-C7CE4C66B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316F9E-6FD3-99BF-4536-3007B1CA34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11D167-896C-8C8F-B520-AE14E2481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DEEACA-4A8B-1B51-9569-196DA5453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682E02-BE67-4161-A544-735639CA5DF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0145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73608-BDDD-464F-FD5A-4296AFC56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D6FB2E-7AF3-1E9E-DCF7-5DB6EA17E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EF86C6-CD7B-CC9D-B2CA-AADC56B7BE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CA355F-78FE-8545-B03F-57325A9B16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682E02-BE67-4161-A544-735639CA5DF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6291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9D54A-1146-D129-A553-79D2DDA0A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F4E0D4-B787-F68D-CE30-6DCF1DF76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42F396-ECCD-1B58-1683-27B8227B09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3F2D1-74DA-178B-0624-6F4FBF9473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682E02-BE67-4161-A544-735639CA5DF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6760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2BF00-6679-D478-0A20-4842BFE20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33041A-443B-17C8-2230-2F8E217EBB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09A5C-48B5-6FCA-6C9F-031498E8F3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5C711-1077-799E-D0FB-E393687905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682E02-BE67-4161-A544-735639CA5DF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9045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EFEDF-4E64-345E-AB62-B3B4C3C396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AF668F-4D49-BEC6-DE7C-3E869E4C38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DBBD0C-4663-05EE-0B83-C11FA3EEE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9E1F9-83F8-4EE8-BA17-07AD29752570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82CCF-237E-83F8-B005-64F5214B5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B476C-6E96-DD45-2402-1F3F7ACBE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2AA-2C6C-4571-9892-9B3657580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11E64-873A-F2AD-8994-87C8CBDDB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AB7738-D6CD-4FE9-21DC-9002E9438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5D65BA-1C07-4CA3-BEA6-DF7BA250C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9E1F9-83F8-4EE8-BA17-07AD29752570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9666A9-47FC-92AC-3D31-81DDD663D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D9A462-15CD-C29C-E9C6-B1D956826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2AA-2C6C-4571-9892-9B3657580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595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82848-2DED-2C41-E3E5-3B62EFE91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2583DC-4676-E553-60FF-66EA088927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7E372-058D-562A-84B7-4419FA664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9E1F9-83F8-4EE8-BA17-07AD29752570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A78AE9-8941-F00C-07BD-FD96501D4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4D62E-2C63-1145-4574-BB2722CBC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2AA-2C6C-4571-9892-9B3657580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64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67F5A-E538-B3CD-CF09-915616686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0AA79E-6161-6672-29A8-EC3C973AB5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CFB898-5571-7270-3233-154A5865F7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1AFF83-BD61-AB1C-8C60-56029E96D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9E1F9-83F8-4EE8-BA17-07AD29752570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3386F6-8EE4-DB9B-D695-2BABE749F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19F7A8-A7F3-7042-C169-CCFFB06EC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2AA-2C6C-4571-9892-9B3657580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6956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A9787-421D-742A-F54E-DA803BEAE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6EB2A1-3672-84FD-20EB-D83F5B7E4B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D62D6D-8D88-C374-2F67-ADCB2BB89D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88DB75-1F9E-F53E-508C-BCE9B37829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FF1EFE-EC88-4821-35D1-3407704E57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96E025-767D-7906-E6C6-4602AA66F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9E1F9-83F8-4EE8-BA17-07AD29752570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8C0F4C-CAE9-141D-0786-18FD7A083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2A92E7-DEE4-4A74-892A-04ED10FFE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2AA-2C6C-4571-9892-9B3657580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9433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C2D4D-8A8A-D7B1-CBE0-BF7770441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E7319B-B47D-7A08-2F8C-E7EB1E8D0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9E1F9-83F8-4EE8-BA17-07AD29752570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B6DD35-3499-7039-923A-D0896FECD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948622-66E6-191B-1055-1D41143F7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2AA-2C6C-4571-9892-9B3657580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350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C26E8E-E7BA-8B1D-6E80-B365CF625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9E1F9-83F8-4EE8-BA17-07AD29752570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B36EBD-6204-65B4-1215-D1E797294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5E6FFC-1A90-2A23-9852-B364E8231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2AA-2C6C-4571-9892-9B3657580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080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62233-DCC5-AF65-EE61-9E909FE92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54B15B-37C3-7912-25DA-F47A1729F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1D6F9B-4EA1-435B-6259-16F6C65B44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47394C-4E2C-C28B-E4BE-B68AF5B87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9E1F9-83F8-4EE8-BA17-07AD29752570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36F3B6-E364-8138-3149-EC0615163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7C2979-B81B-BE1F-F5EC-9891334A1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2AA-2C6C-4571-9892-9B3657580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1687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D6B83-7426-D5F9-9D77-F7FE2A4C1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F69F1C-5711-FEA7-460E-558F05E755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869A31-C776-1CFE-0628-85455C5B27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E505B0-AC3F-D67C-E9F6-8B42B47E7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9E1F9-83F8-4EE8-BA17-07AD29752570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71662D-3839-D918-F502-456F0294D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D57953-DB77-5DAF-1FDE-2157760FA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2AA-2C6C-4571-9892-9B3657580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077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65EF6-1A03-E077-5421-EA6D01137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8ED6B2-3D95-3D77-E588-3642905EF6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258059-EE05-C8EF-611C-8AE03E9FA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9E1F9-83F8-4EE8-BA17-07AD29752570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4B9D03-F220-8DA1-9752-70D59D896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41C519-9006-853C-9114-A194FB734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2AA-2C6C-4571-9892-9B3657580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329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39F53-5EF9-330F-C790-33D876D14D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B94974-3B66-9295-234A-3017DF34E0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107D8-2EC0-DAEF-7FFA-CF9338D42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9E1F9-83F8-4EE8-BA17-07AD29752570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57FBEF-88CE-42B1-779C-F8C8B60D3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389E6F-A31C-7113-4656-B135E3F81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2AA-2C6C-4571-9892-9B3657580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251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819A77-428C-CA5F-A609-10144762B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34FDC-52EE-F578-5882-91F9B0B166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F5487C-3F15-30BE-6046-30E72900DA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C9E1F9-83F8-4EE8-BA17-07AD29752570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43C16A-EE89-EC75-5A37-DF77F16FD8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BF1131-F98E-F9B3-BCB0-6E3FE79C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A062AA-2C6C-4571-9892-9B3657580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8218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hyperlink" Target="https://www.daylight.com/dayhtml/doc/theory/theory.smiles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2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eskoff.com/s01812-0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25FF854-1024-C381-AEE0-126931EE5150}"/>
              </a:ext>
            </a:extLst>
          </p:cNvPr>
          <p:cNvCxnSpPr>
            <a:cxnSpLocks/>
          </p:cNvCxnSpPr>
          <p:nvPr/>
        </p:nvCxnSpPr>
        <p:spPr>
          <a:xfrm>
            <a:off x="399700" y="894492"/>
            <a:ext cx="11361770" cy="0"/>
          </a:xfrm>
          <a:prstGeom prst="line">
            <a:avLst/>
          </a:prstGeom>
          <a:ln w="38100">
            <a:solidFill>
              <a:srgbClr val="237194"/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0157228C-0CF7-471A-6DB4-679BDC043B17}"/>
              </a:ext>
            </a:extLst>
          </p:cNvPr>
          <p:cNvSpPr txBox="1">
            <a:spLocks/>
          </p:cNvSpPr>
          <p:nvPr/>
        </p:nvSpPr>
        <p:spPr>
          <a:xfrm>
            <a:off x="284498" y="83955"/>
            <a:ext cx="11616350" cy="738664"/>
          </a:xfrm>
          <a:prstGeom prst="rect">
            <a:avLst/>
          </a:prstGeom>
        </p:spPr>
        <p:txBody>
          <a:bodyPr vert="horz" wrap="square" lIns="91440" tIns="91440" rIns="91440" bIns="91440" rtlCol="0" anchor="b" anchorCtr="0">
            <a:spAutoFit/>
          </a:bodyPr>
          <a:lstStyle>
            <a:lvl1pPr algn="l" defTabSz="699614" rtl="0" eaLnBrk="1" latinLnBrk="0" hangingPunct="1">
              <a:spcBef>
                <a:spcPct val="0"/>
              </a:spcBef>
              <a:buNone/>
              <a:defRPr sz="5400" b="0" i="0" kern="1200">
                <a:solidFill>
                  <a:schemeClr val="tx2"/>
                </a:solidFill>
                <a:latin typeface="Vitesse Light" charset="0"/>
                <a:ea typeface="Vitesse Light" charset="0"/>
                <a:cs typeface="Vitesse Light" charset="0"/>
              </a:defRPr>
            </a:lvl1pPr>
          </a:lstStyle>
          <a:p>
            <a:r>
              <a:rPr lang="es-ES" sz="3600" dirty="0">
                <a:solidFill>
                  <a:schemeClr val="tx1"/>
                </a:solidFill>
              </a:rPr>
              <a:t>AI workshop</a:t>
            </a:r>
            <a:endParaRPr lang="en-US" sz="3600" baseline="30000" dirty="0">
              <a:solidFill>
                <a:schemeClr val="tx1"/>
              </a:solidFill>
            </a:endParaRPr>
          </a:p>
        </p:txBody>
      </p:sp>
      <p:pic>
        <p:nvPicPr>
          <p:cNvPr id="6" name="Picture 5" descr="A picture containing arrow&#10;&#10;Description automatically generated">
            <a:extLst>
              <a:ext uri="{FF2B5EF4-FFF2-40B4-BE49-F238E27FC236}">
                <a16:creationId xmlns:a16="http://schemas.microsoft.com/office/drawing/2014/main" id="{5B4A076C-4020-499F-F6D5-05042578C3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7654" y="13477"/>
            <a:ext cx="1244134" cy="830042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43A1941D-2C73-70D5-34E3-9CB427DCE40F}"/>
              </a:ext>
            </a:extLst>
          </p:cNvPr>
          <p:cNvSpPr txBox="1">
            <a:spLocks/>
          </p:cNvSpPr>
          <p:nvPr/>
        </p:nvSpPr>
        <p:spPr>
          <a:xfrm>
            <a:off x="280626" y="2228671"/>
            <a:ext cx="11100819" cy="2400657"/>
          </a:xfrm>
          <a:prstGeom prst="rect">
            <a:avLst/>
          </a:prstGeom>
        </p:spPr>
        <p:txBody>
          <a:bodyPr vert="horz" wrap="square" lIns="91440" tIns="91440" rIns="91440" bIns="91440" rtlCol="0" anchor="b" anchorCtr="0">
            <a:spAutoFit/>
          </a:bodyPr>
          <a:lstStyle>
            <a:lvl1pPr algn="l" defTabSz="699614" rtl="0" eaLnBrk="1" latinLnBrk="0" hangingPunct="1">
              <a:spcBef>
                <a:spcPct val="0"/>
              </a:spcBef>
              <a:buNone/>
              <a:defRPr sz="5400" b="0" i="0" kern="1200">
                <a:solidFill>
                  <a:schemeClr val="tx2"/>
                </a:solidFill>
                <a:latin typeface="Vitesse Light" charset="0"/>
                <a:ea typeface="Vitesse Light" charset="0"/>
                <a:cs typeface="Vitesse Light" charset="0"/>
              </a:defRPr>
            </a:lvl1pPr>
          </a:lstStyle>
          <a:p>
            <a:pPr algn="ctr"/>
            <a:r>
              <a:rPr lang="en-US" sz="4000" b="1" dirty="0">
                <a:solidFill>
                  <a:schemeClr val="tx1"/>
                </a:solidFill>
              </a:rPr>
              <a:t>Introduction to cheminformatics</a:t>
            </a:r>
          </a:p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3200" dirty="0">
                <a:solidFill>
                  <a:schemeClr val="tx1"/>
                </a:solidFill>
              </a:rPr>
              <a:t>Itzel Muro Puente</a:t>
            </a:r>
          </a:p>
          <a:p>
            <a:pPr algn="ctr"/>
            <a:r>
              <a:rPr lang="en-US" sz="2800" dirty="0">
                <a:solidFill>
                  <a:schemeClr val="tx1"/>
                </a:solidFill>
              </a:rPr>
              <a:t>May 13</a:t>
            </a:r>
            <a:r>
              <a:rPr lang="en-US" sz="2800" baseline="30000" dirty="0">
                <a:solidFill>
                  <a:schemeClr val="tx1"/>
                </a:solidFill>
              </a:rPr>
              <a:t>th</a:t>
            </a:r>
            <a:r>
              <a:rPr lang="en-US" sz="2800" dirty="0">
                <a:solidFill>
                  <a:schemeClr val="tx1"/>
                </a:solidFill>
              </a:rPr>
              <a:t>, 2026</a:t>
            </a:r>
          </a:p>
        </p:txBody>
      </p:sp>
      <p:pic>
        <p:nvPicPr>
          <p:cNvPr id="3" name="Picture 2" descr="IUI Mixto de Síntesis Química y Catálisis Homogenea (ISQCH) | Universidad  de Zaragoza">
            <a:extLst>
              <a:ext uri="{FF2B5EF4-FFF2-40B4-BE49-F238E27FC236}">
                <a16:creationId xmlns:a16="http://schemas.microsoft.com/office/drawing/2014/main" id="{10F39FD7-3E82-0F6A-4ACC-8A28505E8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035" y="178961"/>
            <a:ext cx="1744679" cy="589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0549F3C-C0D0-9DF9-94A6-955F875E2663}"/>
              </a:ext>
            </a:extLst>
          </p:cNvPr>
          <p:cNvSpPr/>
          <p:nvPr/>
        </p:nvSpPr>
        <p:spPr>
          <a:xfrm>
            <a:off x="0" y="5741171"/>
            <a:ext cx="12192000" cy="1168979"/>
          </a:xfrm>
          <a:prstGeom prst="rect">
            <a:avLst/>
          </a:prstGeom>
          <a:solidFill>
            <a:srgbClr val="2371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Imagen 5">
            <a:extLst>
              <a:ext uri="{FF2B5EF4-FFF2-40B4-BE49-F238E27FC236}">
                <a16:creationId xmlns:a16="http://schemas.microsoft.com/office/drawing/2014/main" id="{C75F6C1C-53D8-3ACD-9301-F34408D980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97" r="1609"/>
          <a:stretch>
            <a:fillRect/>
          </a:stretch>
        </p:blipFill>
        <p:spPr>
          <a:xfrm>
            <a:off x="-2069348" y="19499512"/>
            <a:ext cx="19710434" cy="2458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8164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6A5B7-6D98-155E-BE72-0D3900B32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0FF1642-F792-8EBE-16AA-CC2D25F93E50}"/>
              </a:ext>
            </a:extLst>
          </p:cNvPr>
          <p:cNvCxnSpPr>
            <a:cxnSpLocks/>
          </p:cNvCxnSpPr>
          <p:nvPr/>
        </p:nvCxnSpPr>
        <p:spPr>
          <a:xfrm>
            <a:off x="399700" y="894492"/>
            <a:ext cx="11361770" cy="0"/>
          </a:xfrm>
          <a:prstGeom prst="line">
            <a:avLst/>
          </a:prstGeom>
          <a:ln w="38100">
            <a:solidFill>
              <a:srgbClr val="237194"/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FC78CA60-6508-7996-5784-7C4367133CBB}"/>
              </a:ext>
            </a:extLst>
          </p:cNvPr>
          <p:cNvSpPr txBox="1">
            <a:spLocks/>
          </p:cNvSpPr>
          <p:nvPr/>
        </p:nvSpPr>
        <p:spPr>
          <a:xfrm>
            <a:off x="284498" y="83955"/>
            <a:ext cx="11616350" cy="738664"/>
          </a:xfrm>
          <a:prstGeom prst="rect">
            <a:avLst/>
          </a:prstGeom>
        </p:spPr>
        <p:txBody>
          <a:bodyPr vert="horz" wrap="square" lIns="91440" tIns="91440" rIns="91440" bIns="91440" rtlCol="0" anchor="b" anchorCtr="0">
            <a:spAutoFit/>
          </a:bodyPr>
          <a:lstStyle>
            <a:lvl1pPr algn="l" defTabSz="699614" rtl="0" eaLnBrk="1" latinLnBrk="0" hangingPunct="1">
              <a:spcBef>
                <a:spcPct val="0"/>
              </a:spcBef>
              <a:buNone/>
              <a:defRPr sz="5400" b="0" i="0" kern="1200">
                <a:solidFill>
                  <a:schemeClr val="tx2"/>
                </a:solidFill>
                <a:latin typeface="Vitesse Light" charset="0"/>
                <a:ea typeface="Vitesse Light" charset="0"/>
                <a:cs typeface="Vitesse Light" charset="0"/>
              </a:defRPr>
            </a:lvl1pPr>
          </a:lstStyle>
          <a:p>
            <a:r>
              <a:rPr lang="es-ES" sz="3600" dirty="0" err="1">
                <a:solidFill>
                  <a:schemeClr val="tx1"/>
                </a:solidFill>
              </a:rPr>
              <a:t>Cheminformatics</a:t>
            </a:r>
            <a:endParaRPr lang="en-US" sz="3600" dirty="0">
              <a:solidFill>
                <a:schemeClr val="tx1"/>
              </a:solidFill>
            </a:endParaRPr>
          </a:p>
        </p:txBody>
      </p:sp>
      <p:pic>
        <p:nvPicPr>
          <p:cNvPr id="6" name="Picture 5" descr="A picture containing arrow&#10;&#10;Description automatically generated">
            <a:extLst>
              <a:ext uri="{FF2B5EF4-FFF2-40B4-BE49-F238E27FC236}">
                <a16:creationId xmlns:a16="http://schemas.microsoft.com/office/drawing/2014/main" id="{7EFAD176-015D-A5E8-4636-E8AC940A1D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7654" y="13477"/>
            <a:ext cx="1244134" cy="830042"/>
          </a:xfrm>
          <a:prstGeom prst="rect">
            <a:avLst/>
          </a:prstGeom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D7C4DD51-D30D-6B76-A26D-04B860E7C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1486" y="6443435"/>
            <a:ext cx="783217" cy="338554"/>
          </a:xfrm>
        </p:spPr>
        <p:txBody>
          <a:bodyPr/>
          <a:lstStyle/>
          <a:p>
            <a:fld id="{09A062AA-2C6C-4571-9892-9B3657580B26}" type="slidenum">
              <a:rPr lang="en-US" sz="1400" smtClean="0"/>
              <a:t>2</a:t>
            </a:fld>
            <a:endParaRPr lang="en-US" sz="1400"/>
          </a:p>
        </p:txBody>
      </p:sp>
      <p:pic>
        <p:nvPicPr>
          <p:cNvPr id="9" name="Picture 8" descr="IUI Mixto de Síntesis Química y Catálisis Homogenea (ISQCH) | Universidad  de Zaragoza">
            <a:extLst>
              <a:ext uri="{FF2B5EF4-FFF2-40B4-BE49-F238E27FC236}">
                <a16:creationId xmlns:a16="http://schemas.microsoft.com/office/drawing/2014/main" id="{C1AD0C0C-E844-1DF1-68BB-4DBC99508D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035" y="178961"/>
            <a:ext cx="1744679" cy="589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Rectangle 5">
            <a:extLst>
              <a:ext uri="{FF2B5EF4-FFF2-40B4-BE49-F238E27FC236}">
                <a16:creationId xmlns:a16="http://schemas.microsoft.com/office/drawing/2014/main" id="{F5D4D516-566D-8C5C-719A-6AEEDD8BDD0B}"/>
              </a:ext>
            </a:extLst>
          </p:cNvPr>
          <p:cNvSpPr>
            <a:spLocks/>
          </p:cNvSpPr>
          <p:nvPr/>
        </p:nvSpPr>
        <p:spPr bwMode="auto">
          <a:xfrm>
            <a:off x="399700" y="1388435"/>
            <a:ext cx="11361770" cy="2269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65506" bIns="0">
            <a:spAutoFit/>
          </a:bodyPr>
          <a:lstStyle/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8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Definition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800" b="1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spcAft>
                <a:spcPts val="300"/>
              </a:spcAft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IBM Plex Mono"/>
                <a:cs typeface="IBM Plex Mono"/>
                <a:sym typeface="IBM Plex Mono"/>
              </a:rPr>
              <a:t>Combines chemistry, computer science, and information science to organize, process, and present chemical data.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8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Freeform 19">
            <a:extLst>
              <a:ext uri="{FF2B5EF4-FFF2-40B4-BE49-F238E27FC236}">
                <a16:creationId xmlns:a16="http://schemas.microsoft.com/office/drawing/2014/main" id="{B4B5B0C9-8FAF-B8F1-4F69-C040E4D4295B}"/>
              </a:ext>
            </a:extLst>
          </p:cNvPr>
          <p:cNvSpPr>
            <a:spLocks noChangeAspect="1"/>
          </p:cNvSpPr>
          <p:nvPr/>
        </p:nvSpPr>
        <p:spPr>
          <a:xfrm>
            <a:off x="4635458" y="4468949"/>
            <a:ext cx="2626830" cy="2305096"/>
          </a:xfrm>
          <a:custGeom>
            <a:avLst/>
            <a:gdLst/>
            <a:ahLst/>
            <a:cxnLst/>
            <a:rect l="l" t="t" r="r" b="b"/>
            <a:pathLst>
              <a:path w="3402692" h="2985931">
                <a:moveTo>
                  <a:pt x="0" y="0"/>
                </a:moveTo>
                <a:lnTo>
                  <a:pt x="3402692" y="0"/>
                </a:lnTo>
                <a:lnTo>
                  <a:pt x="3402692" y="2985931"/>
                </a:lnTo>
                <a:lnTo>
                  <a:pt x="0" y="29859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957"/>
            </a:stretch>
          </a:blipFill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68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E9BD1-E24B-8C9F-334A-1D8B9054A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16222CB-C089-53F2-1A22-09A64D27CF40}"/>
              </a:ext>
            </a:extLst>
          </p:cNvPr>
          <p:cNvCxnSpPr>
            <a:cxnSpLocks/>
          </p:cNvCxnSpPr>
          <p:nvPr/>
        </p:nvCxnSpPr>
        <p:spPr>
          <a:xfrm>
            <a:off x="399700" y="894492"/>
            <a:ext cx="11361770" cy="0"/>
          </a:xfrm>
          <a:prstGeom prst="line">
            <a:avLst/>
          </a:prstGeom>
          <a:ln w="38100">
            <a:solidFill>
              <a:srgbClr val="237194"/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6E37596E-5965-14B8-96B1-EA2135ABFE2B}"/>
              </a:ext>
            </a:extLst>
          </p:cNvPr>
          <p:cNvSpPr txBox="1">
            <a:spLocks/>
          </p:cNvSpPr>
          <p:nvPr/>
        </p:nvSpPr>
        <p:spPr>
          <a:xfrm>
            <a:off x="284498" y="83955"/>
            <a:ext cx="11616350" cy="738664"/>
          </a:xfrm>
          <a:prstGeom prst="rect">
            <a:avLst/>
          </a:prstGeom>
        </p:spPr>
        <p:txBody>
          <a:bodyPr vert="horz" wrap="square" lIns="91440" tIns="91440" rIns="91440" bIns="91440" rtlCol="0" anchor="b" anchorCtr="0">
            <a:spAutoFit/>
          </a:bodyPr>
          <a:lstStyle>
            <a:lvl1pPr algn="l" defTabSz="699614" rtl="0" eaLnBrk="1" latinLnBrk="0" hangingPunct="1">
              <a:spcBef>
                <a:spcPct val="0"/>
              </a:spcBef>
              <a:buNone/>
              <a:defRPr sz="5400" b="0" i="0" kern="1200">
                <a:solidFill>
                  <a:schemeClr val="tx2"/>
                </a:solidFill>
                <a:latin typeface="Vitesse Light" charset="0"/>
                <a:ea typeface="Vitesse Light" charset="0"/>
                <a:cs typeface="Vitesse Light" charset="0"/>
              </a:defRPr>
            </a:lvl1pPr>
          </a:lstStyle>
          <a:p>
            <a:r>
              <a:rPr lang="es-ES" sz="3600" dirty="0" err="1">
                <a:solidFill>
                  <a:schemeClr val="tx1"/>
                </a:solidFill>
              </a:rPr>
              <a:t>Cheminformatics</a:t>
            </a:r>
            <a:endParaRPr lang="en-US" sz="3600" dirty="0">
              <a:solidFill>
                <a:schemeClr val="tx1"/>
              </a:solidFill>
            </a:endParaRPr>
          </a:p>
        </p:txBody>
      </p:sp>
      <p:pic>
        <p:nvPicPr>
          <p:cNvPr id="6" name="Picture 5" descr="A picture containing arrow&#10;&#10;Description automatically generated">
            <a:extLst>
              <a:ext uri="{FF2B5EF4-FFF2-40B4-BE49-F238E27FC236}">
                <a16:creationId xmlns:a16="http://schemas.microsoft.com/office/drawing/2014/main" id="{A6995557-6239-0C6E-BBE5-C690FBE8ED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7654" y="13477"/>
            <a:ext cx="1244134" cy="830042"/>
          </a:xfrm>
          <a:prstGeom prst="rect">
            <a:avLst/>
          </a:prstGeom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8E1EA46F-AFF8-1C62-A8BC-1E8D71577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1486" y="6443435"/>
            <a:ext cx="783217" cy="338554"/>
          </a:xfrm>
        </p:spPr>
        <p:txBody>
          <a:bodyPr/>
          <a:lstStyle/>
          <a:p>
            <a:fld id="{09A062AA-2C6C-4571-9892-9B3657580B26}" type="slidenum">
              <a:rPr lang="en-US" sz="1400" smtClean="0"/>
              <a:t>3</a:t>
            </a:fld>
            <a:endParaRPr lang="en-US" sz="1400"/>
          </a:p>
        </p:txBody>
      </p:sp>
      <p:pic>
        <p:nvPicPr>
          <p:cNvPr id="9" name="Picture 8" descr="IUI Mixto de Síntesis Química y Catálisis Homogenea (ISQCH) | Universidad  de Zaragoza">
            <a:extLst>
              <a:ext uri="{FF2B5EF4-FFF2-40B4-BE49-F238E27FC236}">
                <a16:creationId xmlns:a16="http://schemas.microsoft.com/office/drawing/2014/main" id="{E6E26C09-9DA2-DC59-C257-BDDF3FDC7D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035" y="178961"/>
            <a:ext cx="1744679" cy="589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Rectangle 5">
            <a:extLst>
              <a:ext uri="{FF2B5EF4-FFF2-40B4-BE49-F238E27FC236}">
                <a16:creationId xmlns:a16="http://schemas.microsoft.com/office/drawing/2014/main" id="{F28C4DA8-A633-0F8A-0DC5-1C5ABFAEBCEA}"/>
              </a:ext>
            </a:extLst>
          </p:cNvPr>
          <p:cNvSpPr>
            <a:spLocks/>
          </p:cNvSpPr>
          <p:nvPr/>
        </p:nvSpPr>
        <p:spPr bwMode="auto">
          <a:xfrm>
            <a:off x="399700" y="1388435"/>
            <a:ext cx="11361770" cy="2269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65506" bIns="0">
            <a:spAutoFit/>
          </a:bodyPr>
          <a:lstStyle/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8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Definition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800" b="1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spcAft>
                <a:spcPts val="300"/>
              </a:spcAft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IBM Plex Mono"/>
                <a:cs typeface="IBM Plex Mono"/>
                <a:sym typeface="IBM Plex Mono"/>
              </a:rPr>
              <a:t>Combines chemistry, computer science, and information science to organize, process, and present chemical data.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8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Freeform 19">
            <a:extLst>
              <a:ext uri="{FF2B5EF4-FFF2-40B4-BE49-F238E27FC236}">
                <a16:creationId xmlns:a16="http://schemas.microsoft.com/office/drawing/2014/main" id="{20634C39-F185-36D7-6DE1-DF0101D787D9}"/>
              </a:ext>
            </a:extLst>
          </p:cNvPr>
          <p:cNvSpPr>
            <a:spLocks noChangeAspect="1"/>
          </p:cNvSpPr>
          <p:nvPr/>
        </p:nvSpPr>
        <p:spPr>
          <a:xfrm>
            <a:off x="4635458" y="4468949"/>
            <a:ext cx="2626830" cy="2305096"/>
          </a:xfrm>
          <a:custGeom>
            <a:avLst/>
            <a:gdLst/>
            <a:ahLst/>
            <a:cxnLst/>
            <a:rect l="l" t="t" r="r" b="b"/>
            <a:pathLst>
              <a:path w="3402692" h="2985931">
                <a:moveTo>
                  <a:pt x="0" y="0"/>
                </a:moveTo>
                <a:lnTo>
                  <a:pt x="3402692" y="0"/>
                </a:lnTo>
                <a:lnTo>
                  <a:pt x="3402692" y="2985931"/>
                </a:lnTo>
                <a:lnTo>
                  <a:pt x="0" y="29859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957"/>
            </a:stretch>
          </a:blipFill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84AB45-BED6-4F61-1C1E-C36D8D50A5D6}"/>
              </a:ext>
            </a:extLst>
          </p:cNvPr>
          <p:cNvSpPr txBox="1"/>
          <p:nvPr/>
        </p:nvSpPr>
        <p:spPr>
          <a:xfrm>
            <a:off x="399700" y="3679230"/>
            <a:ext cx="11098346" cy="11364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ts val="4200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Alegreya Sans"/>
                <a:cs typeface="Alegreya Sans"/>
                <a:sym typeface="Alegreya Sans"/>
              </a:rPr>
              <a:t>Computers don’t know chemistry, the translation of “chemistry” to computer language is necessary.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91E6B3-4654-DDA3-E220-7D88486B7996}"/>
              </a:ext>
            </a:extLst>
          </p:cNvPr>
          <p:cNvSpPr/>
          <p:nvPr/>
        </p:nvSpPr>
        <p:spPr>
          <a:xfrm>
            <a:off x="284498" y="1216152"/>
            <a:ext cx="11507802" cy="2039104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alpha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1931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A4687-1B0D-F515-ED26-F65666E85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4358C48-A910-C9FE-12C3-1F31616E4273}"/>
              </a:ext>
            </a:extLst>
          </p:cNvPr>
          <p:cNvCxnSpPr>
            <a:cxnSpLocks/>
          </p:cNvCxnSpPr>
          <p:nvPr/>
        </p:nvCxnSpPr>
        <p:spPr>
          <a:xfrm>
            <a:off x="399700" y="894492"/>
            <a:ext cx="11361770" cy="0"/>
          </a:xfrm>
          <a:prstGeom prst="line">
            <a:avLst/>
          </a:prstGeom>
          <a:ln w="38100">
            <a:solidFill>
              <a:srgbClr val="237194"/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B6CE3D3B-C3EF-820D-AB58-87AE6A5B3479}"/>
              </a:ext>
            </a:extLst>
          </p:cNvPr>
          <p:cNvSpPr txBox="1">
            <a:spLocks/>
          </p:cNvSpPr>
          <p:nvPr/>
        </p:nvSpPr>
        <p:spPr>
          <a:xfrm>
            <a:off x="284498" y="83955"/>
            <a:ext cx="11616350" cy="738664"/>
          </a:xfrm>
          <a:prstGeom prst="rect">
            <a:avLst/>
          </a:prstGeom>
        </p:spPr>
        <p:txBody>
          <a:bodyPr vert="horz" wrap="square" lIns="91440" tIns="91440" rIns="91440" bIns="91440" rtlCol="0" anchor="b" anchorCtr="0">
            <a:spAutoFit/>
          </a:bodyPr>
          <a:lstStyle>
            <a:lvl1pPr algn="l" defTabSz="699614" rtl="0" eaLnBrk="1" latinLnBrk="0" hangingPunct="1">
              <a:spcBef>
                <a:spcPct val="0"/>
              </a:spcBef>
              <a:buNone/>
              <a:defRPr sz="5400" b="0" i="0" kern="1200">
                <a:solidFill>
                  <a:schemeClr val="tx2"/>
                </a:solidFill>
                <a:latin typeface="Vitesse Light" charset="0"/>
                <a:ea typeface="Vitesse Light" charset="0"/>
                <a:cs typeface="Vitesse Light" charset="0"/>
              </a:defRPr>
            </a:lvl1pPr>
          </a:lstStyle>
          <a:p>
            <a:r>
              <a:rPr lang="es-ES" sz="3600" dirty="0">
                <a:solidFill>
                  <a:schemeClr val="tx1"/>
                </a:solidFill>
              </a:rPr>
              <a:t>SMILES</a:t>
            </a:r>
            <a:endParaRPr lang="en-US" sz="3600" dirty="0">
              <a:solidFill>
                <a:schemeClr val="tx1"/>
              </a:solidFill>
            </a:endParaRPr>
          </a:p>
        </p:txBody>
      </p:sp>
      <p:pic>
        <p:nvPicPr>
          <p:cNvPr id="6" name="Picture 5" descr="A picture containing arrow&#10;&#10;Description automatically generated">
            <a:extLst>
              <a:ext uri="{FF2B5EF4-FFF2-40B4-BE49-F238E27FC236}">
                <a16:creationId xmlns:a16="http://schemas.microsoft.com/office/drawing/2014/main" id="{5E0DEF2B-C322-1EDE-E00D-CD442249EF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7654" y="13477"/>
            <a:ext cx="1244134" cy="830042"/>
          </a:xfrm>
          <a:prstGeom prst="rect">
            <a:avLst/>
          </a:prstGeom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053A564B-09E5-8888-1368-56B63EAF6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1486" y="6443435"/>
            <a:ext cx="783217" cy="338554"/>
          </a:xfrm>
        </p:spPr>
        <p:txBody>
          <a:bodyPr/>
          <a:lstStyle/>
          <a:p>
            <a:fld id="{09A062AA-2C6C-4571-9892-9B3657580B26}" type="slidenum">
              <a:rPr lang="en-US" sz="1400" smtClean="0"/>
              <a:t>4</a:t>
            </a:fld>
            <a:endParaRPr lang="en-US" sz="1400"/>
          </a:p>
        </p:txBody>
      </p:sp>
      <p:pic>
        <p:nvPicPr>
          <p:cNvPr id="9" name="Picture 8" descr="IUI Mixto de Síntesis Química y Catálisis Homogenea (ISQCH) | Universidad  de Zaragoza">
            <a:extLst>
              <a:ext uri="{FF2B5EF4-FFF2-40B4-BE49-F238E27FC236}">
                <a16:creationId xmlns:a16="http://schemas.microsoft.com/office/drawing/2014/main" id="{5899371D-FC82-489C-0F13-CE018CC01D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035" y="178961"/>
            <a:ext cx="1744679" cy="589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Rectangle 5">
            <a:extLst>
              <a:ext uri="{FF2B5EF4-FFF2-40B4-BE49-F238E27FC236}">
                <a16:creationId xmlns:a16="http://schemas.microsoft.com/office/drawing/2014/main" id="{FCAB3AAB-1E0C-ADFC-3869-C4DFCBFFE49D}"/>
              </a:ext>
            </a:extLst>
          </p:cNvPr>
          <p:cNvSpPr>
            <a:spLocks/>
          </p:cNvSpPr>
          <p:nvPr/>
        </p:nvSpPr>
        <p:spPr bwMode="auto">
          <a:xfrm>
            <a:off x="401056" y="1388435"/>
            <a:ext cx="11545512" cy="11849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65506" bIns="0">
            <a:spAutoFit/>
          </a:bodyPr>
          <a:lstStyle/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It means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implified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olecular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nput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ine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ntry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ystem.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518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6785D-0BA6-04CC-65C1-DA0009B69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2BEB4B1-9126-26B5-3430-3C05D1989FB1}"/>
              </a:ext>
            </a:extLst>
          </p:cNvPr>
          <p:cNvCxnSpPr>
            <a:cxnSpLocks/>
          </p:cNvCxnSpPr>
          <p:nvPr/>
        </p:nvCxnSpPr>
        <p:spPr>
          <a:xfrm>
            <a:off x="399700" y="894492"/>
            <a:ext cx="11361770" cy="0"/>
          </a:xfrm>
          <a:prstGeom prst="line">
            <a:avLst/>
          </a:prstGeom>
          <a:ln w="38100">
            <a:solidFill>
              <a:srgbClr val="237194"/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62ECB187-1F82-C2C8-ACB9-81B412A46951}"/>
              </a:ext>
            </a:extLst>
          </p:cNvPr>
          <p:cNvSpPr txBox="1">
            <a:spLocks/>
          </p:cNvSpPr>
          <p:nvPr/>
        </p:nvSpPr>
        <p:spPr>
          <a:xfrm>
            <a:off x="284498" y="83955"/>
            <a:ext cx="11616350" cy="738664"/>
          </a:xfrm>
          <a:prstGeom prst="rect">
            <a:avLst/>
          </a:prstGeom>
        </p:spPr>
        <p:txBody>
          <a:bodyPr vert="horz" wrap="square" lIns="91440" tIns="91440" rIns="91440" bIns="91440" rtlCol="0" anchor="b" anchorCtr="0">
            <a:spAutoFit/>
          </a:bodyPr>
          <a:lstStyle>
            <a:lvl1pPr algn="l" defTabSz="699614" rtl="0" eaLnBrk="1" latinLnBrk="0" hangingPunct="1">
              <a:spcBef>
                <a:spcPct val="0"/>
              </a:spcBef>
              <a:buNone/>
              <a:defRPr sz="5400" b="0" i="0" kern="1200">
                <a:solidFill>
                  <a:schemeClr val="tx2"/>
                </a:solidFill>
                <a:latin typeface="Vitesse Light" charset="0"/>
                <a:ea typeface="Vitesse Light" charset="0"/>
                <a:cs typeface="Vitesse Light" charset="0"/>
              </a:defRPr>
            </a:lvl1pPr>
          </a:lstStyle>
          <a:p>
            <a:r>
              <a:rPr lang="es-ES" sz="3600" dirty="0">
                <a:solidFill>
                  <a:schemeClr val="tx1"/>
                </a:solidFill>
              </a:rPr>
              <a:t>SMILES</a:t>
            </a:r>
            <a:endParaRPr lang="en-US" sz="3600" dirty="0">
              <a:solidFill>
                <a:schemeClr val="tx1"/>
              </a:solidFill>
            </a:endParaRPr>
          </a:p>
        </p:txBody>
      </p:sp>
      <p:pic>
        <p:nvPicPr>
          <p:cNvPr id="6" name="Picture 5" descr="A picture containing arrow&#10;&#10;Description automatically generated">
            <a:extLst>
              <a:ext uri="{FF2B5EF4-FFF2-40B4-BE49-F238E27FC236}">
                <a16:creationId xmlns:a16="http://schemas.microsoft.com/office/drawing/2014/main" id="{BB5C8808-E029-1D4B-CD91-29CC1BDE18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7654" y="13477"/>
            <a:ext cx="1244134" cy="830042"/>
          </a:xfrm>
          <a:prstGeom prst="rect">
            <a:avLst/>
          </a:prstGeom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F9C75858-2234-3D1C-BC9B-B7F7BF556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1486" y="6443435"/>
            <a:ext cx="783217" cy="338554"/>
          </a:xfrm>
        </p:spPr>
        <p:txBody>
          <a:bodyPr/>
          <a:lstStyle/>
          <a:p>
            <a:fld id="{09A062AA-2C6C-4571-9892-9B3657580B26}" type="slidenum">
              <a:rPr lang="en-US" sz="1400" smtClean="0"/>
              <a:t>5</a:t>
            </a:fld>
            <a:endParaRPr lang="en-US" sz="1400"/>
          </a:p>
        </p:txBody>
      </p:sp>
      <p:pic>
        <p:nvPicPr>
          <p:cNvPr id="9" name="Picture 8" descr="IUI Mixto de Síntesis Química y Catálisis Homogenea (ISQCH) | Universidad  de Zaragoza">
            <a:extLst>
              <a:ext uri="{FF2B5EF4-FFF2-40B4-BE49-F238E27FC236}">
                <a16:creationId xmlns:a16="http://schemas.microsoft.com/office/drawing/2014/main" id="{2FB38B75-6362-4B61-10D5-981F33D9C8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035" y="178961"/>
            <a:ext cx="1744679" cy="589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Rectangle 5">
            <a:extLst>
              <a:ext uri="{FF2B5EF4-FFF2-40B4-BE49-F238E27FC236}">
                <a16:creationId xmlns:a16="http://schemas.microsoft.com/office/drawing/2014/main" id="{2356B840-01B5-36D1-6E85-939301544198}"/>
              </a:ext>
            </a:extLst>
          </p:cNvPr>
          <p:cNvSpPr>
            <a:spLocks/>
          </p:cNvSpPr>
          <p:nvPr/>
        </p:nvSpPr>
        <p:spPr bwMode="auto">
          <a:xfrm>
            <a:off x="401056" y="1388435"/>
            <a:ext cx="11545512" cy="15927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65506" bIns="0">
            <a:spAutoFit/>
          </a:bodyPr>
          <a:lstStyle/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It means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implified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olecular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nput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ine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ntry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ystem.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A way to write molecules in one string that is easy for humans to read. 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80180A-05F5-BF18-F2CF-3690470CF0C4}"/>
              </a:ext>
            </a:extLst>
          </p:cNvPr>
          <p:cNvSpPr/>
          <p:nvPr/>
        </p:nvSpPr>
        <p:spPr>
          <a:xfrm>
            <a:off x="284498" y="1281735"/>
            <a:ext cx="8821282" cy="889964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alpha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6952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06EF5-41DE-23D8-D623-8FFDC866D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B29E1EA-BC5F-2E4F-3139-1DC8CB7A8BFE}"/>
              </a:ext>
            </a:extLst>
          </p:cNvPr>
          <p:cNvCxnSpPr>
            <a:cxnSpLocks/>
          </p:cNvCxnSpPr>
          <p:nvPr/>
        </p:nvCxnSpPr>
        <p:spPr>
          <a:xfrm>
            <a:off x="399700" y="894492"/>
            <a:ext cx="11361770" cy="0"/>
          </a:xfrm>
          <a:prstGeom prst="line">
            <a:avLst/>
          </a:prstGeom>
          <a:ln w="38100">
            <a:solidFill>
              <a:srgbClr val="237194"/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58F42A67-A59C-2596-DF2C-A2AB9F42D8CA}"/>
              </a:ext>
            </a:extLst>
          </p:cNvPr>
          <p:cNvSpPr txBox="1">
            <a:spLocks/>
          </p:cNvSpPr>
          <p:nvPr/>
        </p:nvSpPr>
        <p:spPr>
          <a:xfrm>
            <a:off x="284498" y="83955"/>
            <a:ext cx="11616350" cy="738664"/>
          </a:xfrm>
          <a:prstGeom prst="rect">
            <a:avLst/>
          </a:prstGeom>
        </p:spPr>
        <p:txBody>
          <a:bodyPr vert="horz" wrap="square" lIns="91440" tIns="91440" rIns="91440" bIns="91440" rtlCol="0" anchor="b" anchorCtr="0">
            <a:spAutoFit/>
          </a:bodyPr>
          <a:lstStyle>
            <a:lvl1pPr algn="l" defTabSz="699614" rtl="0" eaLnBrk="1" latinLnBrk="0" hangingPunct="1">
              <a:spcBef>
                <a:spcPct val="0"/>
              </a:spcBef>
              <a:buNone/>
              <a:defRPr sz="5400" b="0" i="0" kern="1200">
                <a:solidFill>
                  <a:schemeClr val="tx2"/>
                </a:solidFill>
                <a:latin typeface="Vitesse Light" charset="0"/>
                <a:ea typeface="Vitesse Light" charset="0"/>
                <a:cs typeface="Vitesse Light" charset="0"/>
              </a:defRPr>
            </a:lvl1pPr>
          </a:lstStyle>
          <a:p>
            <a:r>
              <a:rPr lang="es-ES" sz="3600" dirty="0">
                <a:solidFill>
                  <a:schemeClr val="tx1"/>
                </a:solidFill>
              </a:rPr>
              <a:t>SMILES</a:t>
            </a:r>
            <a:endParaRPr lang="en-US" sz="3600" dirty="0">
              <a:solidFill>
                <a:schemeClr val="tx1"/>
              </a:solidFill>
            </a:endParaRPr>
          </a:p>
        </p:txBody>
      </p:sp>
      <p:pic>
        <p:nvPicPr>
          <p:cNvPr id="6" name="Picture 5" descr="A picture containing arrow&#10;&#10;Description automatically generated">
            <a:extLst>
              <a:ext uri="{FF2B5EF4-FFF2-40B4-BE49-F238E27FC236}">
                <a16:creationId xmlns:a16="http://schemas.microsoft.com/office/drawing/2014/main" id="{B48B6D73-5624-9006-2C40-39866A6C4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7654" y="13477"/>
            <a:ext cx="1244134" cy="830042"/>
          </a:xfrm>
          <a:prstGeom prst="rect">
            <a:avLst/>
          </a:prstGeom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FA217A90-C08E-1E84-0912-6EA4C207D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1486" y="6443435"/>
            <a:ext cx="783217" cy="338554"/>
          </a:xfrm>
        </p:spPr>
        <p:txBody>
          <a:bodyPr/>
          <a:lstStyle/>
          <a:p>
            <a:fld id="{09A062AA-2C6C-4571-9892-9B3657580B26}" type="slidenum">
              <a:rPr lang="en-US" sz="1400" smtClean="0"/>
              <a:t>6</a:t>
            </a:fld>
            <a:endParaRPr lang="en-US" sz="1400"/>
          </a:p>
        </p:txBody>
      </p:sp>
      <p:pic>
        <p:nvPicPr>
          <p:cNvPr id="9" name="Picture 8" descr="IUI Mixto de Síntesis Química y Catálisis Homogenea (ISQCH) | Universidad  de Zaragoza">
            <a:extLst>
              <a:ext uri="{FF2B5EF4-FFF2-40B4-BE49-F238E27FC236}">
                <a16:creationId xmlns:a16="http://schemas.microsoft.com/office/drawing/2014/main" id="{B41AD98E-9CB4-3EC0-C6D2-BE332A74D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035" y="178961"/>
            <a:ext cx="1744679" cy="589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Rectangle 5">
            <a:extLst>
              <a:ext uri="{FF2B5EF4-FFF2-40B4-BE49-F238E27FC236}">
                <a16:creationId xmlns:a16="http://schemas.microsoft.com/office/drawing/2014/main" id="{1364079D-BBF4-6422-74C7-51F075881472}"/>
              </a:ext>
            </a:extLst>
          </p:cNvPr>
          <p:cNvSpPr>
            <a:spLocks/>
          </p:cNvSpPr>
          <p:nvPr/>
        </p:nvSpPr>
        <p:spPr bwMode="auto">
          <a:xfrm>
            <a:off x="401056" y="1388435"/>
            <a:ext cx="11545512" cy="20005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65506" bIns="0">
            <a:spAutoFit/>
          </a:bodyPr>
          <a:lstStyle/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It means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implified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olecular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nput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ine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ntry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ystem.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A way to write molecules in one string that is easy for humans to read. 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Examples: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42ED1E-BF46-6AF9-FA92-212E69889E25}"/>
              </a:ext>
            </a:extLst>
          </p:cNvPr>
          <p:cNvSpPr/>
          <p:nvPr/>
        </p:nvSpPr>
        <p:spPr>
          <a:xfrm>
            <a:off x="284498" y="1281735"/>
            <a:ext cx="8821282" cy="1520908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alpha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439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B6162-93BA-C9FA-AF00-DDAA51BC2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BFB66BE-EC48-6714-D997-F6D5EDE1C316}"/>
              </a:ext>
            </a:extLst>
          </p:cNvPr>
          <p:cNvCxnSpPr>
            <a:cxnSpLocks/>
          </p:cNvCxnSpPr>
          <p:nvPr/>
        </p:nvCxnSpPr>
        <p:spPr>
          <a:xfrm>
            <a:off x="399700" y="894492"/>
            <a:ext cx="11361770" cy="0"/>
          </a:xfrm>
          <a:prstGeom prst="line">
            <a:avLst/>
          </a:prstGeom>
          <a:ln w="38100">
            <a:solidFill>
              <a:srgbClr val="237194"/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E7E02C77-3647-3CEB-0CB7-A8BB2242937C}"/>
              </a:ext>
            </a:extLst>
          </p:cNvPr>
          <p:cNvSpPr txBox="1">
            <a:spLocks/>
          </p:cNvSpPr>
          <p:nvPr/>
        </p:nvSpPr>
        <p:spPr>
          <a:xfrm>
            <a:off x="284498" y="83955"/>
            <a:ext cx="11616350" cy="738664"/>
          </a:xfrm>
          <a:prstGeom prst="rect">
            <a:avLst/>
          </a:prstGeom>
        </p:spPr>
        <p:txBody>
          <a:bodyPr vert="horz" wrap="square" lIns="91440" tIns="91440" rIns="91440" bIns="91440" rtlCol="0" anchor="b" anchorCtr="0">
            <a:spAutoFit/>
          </a:bodyPr>
          <a:lstStyle>
            <a:lvl1pPr algn="l" defTabSz="699614" rtl="0" eaLnBrk="1" latinLnBrk="0" hangingPunct="1">
              <a:spcBef>
                <a:spcPct val="0"/>
              </a:spcBef>
              <a:buNone/>
              <a:defRPr sz="5400" b="0" i="0" kern="1200">
                <a:solidFill>
                  <a:schemeClr val="tx2"/>
                </a:solidFill>
                <a:latin typeface="Vitesse Light" charset="0"/>
                <a:ea typeface="Vitesse Light" charset="0"/>
                <a:cs typeface="Vitesse Light" charset="0"/>
              </a:defRPr>
            </a:lvl1pPr>
          </a:lstStyle>
          <a:p>
            <a:r>
              <a:rPr lang="es-ES" sz="3600" dirty="0">
                <a:solidFill>
                  <a:schemeClr val="tx1"/>
                </a:solidFill>
              </a:rPr>
              <a:t>SMILES</a:t>
            </a:r>
            <a:endParaRPr lang="en-US" sz="3600" dirty="0">
              <a:solidFill>
                <a:schemeClr val="tx1"/>
              </a:solidFill>
            </a:endParaRPr>
          </a:p>
        </p:txBody>
      </p:sp>
      <p:pic>
        <p:nvPicPr>
          <p:cNvPr id="6" name="Picture 5" descr="A picture containing arrow&#10;&#10;Description automatically generated">
            <a:extLst>
              <a:ext uri="{FF2B5EF4-FFF2-40B4-BE49-F238E27FC236}">
                <a16:creationId xmlns:a16="http://schemas.microsoft.com/office/drawing/2014/main" id="{5E1F68AF-DF55-A61F-6096-FBC5750FC1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7654" y="13477"/>
            <a:ext cx="1244134" cy="830042"/>
          </a:xfrm>
          <a:prstGeom prst="rect">
            <a:avLst/>
          </a:prstGeom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056349B0-412B-6795-5553-3B6BE0C4D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1486" y="6443435"/>
            <a:ext cx="783217" cy="338554"/>
          </a:xfrm>
        </p:spPr>
        <p:txBody>
          <a:bodyPr/>
          <a:lstStyle/>
          <a:p>
            <a:fld id="{09A062AA-2C6C-4571-9892-9B3657580B26}" type="slidenum">
              <a:rPr lang="en-US" sz="1400" smtClean="0"/>
              <a:t>7</a:t>
            </a:fld>
            <a:endParaRPr lang="en-US" sz="1400"/>
          </a:p>
        </p:txBody>
      </p:sp>
      <p:pic>
        <p:nvPicPr>
          <p:cNvPr id="9" name="Picture 8" descr="IUI Mixto de Síntesis Química y Catálisis Homogenea (ISQCH) | Universidad  de Zaragoza">
            <a:extLst>
              <a:ext uri="{FF2B5EF4-FFF2-40B4-BE49-F238E27FC236}">
                <a16:creationId xmlns:a16="http://schemas.microsoft.com/office/drawing/2014/main" id="{FB217383-7FE6-DA7A-C949-6E5D4C75A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035" y="178961"/>
            <a:ext cx="1744679" cy="589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Rectangle 5">
            <a:extLst>
              <a:ext uri="{FF2B5EF4-FFF2-40B4-BE49-F238E27FC236}">
                <a16:creationId xmlns:a16="http://schemas.microsoft.com/office/drawing/2014/main" id="{3E91981E-AAAF-76C4-FECD-DBCFE5E39EFE}"/>
              </a:ext>
            </a:extLst>
          </p:cNvPr>
          <p:cNvSpPr>
            <a:spLocks/>
          </p:cNvSpPr>
          <p:nvPr/>
        </p:nvSpPr>
        <p:spPr bwMode="auto">
          <a:xfrm>
            <a:off x="401056" y="1388435"/>
            <a:ext cx="11545512" cy="20005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65506" bIns="0">
            <a:spAutoFit/>
          </a:bodyPr>
          <a:lstStyle/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It means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implified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olecular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nput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ine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ntry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ystem.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A way to write molecules in one string that is easy for humans to read. 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Examples: </a:t>
            </a:r>
          </a:p>
        </p:txBody>
      </p:sp>
      <p:sp>
        <p:nvSpPr>
          <p:cNvPr id="10" name="Freeform 19">
            <a:extLst>
              <a:ext uri="{FF2B5EF4-FFF2-40B4-BE49-F238E27FC236}">
                <a16:creationId xmlns:a16="http://schemas.microsoft.com/office/drawing/2014/main" id="{F5A26417-A05F-FBF4-9B1A-35AC1E0DA16F}"/>
              </a:ext>
            </a:extLst>
          </p:cNvPr>
          <p:cNvSpPr>
            <a:spLocks noChangeAspect="1"/>
          </p:cNvSpPr>
          <p:nvPr/>
        </p:nvSpPr>
        <p:spPr>
          <a:xfrm>
            <a:off x="1835433" y="2802645"/>
            <a:ext cx="1841217" cy="3041822"/>
          </a:xfrm>
          <a:custGeom>
            <a:avLst/>
            <a:gdLst/>
            <a:ahLst/>
            <a:cxnLst/>
            <a:rect l="l" t="t" r="r" b="b"/>
            <a:pathLst>
              <a:path w="8821282" h="3041822">
                <a:moveTo>
                  <a:pt x="0" y="0"/>
                </a:moveTo>
                <a:lnTo>
                  <a:pt x="8821282" y="0"/>
                </a:lnTo>
                <a:lnTo>
                  <a:pt x="8821282" y="3041822"/>
                </a:lnTo>
                <a:lnTo>
                  <a:pt x="0" y="30418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r="-37910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1" name="TextBox 23">
            <a:extLst>
              <a:ext uri="{FF2B5EF4-FFF2-40B4-BE49-F238E27FC236}">
                <a16:creationId xmlns:a16="http://schemas.microsoft.com/office/drawing/2014/main" id="{187E3359-71F9-8D04-0610-DBB6341E982C}"/>
              </a:ext>
            </a:extLst>
          </p:cNvPr>
          <p:cNvSpPr txBox="1"/>
          <p:nvPr/>
        </p:nvSpPr>
        <p:spPr>
          <a:xfrm>
            <a:off x="2183774" y="5836450"/>
            <a:ext cx="11545512" cy="4987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Alegreya Sans"/>
                <a:cs typeface="Alegreya Sans"/>
                <a:sym typeface="Alegreya Sans"/>
              </a:rPr>
              <a:t>CCC                         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D0FE13-D60F-AF9F-59BD-FD8EB8AE5D29}"/>
              </a:ext>
            </a:extLst>
          </p:cNvPr>
          <p:cNvSpPr/>
          <p:nvPr/>
        </p:nvSpPr>
        <p:spPr>
          <a:xfrm>
            <a:off x="284498" y="1281735"/>
            <a:ext cx="8821282" cy="1520908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alpha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62909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87733-796F-AB6D-545E-4AE8F3A71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CDA8E15-7891-678D-7619-61E54E9219B6}"/>
              </a:ext>
            </a:extLst>
          </p:cNvPr>
          <p:cNvCxnSpPr>
            <a:cxnSpLocks/>
          </p:cNvCxnSpPr>
          <p:nvPr/>
        </p:nvCxnSpPr>
        <p:spPr>
          <a:xfrm>
            <a:off x="399700" y="894492"/>
            <a:ext cx="11361770" cy="0"/>
          </a:xfrm>
          <a:prstGeom prst="line">
            <a:avLst/>
          </a:prstGeom>
          <a:ln w="38100">
            <a:solidFill>
              <a:srgbClr val="237194"/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EB9E6A6F-5866-A027-87B7-486B7C415BDD}"/>
              </a:ext>
            </a:extLst>
          </p:cNvPr>
          <p:cNvSpPr txBox="1">
            <a:spLocks/>
          </p:cNvSpPr>
          <p:nvPr/>
        </p:nvSpPr>
        <p:spPr>
          <a:xfrm>
            <a:off x="284498" y="83955"/>
            <a:ext cx="11616350" cy="738664"/>
          </a:xfrm>
          <a:prstGeom prst="rect">
            <a:avLst/>
          </a:prstGeom>
        </p:spPr>
        <p:txBody>
          <a:bodyPr vert="horz" wrap="square" lIns="91440" tIns="91440" rIns="91440" bIns="91440" rtlCol="0" anchor="b" anchorCtr="0">
            <a:spAutoFit/>
          </a:bodyPr>
          <a:lstStyle>
            <a:lvl1pPr algn="l" defTabSz="699614" rtl="0" eaLnBrk="1" latinLnBrk="0" hangingPunct="1">
              <a:spcBef>
                <a:spcPct val="0"/>
              </a:spcBef>
              <a:buNone/>
              <a:defRPr sz="5400" b="0" i="0" kern="1200">
                <a:solidFill>
                  <a:schemeClr val="tx2"/>
                </a:solidFill>
                <a:latin typeface="Vitesse Light" charset="0"/>
                <a:ea typeface="Vitesse Light" charset="0"/>
                <a:cs typeface="Vitesse Light" charset="0"/>
              </a:defRPr>
            </a:lvl1pPr>
          </a:lstStyle>
          <a:p>
            <a:r>
              <a:rPr lang="es-ES" sz="3600" dirty="0">
                <a:solidFill>
                  <a:schemeClr val="tx1"/>
                </a:solidFill>
              </a:rPr>
              <a:t>SMILES</a:t>
            </a:r>
            <a:endParaRPr lang="en-US" sz="3600" dirty="0">
              <a:solidFill>
                <a:schemeClr val="tx1"/>
              </a:solidFill>
            </a:endParaRPr>
          </a:p>
        </p:txBody>
      </p:sp>
      <p:pic>
        <p:nvPicPr>
          <p:cNvPr id="6" name="Picture 5" descr="A picture containing arrow&#10;&#10;Description automatically generated">
            <a:extLst>
              <a:ext uri="{FF2B5EF4-FFF2-40B4-BE49-F238E27FC236}">
                <a16:creationId xmlns:a16="http://schemas.microsoft.com/office/drawing/2014/main" id="{6D902927-EB35-D22F-30BF-D68DE5B7F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7654" y="13477"/>
            <a:ext cx="1244134" cy="830042"/>
          </a:xfrm>
          <a:prstGeom prst="rect">
            <a:avLst/>
          </a:prstGeom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A427CE4C-4FF9-58D3-2522-380EE4A58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1486" y="6443435"/>
            <a:ext cx="783217" cy="338554"/>
          </a:xfrm>
        </p:spPr>
        <p:txBody>
          <a:bodyPr/>
          <a:lstStyle/>
          <a:p>
            <a:fld id="{09A062AA-2C6C-4571-9892-9B3657580B26}" type="slidenum">
              <a:rPr lang="en-US" sz="1400" smtClean="0"/>
              <a:t>8</a:t>
            </a:fld>
            <a:endParaRPr lang="en-US" sz="1400"/>
          </a:p>
        </p:txBody>
      </p:sp>
      <p:pic>
        <p:nvPicPr>
          <p:cNvPr id="9" name="Picture 8" descr="IUI Mixto de Síntesis Química y Catálisis Homogenea (ISQCH) | Universidad  de Zaragoza">
            <a:extLst>
              <a:ext uri="{FF2B5EF4-FFF2-40B4-BE49-F238E27FC236}">
                <a16:creationId xmlns:a16="http://schemas.microsoft.com/office/drawing/2014/main" id="{CB157194-886E-CB4A-F73D-9F4A46B109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035" y="178961"/>
            <a:ext cx="1744679" cy="589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Rectangle 5">
            <a:extLst>
              <a:ext uri="{FF2B5EF4-FFF2-40B4-BE49-F238E27FC236}">
                <a16:creationId xmlns:a16="http://schemas.microsoft.com/office/drawing/2014/main" id="{AA5B7A3F-5858-B88D-338C-6DCBF0366525}"/>
              </a:ext>
            </a:extLst>
          </p:cNvPr>
          <p:cNvSpPr>
            <a:spLocks/>
          </p:cNvSpPr>
          <p:nvPr/>
        </p:nvSpPr>
        <p:spPr bwMode="auto">
          <a:xfrm>
            <a:off x="401056" y="1388435"/>
            <a:ext cx="11545512" cy="20005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65506" bIns="0">
            <a:spAutoFit/>
          </a:bodyPr>
          <a:lstStyle/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It means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implified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olecular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nput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ine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ntry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ystem.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A way to write molecules in one string that is easy for humans to read. 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Examples: </a:t>
            </a:r>
          </a:p>
        </p:txBody>
      </p:sp>
      <p:sp>
        <p:nvSpPr>
          <p:cNvPr id="10" name="Freeform 19">
            <a:extLst>
              <a:ext uri="{FF2B5EF4-FFF2-40B4-BE49-F238E27FC236}">
                <a16:creationId xmlns:a16="http://schemas.microsoft.com/office/drawing/2014/main" id="{B6DF06A5-6F6C-27AE-0209-B940E81CB8E2}"/>
              </a:ext>
            </a:extLst>
          </p:cNvPr>
          <p:cNvSpPr>
            <a:spLocks noChangeAspect="1"/>
          </p:cNvSpPr>
          <p:nvPr/>
        </p:nvSpPr>
        <p:spPr>
          <a:xfrm>
            <a:off x="1835433" y="2802645"/>
            <a:ext cx="3320491" cy="3041822"/>
          </a:xfrm>
          <a:custGeom>
            <a:avLst/>
            <a:gdLst/>
            <a:ahLst/>
            <a:cxnLst/>
            <a:rect l="l" t="t" r="r" b="b"/>
            <a:pathLst>
              <a:path w="8821282" h="3041822">
                <a:moveTo>
                  <a:pt x="0" y="0"/>
                </a:moveTo>
                <a:lnTo>
                  <a:pt x="8821282" y="0"/>
                </a:lnTo>
                <a:lnTo>
                  <a:pt x="8821282" y="3041822"/>
                </a:lnTo>
                <a:lnTo>
                  <a:pt x="0" y="30418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r="-165662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1" name="TextBox 23">
            <a:extLst>
              <a:ext uri="{FF2B5EF4-FFF2-40B4-BE49-F238E27FC236}">
                <a16:creationId xmlns:a16="http://schemas.microsoft.com/office/drawing/2014/main" id="{EC4413CD-6CB9-5F44-1C27-DD582B6B532D}"/>
              </a:ext>
            </a:extLst>
          </p:cNvPr>
          <p:cNvSpPr txBox="1"/>
          <p:nvPr/>
        </p:nvSpPr>
        <p:spPr>
          <a:xfrm>
            <a:off x="2183774" y="5836450"/>
            <a:ext cx="11545512" cy="4987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Alegreya Sans"/>
                <a:cs typeface="Alegreya Sans"/>
                <a:sym typeface="Alegreya Sans"/>
              </a:rPr>
              <a:t>CCC               CC=C          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8E24E64-30C1-083E-DD9C-865E8F573B9F}"/>
              </a:ext>
            </a:extLst>
          </p:cNvPr>
          <p:cNvSpPr/>
          <p:nvPr/>
        </p:nvSpPr>
        <p:spPr>
          <a:xfrm>
            <a:off x="1835432" y="2802644"/>
            <a:ext cx="1536417" cy="3532531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alpha val="10000"/>
                </a:schemeClr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59E6A8-4174-8200-3C9F-3ADEE6163F7D}"/>
              </a:ext>
            </a:extLst>
          </p:cNvPr>
          <p:cNvSpPr/>
          <p:nvPr/>
        </p:nvSpPr>
        <p:spPr>
          <a:xfrm>
            <a:off x="284498" y="1281735"/>
            <a:ext cx="8821282" cy="1520908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alpha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5763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3D4FE-AD67-6A6F-C618-5584D4282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0143D49-7563-085C-5F17-CEA1B075D9F5}"/>
              </a:ext>
            </a:extLst>
          </p:cNvPr>
          <p:cNvCxnSpPr>
            <a:cxnSpLocks/>
          </p:cNvCxnSpPr>
          <p:nvPr/>
        </p:nvCxnSpPr>
        <p:spPr>
          <a:xfrm>
            <a:off x="399700" y="894492"/>
            <a:ext cx="11361770" cy="0"/>
          </a:xfrm>
          <a:prstGeom prst="line">
            <a:avLst/>
          </a:prstGeom>
          <a:ln w="38100">
            <a:solidFill>
              <a:srgbClr val="237194"/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50DA7E5B-8799-4B29-EE5E-F7126E62DEC7}"/>
              </a:ext>
            </a:extLst>
          </p:cNvPr>
          <p:cNvSpPr txBox="1">
            <a:spLocks/>
          </p:cNvSpPr>
          <p:nvPr/>
        </p:nvSpPr>
        <p:spPr>
          <a:xfrm>
            <a:off x="284498" y="83955"/>
            <a:ext cx="11616350" cy="738664"/>
          </a:xfrm>
          <a:prstGeom prst="rect">
            <a:avLst/>
          </a:prstGeom>
        </p:spPr>
        <p:txBody>
          <a:bodyPr vert="horz" wrap="square" lIns="91440" tIns="91440" rIns="91440" bIns="91440" rtlCol="0" anchor="b" anchorCtr="0">
            <a:spAutoFit/>
          </a:bodyPr>
          <a:lstStyle>
            <a:lvl1pPr algn="l" defTabSz="699614" rtl="0" eaLnBrk="1" latinLnBrk="0" hangingPunct="1">
              <a:spcBef>
                <a:spcPct val="0"/>
              </a:spcBef>
              <a:buNone/>
              <a:defRPr sz="5400" b="0" i="0" kern="1200">
                <a:solidFill>
                  <a:schemeClr val="tx2"/>
                </a:solidFill>
                <a:latin typeface="Vitesse Light" charset="0"/>
                <a:ea typeface="Vitesse Light" charset="0"/>
                <a:cs typeface="Vitesse Light" charset="0"/>
              </a:defRPr>
            </a:lvl1pPr>
          </a:lstStyle>
          <a:p>
            <a:r>
              <a:rPr lang="es-ES" sz="3600" dirty="0">
                <a:solidFill>
                  <a:schemeClr val="tx1"/>
                </a:solidFill>
              </a:rPr>
              <a:t>SMILES</a:t>
            </a:r>
            <a:endParaRPr lang="en-US" sz="3600" dirty="0">
              <a:solidFill>
                <a:schemeClr val="tx1"/>
              </a:solidFill>
            </a:endParaRPr>
          </a:p>
        </p:txBody>
      </p:sp>
      <p:pic>
        <p:nvPicPr>
          <p:cNvPr id="6" name="Picture 5" descr="A picture containing arrow&#10;&#10;Description automatically generated">
            <a:extLst>
              <a:ext uri="{FF2B5EF4-FFF2-40B4-BE49-F238E27FC236}">
                <a16:creationId xmlns:a16="http://schemas.microsoft.com/office/drawing/2014/main" id="{6CA491D1-1624-27A4-3B87-1C0B7B0B14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7654" y="13477"/>
            <a:ext cx="1244134" cy="830042"/>
          </a:xfrm>
          <a:prstGeom prst="rect">
            <a:avLst/>
          </a:prstGeom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FEED8A10-FFB2-E672-F446-594FFA888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1486" y="6443435"/>
            <a:ext cx="783217" cy="338554"/>
          </a:xfrm>
        </p:spPr>
        <p:txBody>
          <a:bodyPr/>
          <a:lstStyle/>
          <a:p>
            <a:fld id="{09A062AA-2C6C-4571-9892-9B3657580B26}" type="slidenum">
              <a:rPr lang="en-US" sz="1400" smtClean="0"/>
              <a:t>9</a:t>
            </a:fld>
            <a:endParaRPr lang="en-US" sz="1400"/>
          </a:p>
        </p:txBody>
      </p:sp>
      <p:pic>
        <p:nvPicPr>
          <p:cNvPr id="9" name="Picture 8" descr="IUI Mixto de Síntesis Química y Catálisis Homogenea (ISQCH) | Universidad  de Zaragoza">
            <a:extLst>
              <a:ext uri="{FF2B5EF4-FFF2-40B4-BE49-F238E27FC236}">
                <a16:creationId xmlns:a16="http://schemas.microsoft.com/office/drawing/2014/main" id="{24A421C1-C4E0-67E8-097F-7A5991F26A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035" y="178961"/>
            <a:ext cx="1744679" cy="589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Rectangle 5">
            <a:extLst>
              <a:ext uri="{FF2B5EF4-FFF2-40B4-BE49-F238E27FC236}">
                <a16:creationId xmlns:a16="http://schemas.microsoft.com/office/drawing/2014/main" id="{D199DFD1-08F3-CD37-111B-67B881587E34}"/>
              </a:ext>
            </a:extLst>
          </p:cNvPr>
          <p:cNvSpPr>
            <a:spLocks/>
          </p:cNvSpPr>
          <p:nvPr/>
        </p:nvSpPr>
        <p:spPr bwMode="auto">
          <a:xfrm>
            <a:off x="401056" y="1388435"/>
            <a:ext cx="11545512" cy="20005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65506" bIns="0">
            <a:spAutoFit/>
          </a:bodyPr>
          <a:lstStyle/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It means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implified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olecular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nput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ine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ntry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ystem.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A way to write molecules in one string that is easy for humans to read. 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Examples: </a:t>
            </a:r>
          </a:p>
        </p:txBody>
      </p:sp>
      <p:sp>
        <p:nvSpPr>
          <p:cNvPr id="10" name="Freeform 19">
            <a:extLst>
              <a:ext uri="{FF2B5EF4-FFF2-40B4-BE49-F238E27FC236}">
                <a16:creationId xmlns:a16="http://schemas.microsoft.com/office/drawing/2014/main" id="{CAD8B6BC-80C3-2E2B-737C-D8FE726B1435}"/>
              </a:ext>
            </a:extLst>
          </p:cNvPr>
          <p:cNvSpPr>
            <a:spLocks noChangeAspect="1"/>
          </p:cNvSpPr>
          <p:nvPr/>
        </p:nvSpPr>
        <p:spPr>
          <a:xfrm>
            <a:off x="1835433" y="2802645"/>
            <a:ext cx="5118720" cy="3041822"/>
          </a:xfrm>
          <a:custGeom>
            <a:avLst/>
            <a:gdLst/>
            <a:ahLst/>
            <a:cxnLst/>
            <a:rect l="l" t="t" r="r" b="b"/>
            <a:pathLst>
              <a:path w="8821282" h="3041822">
                <a:moveTo>
                  <a:pt x="0" y="0"/>
                </a:moveTo>
                <a:lnTo>
                  <a:pt x="8821282" y="0"/>
                </a:lnTo>
                <a:lnTo>
                  <a:pt x="8821282" y="3041822"/>
                </a:lnTo>
                <a:lnTo>
                  <a:pt x="0" y="30418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r="-72333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1" name="TextBox 23">
            <a:extLst>
              <a:ext uri="{FF2B5EF4-FFF2-40B4-BE49-F238E27FC236}">
                <a16:creationId xmlns:a16="http://schemas.microsoft.com/office/drawing/2014/main" id="{ADF86FC8-4F29-1363-5F41-62A0E73DB2F4}"/>
              </a:ext>
            </a:extLst>
          </p:cNvPr>
          <p:cNvSpPr txBox="1"/>
          <p:nvPr/>
        </p:nvSpPr>
        <p:spPr>
          <a:xfrm>
            <a:off x="2183774" y="5836450"/>
            <a:ext cx="11545512" cy="4987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Alegreya Sans"/>
                <a:cs typeface="Alegreya Sans"/>
                <a:sym typeface="Alegreya Sans"/>
              </a:rPr>
              <a:t>CCC               CC=C           CC#C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07A7C6-3F47-6EB3-FD31-6BC712CD3F13}"/>
              </a:ext>
            </a:extLst>
          </p:cNvPr>
          <p:cNvSpPr/>
          <p:nvPr/>
        </p:nvSpPr>
        <p:spPr>
          <a:xfrm>
            <a:off x="1835432" y="2802644"/>
            <a:ext cx="3231867" cy="3532531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alpha val="10000"/>
                </a:schemeClr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70DE67-60F8-3083-2243-D6C634911551}"/>
              </a:ext>
            </a:extLst>
          </p:cNvPr>
          <p:cNvSpPr/>
          <p:nvPr/>
        </p:nvSpPr>
        <p:spPr>
          <a:xfrm>
            <a:off x="284498" y="1281735"/>
            <a:ext cx="8821282" cy="1520908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alpha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491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9FB02-3ADB-CE7C-8B4B-6233C87BA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4D46403-A17E-CE29-2009-FED85DCA7BBB}"/>
              </a:ext>
            </a:extLst>
          </p:cNvPr>
          <p:cNvCxnSpPr>
            <a:cxnSpLocks/>
          </p:cNvCxnSpPr>
          <p:nvPr/>
        </p:nvCxnSpPr>
        <p:spPr>
          <a:xfrm>
            <a:off x="399700" y="894492"/>
            <a:ext cx="11361770" cy="0"/>
          </a:xfrm>
          <a:prstGeom prst="line">
            <a:avLst/>
          </a:prstGeom>
          <a:ln w="38100">
            <a:solidFill>
              <a:srgbClr val="237194"/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6434435-BCD0-92DD-639E-53B669BD5F11}"/>
              </a:ext>
            </a:extLst>
          </p:cNvPr>
          <p:cNvSpPr txBox="1">
            <a:spLocks/>
          </p:cNvSpPr>
          <p:nvPr/>
        </p:nvSpPr>
        <p:spPr>
          <a:xfrm>
            <a:off x="284498" y="83955"/>
            <a:ext cx="11616350" cy="738664"/>
          </a:xfrm>
          <a:prstGeom prst="rect">
            <a:avLst/>
          </a:prstGeom>
        </p:spPr>
        <p:txBody>
          <a:bodyPr vert="horz" wrap="square" lIns="91440" tIns="91440" rIns="91440" bIns="91440" rtlCol="0" anchor="b" anchorCtr="0">
            <a:spAutoFit/>
          </a:bodyPr>
          <a:lstStyle>
            <a:lvl1pPr algn="l" defTabSz="699614" rtl="0" eaLnBrk="1" latinLnBrk="0" hangingPunct="1">
              <a:spcBef>
                <a:spcPct val="0"/>
              </a:spcBef>
              <a:buNone/>
              <a:defRPr sz="5400" b="0" i="0" kern="1200">
                <a:solidFill>
                  <a:schemeClr val="tx2"/>
                </a:solidFill>
                <a:latin typeface="Vitesse Light" charset="0"/>
                <a:ea typeface="Vitesse Light" charset="0"/>
                <a:cs typeface="Vitesse Light" charset="0"/>
              </a:defRPr>
            </a:lvl1pPr>
          </a:lstStyle>
          <a:p>
            <a:r>
              <a:rPr lang="es-ES" sz="3600" dirty="0">
                <a:solidFill>
                  <a:schemeClr val="tx1"/>
                </a:solidFill>
              </a:rPr>
              <a:t>SMILES</a:t>
            </a:r>
            <a:endParaRPr lang="en-US" sz="3600" dirty="0">
              <a:solidFill>
                <a:schemeClr val="tx1"/>
              </a:solidFill>
            </a:endParaRPr>
          </a:p>
        </p:txBody>
      </p:sp>
      <p:pic>
        <p:nvPicPr>
          <p:cNvPr id="6" name="Picture 5" descr="A picture containing arrow&#10;&#10;Description automatically generated">
            <a:extLst>
              <a:ext uri="{FF2B5EF4-FFF2-40B4-BE49-F238E27FC236}">
                <a16:creationId xmlns:a16="http://schemas.microsoft.com/office/drawing/2014/main" id="{6A82DF78-8613-A2C3-BE6E-ECE568CF3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7654" y="13477"/>
            <a:ext cx="1244134" cy="830042"/>
          </a:xfrm>
          <a:prstGeom prst="rect">
            <a:avLst/>
          </a:prstGeom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A553E0A6-6142-8503-CE5E-A6AC68204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1486" y="6443435"/>
            <a:ext cx="783217" cy="338554"/>
          </a:xfrm>
        </p:spPr>
        <p:txBody>
          <a:bodyPr/>
          <a:lstStyle/>
          <a:p>
            <a:fld id="{09A062AA-2C6C-4571-9892-9B3657580B26}" type="slidenum">
              <a:rPr lang="en-US" sz="1400" smtClean="0"/>
              <a:t>10</a:t>
            </a:fld>
            <a:endParaRPr lang="en-US" sz="1400"/>
          </a:p>
        </p:txBody>
      </p:sp>
      <p:pic>
        <p:nvPicPr>
          <p:cNvPr id="9" name="Picture 8" descr="IUI Mixto de Síntesis Química y Catálisis Homogenea (ISQCH) | Universidad  de Zaragoza">
            <a:extLst>
              <a:ext uri="{FF2B5EF4-FFF2-40B4-BE49-F238E27FC236}">
                <a16:creationId xmlns:a16="http://schemas.microsoft.com/office/drawing/2014/main" id="{E386DF8F-E101-EEB1-3DEE-D6E3DE452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035" y="178961"/>
            <a:ext cx="1744679" cy="589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Rectangle 5">
            <a:extLst>
              <a:ext uri="{FF2B5EF4-FFF2-40B4-BE49-F238E27FC236}">
                <a16:creationId xmlns:a16="http://schemas.microsoft.com/office/drawing/2014/main" id="{F5374C59-7847-3417-7A02-92D078DC17D6}"/>
              </a:ext>
            </a:extLst>
          </p:cNvPr>
          <p:cNvSpPr>
            <a:spLocks/>
          </p:cNvSpPr>
          <p:nvPr/>
        </p:nvSpPr>
        <p:spPr bwMode="auto">
          <a:xfrm>
            <a:off x="401056" y="1388435"/>
            <a:ext cx="11545512" cy="20005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65506" bIns="0">
            <a:spAutoFit/>
          </a:bodyPr>
          <a:lstStyle/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It means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implified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olecular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nput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ine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ntry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ystem.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A way to write molecules in one string that is easy for humans to read. 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Examples: </a:t>
            </a:r>
          </a:p>
        </p:txBody>
      </p:sp>
      <p:sp>
        <p:nvSpPr>
          <p:cNvPr id="10" name="Freeform 19">
            <a:extLst>
              <a:ext uri="{FF2B5EF4-FFF2-40B4-BE49-F238E27FC236}">
                <a16:creationId xmlns:a16="http://schemas.microsoft.com/office/drawing/2014/main" id="{3FD30158-1F60-A039-B4CB-74EE840792C0}"/>
              </a:ext>
            </a:extLst>
          </p:cNvPr>
          <p:cNvSpPr>
            <a:spLocks noChangeAspect="1"/>
          </p:cNvSpPr>
          <p:nvPr/>
        </p:nvSpPr>
        <p:spPr>
          <a:xfrm>
            <a:off x="1835432" y="2802645"/>
            <a:ext cx="7076603" cy="3041822"/>
          </a:xfrm>
          <a:custGeom>
            <a:avLst/>
            <a:gdLst/>
            <a:ahLst/>
            <a:cxnLst/>
            <a:rect l="l" t="t" r="r" b="b"/>
            <a:pathLst>
              <a:path w="8821282" h="3041822">
                <a:moveTo>
                  <a:pt x="0" y="0"/>
                </a:moveTo>
                <a:lnTo>
                  <a:pt x="8821282" y="0"/>
                </a:lnTo>
                <a:lnTo>
                  <a:pt x="8821282" y="3041822"/>
                </a:lnTo>
                <a:lnTo>
                  <a:pt x="0" y="30418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r="-24654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1" name="TextBox 23">
            <a:extLst>
              <a:ext uri="{FF2B5EF4-FFF2-40B4-BE49-F238E27FC236}">
                <a16:creationId xmlns:a16="http://schemas.microsoft.com/office/drawing/2014/main" id="{008720E2-558E-ADF1-88E0-85A2DC1F8B8D}"/>
              </a:ext>
            </a:extLst>
          </p:cNvPr>
          <p:cNvSpPr txBox="1"/>
          <p:nvPr/>
        </p:nvSpPr>
        <p:spPr>
          <a:xfrm>
            <a:off x="2183774" y="5836450"/>
            <a:ext cx="11545512" cy="4987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Alegreya Sans"/>
                <a:cs typeface="Alegreya Sans"/>
                <a:sym typeface="Alegreya Sans"/>
              </a:rPr>
              <a:t>CCC               CC=C           CC#C        c1ccccc1             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FF0145-BA88-219F-8BA3-30CF11BA19D1}"/>
              </a:ext>
            </a:extLst>
          </p:cNvPr>
          <p:cNvSpPr/>
          <p:nvPr/>
        </p:nvSpPr>
        <p:spPr>
          <a:xfrm>
            <a:off x="1835432" y="2802644"/>
            <a:ext cx="5003518" cy="3532531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alpha val="10000"/>
                </a:schemeClr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3D64DA-2D9D-9B95-5AFD-CDC0B193FC29}"/>
              </a:ext>
            </a:extLst>
          </p:cNvPr>
          <p:cNvSpPr/>
          <p:nvPr/>
        </p:nvSpPr>
        <p:spPr>
          <a:xfrm>
            <a:off x="284498" y="1281735"/>
            <a:ext cx="8821282" cy="1520908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alpha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5277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0870E-70E9-CE5C-7C30-516E58490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650A74-3D9D-8CD4-FF85-4E5519AEB695}"/>
              </a:ext>
            </a:extLst>
          </p:cNvPr>
          <p:cNvCxnSpPr>
            <a:cxnSpLocks/>
          </p:cNvCxnSpPr>
          <p:nvPr/>
        </p:nvCxnSpPr>
        <p:spPr>
          <a:xfrm>
            <a:off x="399700" y="894492"/>
            <a:ext cx="11361770" cy="0"/>
          </a:xfrm>
          <a:prstGeom prst="line">
            <a:avLst/>
          </a:prstGeom>
          <a:ln w="38100">
            <a:solidFill>
              <a:srgbClr val="237194"/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F4461D4C-6C02-EA9D-5CD2-B8828CE9C1BB}"/>
              </a:ext>
            </a:extLst>
          </p:cNvPr>
          <p:cNvSpPr txBox="1">
            <a:spLocks/>
          </p:cNvSpPr>
          <p:nvPr/>
        </p:nvSpPr>
        <p:spPr>
          <a:xfrm>
            <a:off x="284498" y="83955"/>
            <a:ext cx="11616350" cy="738664"/>
          </a:xfrm>
          <a:prstGeom prst="rect">
            <a:avLst/>
          </a:prstGeom>
        </p:spPr>
        <p:txBody>
          <a:bodyPr vert="horz" wrap="square" lIns="91440" tIns="91440" rIns="91440" bIns="91440" rtlCol="0" anchor="b" anchorCtr="0">
            <a:spAutoFit/>
          </a:bodyPr>
          <a:lstStyle>
            <a:lvl1pPr algn="l" defTabSz="699614" rtl="0" eaLnBrk="1" latinLnBrk="0" hangingPunct="1">
              <a:spcBef>
                <a:spcPct val="0"/>
              </a:spcBef>
              <a:buNone/>
              <a:defRPr sz="5400" b="0" i="0" kern="1200">
                <a:solidFill>
                  <a:schemeClr val="tx2"/>
                </a:solidFill>
                <a:latin typeface="Vitesse Light" charset="0"/>
                <a:ea typeface="Vitesse Light" charset="0"/>
                <a:cs typeface="Vitesse Light" charset="0"/>
              </a:defRPr>
            </a:lvl1pPr>
          </a:lstStyle>
          <a:p>
            <a:r>
              <a:rPr lang="es-ES" sz="3600" dirty="0">
                <a:solidFill>
                  <a:schemeClr val="tx1"/>
                </a:solidFill>
              </a:rPr>
              <a:t>SMILES</a:t>
            </a:r>
            <a:endParaRPr lang="en-US" sz="3600" dirty="0">
              <a:solidFill>
                <a:schemeClr val="tx1"/>
              </a:solidFill>
            </a:endParaRPr>
          </a:p>
        </p:txBody>
      </p:sp>
      <p:pic>
        <p:nvPicPr>
          <p:cNvPr id="6" name="Picture 5" descr="A picture containing arrow&#10;&#10;Description automatically generated">
            <a:extLst>
              <a:ext uri="{FF2B5EF4-FFF2-40B4-BE49-F238E27FC236}">
                <a16:creationId xmlns:a16="http://schemas.microsoft.com/office/drawing/2014/main" id="{7648D5DF-26FE-5EFC-E690-C3C3892916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7654" y="13477"/>
            <a:ext cx="1244134" cy="830042"/>
          </a:xfrm>
          <a:prstGeom prst="rect">
            <a:avLst/>
          </a:prstGeom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F3C796DA-3778-E3FA-2781-04850687D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1486" y="6443435"/>
            <a:ext cx="783217" cy="338554"/>
          </a:xfrm>
        </p:spPr>
        <p:txBody>
          <a:bodyPr/>
          <a:lstStyle/>
          <a:p>
            <a:fld id="{09A062AA-2C6C-4571-9892-9B3657580B26}" type="slidenum">
              <a:rPr lang="en-US" sz="1400" smtClean="0"/>
              <a:t>11</a:t>
            </a:fld>
            <a:endParaRPr lang="en-US" sz="1400"/>
          </a:p>
        </p:txBody>
      </p:sp>
      <p:pic>
        <p:nvPicPr>
          <p:cNvPr id="9" name="Picture 8" descr="IUI Mixto de Síntesis Química y Catálisis Homogenea (ISQCH) | Universidad  de Zaragoza">
            <a:extLst>
              <a:ext uri="{FF2B5EF4-FFF2-40B4-BE49-F238E27FC236}">
                <a16:creationId xmlns:a16="http://schemas.microsoft.com/office/drawing/2014/main" id="{85C32D01-99AF-F1B3-7FED-F60181EEA8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035" y="178961"/>
            <a:ext cx="1744679" cy="589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Rectangle 5">
            <a:extLst>
              <a:ext uri="{FF2B5EF4-FFF2-40B4-BE49-F238E27FC236}">
                <a16:creationId xmlns:a16="http://schemas.microsoft.com/office/drawing/2014/main" id="{66585902-DB84-DB3B-9F03-A553CEF881D6}"/>
              </a:ext>
            </a:extLst>
          </p:cNvPr>
          <p:cNvSpPr>
            <a:spLocks/>
          </p:cNvSpPr>
          <p:nvPr/>
        </p:nvSpPr>
        <p:spPr bwMode="auto">
          <a:xfrm>
            <a:off x="401056" y="1388435"/>
            <a:ext cx="11545512" cy="20005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65506" bIns="0">
            <a:spAutoFit/>
          </a:bodyPr>
          <a:lstStyle/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It means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implified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olecular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nput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ine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ntry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ystem.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A way to write molecules in one string that is easy for humans to read. 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Examples: </a:t>
            </a:r>
          </a:p>
        </p:txBody>
      </p:sp>
      <p:sp>
        <p:nvSpPr>
          <p:cNvPr id="10" name="Freeform 19">
            <a:extLst>
              <a:ext uri="{FF2B5EF4-FFF2-40B4-BE49-F238E27FC236}">
                <a16:creationId xmlns:a16="http://schemas.microsoft.com/office/drawing/2014/main" id="{483E9494-92E3-E1AF-BC88-F99D0B24CA94}"/>
              </a:ext>
            </a:extLst>
          </p:cNvPr>
          <p:cNvSpPr/>
          <p:nvPr/>
        </p:nvSpPr>
        <p:spPr>
          <a:xfrm>
            <a:off x="1835432" y="2802645"/>
            <a:ext cx="8821282" cy="3041822"/>
          </a:xfrm>
          <a:custGeom>
            <a:avLst/>
            <a:gdLst/>
            <a:ahLst/>
            <a:cxnLst/>
            <a:rect l="l" t="t" r="r" b="b"/>
            <a:pathLst>
              <a:path w="8821282" h="3041822">
                <a:moveTo>
                  <a:pt x="0" y="0"/>
                </a:moveTo>
                <a:lnTo>
                  <a:pt x="8821282" y="0"/>
                </a:lnTo>
                <a:lnTo>
                  <a:pt x="8821282" y="3041822"/>
                </a:lnTo>
                <a:lnTo>
                  <a:pt x="0" y="30418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1" name="TextBox 23">
            <a:extLst>
              <a:ext uri="{FF2B5EF4-FFF2-40B4-BE49-F238E27FC236}">
                <a16:creationId xmlns:a16="http://schemas.microsoft.com/office/drawing/2014/main" id="{66ED6112-B649-4EFF-D72F-04CDF7411571}"/>
              </a:ext>
            </a:extLst>
          </p:cNvPr>
          <p:cNvSpPr txBox="1"/>
          <p:nvPr/>
        </p:nvSpPr>
        <p:spPr>
          <a:xfrm>
            <a:off x="2183774" y="5836450"/>
            <a:ext cx="11545512" cy="4987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Alegreya Sans"/>
                <a:cs typeface="Alegreya Sans"/>
                <a:sym typeface="Alegreya Sans"/>
              </a:rPr>
              <a:t>CCC               CC=C           CC#C        c1ccccc1              </a:t>
            </a:r>
            <a:r>
              <a:rPr lang="en-US" sz="2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Alegreya Sans"/>
                <a:cs typeface="Alegreya Sans"/>
                <a:sym typeface="Alegreya Sans"/>
              </a:rPr>
              <a:t>ClC</a:t>
            </a: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Alegreya Sans"/>
                <a:cs typeface="Alegreya Sans"/>
                <a:sym typeface="Alegreya Sans"/>
              </a:rPr>
              <a:t>(Cl)Cl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4A92C1-B0A6-9028-8F8D-78B04F3D4EEE}"/>
              </a:ext>
            </a:extLst>
          </p:cNvPr>
          <p:cNvSpPr/>
          <p:nvPr/>
        </p:nvSpPr>
        <p:spPr>
          <a:xfrm>
            <a:off x="245432" y="1367536"/>
            <a:ext cx="8975550" cy="4967640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alpha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3157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6586A-C2A9-D0A1-A96D-19647B900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6A074A6-9403-8E65-46DD-FEACBAC21B8D}"/>
              </a:ext>
            </a:extLst>
          </p:cNvPr>
          <p:cNvCxnSpPr>
            <a:cxnSpLocks/>
          </p:cNvCxnSpPr>
          <p:nvPr/>
        </p:nvCxnSpPr>
        <p:spPr>
          <a:xfrm>
            <a:off x="399700" y="894492"/>
            <a:ext cx="11361770" cy="0"/>
          </a:xfrm>
          <a:prstGeom prst="line">
            <a:avLst/>
          </a:prstGeom>
          <a:ln w="38100">
            <a:solidFill>
              <a:srgbClr val="237194"/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8B7570CF-F1B0-CCEE-36D6-FA8AFB2EC6E0}"/>
              </a:ext>
            </a:extLst>
          </p:cNvPr>
          <p:cNvSpPr txBox="1">
            <a:spLocks/>
          </p:cNvSpPr>
          <p:nvPr/>
        </p:nvSpPr>
        <p:spPr>
          <a:xfrm>
            <a:off x="284498" y="83955"/>
            <a:ext cx="11616350" cy="738664"/>
          </a:xfrm>
          <a:prstGeom prst="rect">
            <a:avLst/>
          </a:prstGeom>
        </p:spPr>
        <p:txBody>
          <a:bodyPr vert="horz" wrap="square" lIns="91440" tIns="91440" rIns="91440" bIns="91440" rtlCol="0" anchor="b" anchorCtr="0">
            <a:spAutoFit/>
          </a:bodyPr>
          <a:lstStyle>
            <a:lvl1pPr algn="l" defTabSz="699614" rtl="0" eaLnBrk="1" latinLnBrk="0" hangingPunct="1">
              <a:spcBef>
                <a:spcPct val="0"/>
              </a:spcBef>
              <a:buNone/>
              <a:defRPr sz="5400" b="0" i="0" kern="1200">
                <a:solidFill>
                  <a:schemeClr val="tx2"/>
                </a:solidFill>
                <a:latin typeface="Vitesse Light" charset="0"/>
                <a:ea typeface="Vitesse Light" charset="0"/>
                <a:cs typeface="Vitesse Light" charset="0"/>
              </a:defRPr>
            </a:lvl1pPr>
          </a:lstStyle>
          <a:p>
            <a:r>
              <a:rPr lang="es-ES" sz="3600" dirty="0">
                <a:solidFill>
                  <a:schemeClr val="tx1"/>
                </a:solidFill>
              </a:rPr>
              <a:t>SMILES</a:t>
            </a:r>
            <a:endParaRPr lang="en-US" sz="3600" dirty="0">
              <a:solidFill>
                <a:schemeClr val="tx1"/>
              </a:solidFill>
            </a:endParaRPr>
          </a:p>
        </p:txBody>
      </p:sp>
      <p:pic>
        <p:nvPicPr>
          <p:cNvPr id="6" name="Picture 5" descr="A picture containing arrow&#10;&#10;Description automatically generated">
            <a:extLst>
              <a:ext uri="{FF2B5EF4-FFF2-40B4-BE49-F238E27FC236}">
                <a16:creationId xmlns:a16="http://schemas.microsoft.com/office/drawing/2014/main" id="{0401850F-7208-58F4-0E60-6FCB07A3E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7654" y="13477"/>
            <a:ext cx="1244134" cy="830042"/>
          </a:xfrm>
          <a:prstGeom prst="rect">
            <a:avLst/>
          </a:prstGeom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C70A9385-030C-29A2-51AA-278F04081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1486" y="6443435"/>
            <a:ext cx="783217" cy="338554"/>
          </a:xfrm>
        </p:spPr>
        <p:txBody>
          <a:bodyPr/>
          <a:lstStyle/>
          <a:p>
            <a:fld id="{09A062AA-2C6C-4571-9892-9B3657580B26}" type="slidenum">
              <a:rPr lang="en-US" sz="1400" smtClean="0"/>
              <a:t>12</a:t>
            </a:fld>
            <a:endParaRPr lang="en-US" sz="1400"/>
          </a:p>
        </p:txBody>
      </p:sp>
      <p:pic>
        <p:nvPicPr>
          <p:cNvPr id="9" name="Picture 8" descr="IUI Mixto de Síntesis Química y Catálisis Homogenea (ISQCH) | Universidad  de Zaragoza">
            <a:extLst>
              <a:ext uri="{FF2B5EF4-FFF2-40B4-BE49-F238E27FC236}">
                <a16:creationId xmlns:a16="http://schemas.microsoft.com/office/drawing/2014/main" id="{E31707FB-A140-4F35-A9A1-874F1EF20B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035" y="178961"/>
            <a:ext cx="1744679" cy="589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Rectangle 5">
            <a:extLst>
              <a:ext uri="{FF2B5EF4-FFF2-40B4-BE49-F238E27FC236}">
                <a16:creationId xmlns:a16="http://schemas.microsoft.com/office/drawing/2014/main" id="{40BE8216-2B8F-63A3-485B-81A30497A8BF}"/>
              </a:ext>
            </a:extLst>
          </p:cNvPr>
          <p:cNvSpPr>
            <a:spLocks/>
          </p:cNvSpPr>
          <p:nvPr/>
        </p:nvSpPr>
        <p:spPr bwMode="auto">
          <a:xfrm>
            <a:off x="401056" y="1388435"/>
            <a:ext cx="11545512" cy="20005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65506" bIns="0">
            <a:spAutoFit/>
          </a:bodyPr>
          <a:lstStyle/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It means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implified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olecular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nput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ine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ntry </a:t>
            </a: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ystem.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A way to write molecules in one string that is easy for humans to read. 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4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Examples: 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283A4FDC-CED1-A750-F119-39FE473F7EB2}"/>
              </a:ext>
            </a:extLst>
          </p:cNvPr>
          <p:cNvSpPr>
            <a:spLocks/>
          </p:cNvSpPr>
          <p:nvPr/>
        </p:nvSpPr>
        <p:spPr bwMode="auto">
          <a:xfrm>
            <a:off x="401056" y="6371262"/>
            <a:ext cx="1154551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65506" bIns="0">
            <a:spAutoFit/>
          </a:bodyPr>
          <a:lstStyle/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r>
              <a:rPr lang="en-US" sz="20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Tutorial on SMILES </a:t>
            </a:r>
            <a:r>
              <a:rPr lang="en-US" sz="2000" kern="10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for more information. </a:t>
            </a:r>
          </a:p>
        </p:txBody>
      </p:sp>
      <p:sp>
        <p:nvSpPr>
          <p:cNvPr id="10" name="Freeform 19">
            <a:extLst>
              <a:ext uri="{FF2B5EF4-FFF2-40B4-BE49-F238E27FC236}">
                <a16:creationId xmlns:a16="http://schemas.microsoft.com/office/drawing/2014/main" id="{29342F1D-12EA-90FB-8564-E4761EB9BD9B}"/>
              </a:ext>
            </a:extLst>
          </p:cNvPr>
          <p:cNvSpPr/>
          <p:nvPr/>
        </p:nvSpPr>
        <p:spPr>
          <a:xfrm>
            <a:off x="1835432" y="2802645"/>
            <a:ext cx="8821282" cy="3041822"/>
          </a:xfrm>
          <a:custGeom>
            <a:avLst/>
            <a:gdLst/>
            <a:ahLst/>
            <a:cxnLst/>
            <a:rect l="l" t="t" r="r" b="b"/>
            <a:pathLst>
              <a:path w="8821282" h="3041822">
                <a:moveTo>
                  <a:pt x="0" y="0"/>
                </a:moveTo>
                <a:lnTo>
                  <a:pt x="8821282" y="0"/>
                </a:lnTo>
                <a:lnTo>
                  <a:pt x="8821282" y="3041822"/>
                </a:lnTo>
                <a:lnTo>
                  <a:pt x="0" y="30418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1" name="TextBox 23">
            <a:extLst>
              <a:ext uri="{FF2B5EF4-FFF2-40B4-BE49-F238E27FC236}">
                <a16:creationId xmlns:a16="http://schemas.microsoft.com/office/drawing/2014/main" id="{4A81FF4E-6F84-5151-6728-5DE0E16E3D00}"/>
              </a:ext>
            </a:extLst>
          </p:cNvPr>
          <p:cNvSpPr txBox="1"/>
          <p:nvPr/>
        </p:nvSpPr>
        <p:spPr>
          <a:xfrm>
            <a:off x="2183774" y="5836450"/>
            <a:ext cx="11545512" cy="4987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Alegreya Sans"/>
                <a:cs typeface="Alegreya Sans"/>
                <a:sym typeface="Alegreya Sans"/>
              </a:rPr>
              <a:t>CCC               CC=C           CC#C        c1ccccc1              </a:t>
            </a:r>
            <a:r>
              <a:rPr lang="en-US" sz="2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Alegreya Sans"/>
                <a:cs typeface="Alegreya Sans"/>
                <a:sym typeface="Alegreya Sans"/>
              </a:rPr>
              <a:t>ClC</a:t>
            </a: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Alegreya Sans"/>
                <a:cs typeface="Alegreya Sans"/>
                <a:sym typeface="Alegreya Sans"/>
              </a:rPr>
              <a:t>(Cl)Cl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FD4433-7D99-69A0-B216-2161EBAB7D20}"/>
              </a:ext>
            </a:extLst>
          </p:cNvPr>
          <p:cNvSpPr/>
          <p:nvPr/>
        </p:nvSpPr>
        <p:spPr>
          <a:xfrm>
            <a:off x="284498" y="1367536"/>
            <a:ext cx="8936484" cy="4967640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alpha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3871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09DAD-0FC5-BFCD-0CC1-544DBB453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A3DEE387-4908-D1E9-685E-450329422A0E}"/>
              </a:ext>
            </a:extLst>
          </p:cNvPr>
          <p:cNvSpPr>
            <a:spLocks/>
          </p:cNvSpPr>
          <p:nvPr/>
        </p:nvSpPr>
        <p:spPr bwMode="auto">
          <a:xfrm>
            <a:off x="399700" y="1388435"/>
            <a:ext cx="11361770" cy="3631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65506" bIns="0">
            <a:spAutoFit/>
          </a:bodyPr>
          <a:lstStyle/>
          <a:p>
            <a:pPr marL="0" marR="0" indent="0" algn="ctr">
              <a:spcBef>
                <a:spcPts val="0"/>
              </a:spcBef>
              <a:spcAft>
                <a:spcPts val="300"/>
              </a:spcAft>
            </a:pP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SMILES of molecule?</a:t>
            </a:r>
            <a:endParaRPr lang="en-US" sz="2400" b="1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ctr">
              <a:spcBef>
                <a:spcPts val="0"/>
              </a:spcBef>
              <a:spcAft>
                <a:spcPts val="300"/>
              </a:spcAft>
            </a:pPr>
            <a:endParaRPr lang="en-US" sz="2400" b="1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ctr">
              <a:spcBef>
                <a:spcPts val="0"/>
              </a:spcBef>
              <a:spcAft>
                <a:spcPts val="300"/>
              </a:spcAft>
            </a:pPr>
            <a:endParaRPr lang="en-US" sz="2400" b="1" kern="1050" dirty="0">
              <a:solidFill>
                <a:schemeClr val="tx1">
                  <a:lumMod val="75000"/>
                  <a:lumOff val="25000"/>
                </a:schemeClr>
              </a:solidFill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ctr">
              <a:spcBef>
                <a:spcPts val="0"/>
              </a:spcBef>
              <a:spcAft>
                <a:spcPts val="300"/>
              </a:spcAft>
            </a:pPr>
            <a:endParaRPr lang="en-US" sz="2400" b="1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 algn="ctr">
              <a:spcAft>
                <a:spcPts val="300"/>
              </a:spcAft>
              <a:buAutoNum type="alphaLcParenR"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IBM Plex Mono"/>
                <a:cs typeface="IBM Plex Mono"/>
                <a:sym typeface="IBM Plex Mono"/>
              </a:rPr>
              <a:t>CCS			b) C(S)C			c) SCC</a:t>
            </a:r>
          </a:p>
          <a:p>
            <a:pPr algn="just">
              <a:spcAft>
                <a:spcPts val="300"/>
              </a:spcAft>
            </a:pP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Gill Sans"/>
              <a:ea typeface="IBM Plex Mono"/>
              <a:cs typeface="IBM Plex Mono"/>
              <a:sym typeface="IBM Plex Mono"/>
            </a:endParaRPr>
          </a:p>
          <a:p>
            <a:pPr algn="just">
              <a:spcAft>
                <a:spcPts val="300"/>
              </a:spcAft>
            </a:pP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Gill Sans"/>
              <a:ea typeface="IBM Plex Mono"/>
              <a:cs typeface="IBM Plex Mono"/>
              <a:sym typeface="IBM Plex Mono"/>
            </a:endParaRPr>
          </a:p>
          <a:p>
            <a:pPr algn="just">
              <a:spcAft>
                <a:spcPts val="300"/>
              </a:spcAft>
            </a:pP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Gill Sans"/>
              <a:ea typeface="IBM Plex Mono"/>
              <a:cs typeface="IBM Plex Mono"/>
              <a:sym typeface="IBM Plex Mono"/>
            </a:endParaRP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30EAC6B-EE42-E9B4-3489-30FCC50BE8F3}"/>
              </a:ext>
            </a:extLst>
          </p:cNvPr>
          <p:cNvCxnSpPr>
            <a:cxnSpLocks/>
          </p:cNvCxnSpPr>
          <p:nvPr/>
        </p:nvCxnSpPr>
        <p:spPr>
          <a:xfrm>
            <a:off x="399700" y="894492"/>
            <a:ext cx="11361770" cy="0"/>
          </a:xfrm>
          <a:prstGeom prst="line">
            <a:avLst/>
          </a:prstGeom>
          <a:ln w="38100">
            <a:solidFill>
              <a:srgbClr val="237194"/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DD1084DE-22FF-9C1E-1FDC-AD58C273B4B7}"/>
              </a:ext>
            </a:extLst>
          </p:cNvPr>
          <p:cNvSpPr txBox="1">
            <a:spLocks/>
          </p:cNvSpPr>
          <p:nvPr/>
        </p:nvSpPr>
        <p:spPr>
          <a:xfrm>
            <a:off x="284498" y="83955"/>
            <a:ext cx="11616350" cy="738664"/>
          </a:xfrm>
          <a:prstGeom prst="rect">
            <a:avLst/>
          </a:prstGeom>
        </p:spPr>
        <p:txBody>
          <a:bodyPr vert="horz" wrap="square" lIns="91440" tIns="91440" rIns="91440" bIns="91440" rtlCol="0" anchor="b" anchorCtr="0">
            <a:spAutoFit/>
          </a:bodyPr>
          <a:lstStyle>
            <a:lvl1pPr algn="l" defTabSz="699614" rtl="0" eaLnBrk="1" latinLnBrk="0" hangingPunct="1">
              <a:spcBef>
                <a:spcPct val="0"/>
              </a:spcBef>
              <a:buNone/>
              <a:defRPr sz="5400" b="0" i="0" kern="1200">
                <a:solidFill>
                  <a:schemeClr val="tx2"/>
                </a:solidFill>
                <a:latin typeface="Vitesse Light" charset="0"/>
                <a:ea typeface="Vitesse Light" charset="0"/>
                <a:cs typeface="Vitesse Light" charset="0"/>
              </a:defRPr>
            </a:lvl1pPr>
          </a:lstStyle>
          <a:p>
            <a:r>
              <a:rPr lang="es-ES" sz="3600" dirty="0">
                <a:solidFill>
                  <a:schemeClr val="tx1"/>
                </a:solidFill>
              </a:rPr>
              <a:t>Can</a:t>
            </a:r>
            <a:r>
              <a:rPr lang="en-US" sz="3600" dirty="0" err="1">
                <a:solidFill>
                  <a:schemeClr val="tx1"/>
                </a:solidFill>
              </a:rPr>
              <a:t>onical</a:t>
            </a:r>
            <a:r>
              <a:rPr lang="en-US" sz="3600" dirty="0">
                <a:solidFill>
                  <a:schemeClr val="tx1"/>
                </a:solidFill>
              </a:rPr>
              <a:t> SMILES</a:t>
            </a:r>
            <a:endParaRPr lang="es-ES" sz="3600" dirty="0">
              <a:solidFill>
                <a:schemeClr val="tx1"/>
              </a:solidFill>
            </a:endParaRPr>
          </a:p>
        </p:txBody>
      </p:sp>
      <p:pic>
        <p:nvPicPr>
          <p:cNvPr id="6" name="Picture 5" descr="A picture containing arrow&#10;&#10;Description automatically generated">
            <a:extLst>
              <a:ext uri="{FF2B5EF4-FFF2-40B4-BE49-F238E27FC236}">
                <a16:creationId xmlns:a16="http://schemas.microsoft.com/office/drawing/2014/main" id="{C97989D5-5C87-54CD-0741-6360C9E843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7654" y="13477"/>
            <a:ext cx="1244134" cy="830042"/>
          </a:xfrm>
          <a:prstGeom prst="rect">
            <a:avLst/>
          </a:prstGeom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62DB827B-76CF-AFAD-736B-70734AFCE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1486" y="6443435"/>
            <a:ext cx="783217" cy="338554"/>
          </a:xfrm>
        </p:spPr>
        <p:txBody>
          <a:bodyPr/>
          <a:lstStyle/>
          <a:p>
            <a:fld id="{09A062AA-2C6C-4571-9892-9B3657580B26}" type="slidenum">
              <a:rPr lang="en-US" sz="1400" smtClean="0"/>
              <a:t>13</a:t>
            </a:fld>
            <a:endParaRPr lang="en-US" sz="1400"/>
          </a:p>
        </p:txBody>
      </p:sp>
      <p:pic>
        <p:nvPicPr>
          <p:cNvPr id="9" name="Picture 8" descr="IUI Mixto de Síntesis Química y Catálisis Homogenea (ISQCH) | Universidad  de Zaragoza">
            <a:extLst>
              <a:ext uri="{FF2B5EF4-FFF2-40B4-BE49-F238E27FC236}">
                <a16:creationId xmlns:a16="http://schemas.microsoft.com/office/drawing/2014/main" id="{FF2EF049-8C36-2D1F-B051-DDABFA7B5A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035" y="178961"/>
            <a:ext cx="1744679" cy="589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Freeform 31">
            <a:extLst>
              <a:ext uri="{FF2B5EF4-FFF2-40B4-BE49-F238E27FC236}">
                <a16:creationId xmlns:a16="http://schemas.microsoft.com/office/drawing/2014/main" id="{32935EE5-54FD-BE75-1CE4-4108EB1792AE}"/>
              </a:ext>
            </a:extLst>
          </p:cNvPr>
          <p:cNvSpPr>
            <a:spLocks noChangeAspect="1"/>
          </p:cNvSpPr>
          <p:nvPr/>
        </p:nvSpPr>
        <p:spPr>
          <a:xfrm>
            <a:off x="5114822" y="1656578"/>
            <a:ext cx="2346967" cy="1142602"/>
          </a:xfrm>
          <a:custGeom>
            <a:avLst/>
            <a:gdLst/>
            <a:ahLst/>
            <a:cxnLst/>
            <a:rect l="l" t="t" r="r" b="b"/>
            <a:pathLst>
              <a:path w="3296360" h="1604807">
                <a:moveTo>
                  <a:pt x="0" y="0"/>
                </a:moveTo>
                <a:lnTo>
                  <a:pt x="3296360" y="0"/>
                </a:lnTo>
                <a:lnTo>
                  <a:pt x="3296360" y="1604807"/>
                </a:lnTo>
                <a:lnTo>
                  <a:pt x="0" y="160480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70180" t="-562324" r="-366069" b="-13654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55284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D0616-40A3-1A7E-02A3-059AC6A68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65D9E28C-9EC0-8B9B-BD13-1DC649930713}"/>
              </a:ext>
            </a:extLst>
          </p:cNvPr>
          <p:cNvSpPr>
            <a:spLocks/>
          </p:cNvSpPr>
          <p:nvPr/>
        </p:nvSpPr>
        <p:spPr bwMode="auto">
          <a:xfrm>
            <a:off x="399700" y="1388435"/>
            <a:ext cx="11361770" cy="40395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65506" bIns="0">
            <a:spAutoFit/>
          </a:bodyPr>
          <a:lstStyle/>
          <a:p>
            <a:pPr marL="0" marR="0" indent="0" algn="ctr">
              <a:spcBef>
                <a:spcPts val="0"/>
              </a:spcBef>
              <a:spcAft>
                <a:spcPts val="300"/>
              </a:spcAft>
            </a:pP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SMILES of molecule?</a:t>
            </a:r>
            <a:endParaRPr lang="en-US" sz="2400" b="1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ctr">
              <a:spcBef>
                <a:spcPts val="0"/>
              </a:spcBef>
              <a:spcAft>
                <a:spcPts val="300"/>
              </a:spcAft>
            </a:pPr>
            <a:endParaRPr lang="en-US" sz="2400" b="1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ctr">
              <a:spcBef>
                <a:spcPts val="0"/>
              </a:spcBef>
              <a:spcAft>
                <a:spcPts val="300"/>
              </a:spcAft>
            </a:pPr>
            <a:endParaRPr lang="en-US" sz="2400" b="1" kern="1050" dirty="0">
              <a:solidFill>
                <a:schemeClr val="tx1">
                  <a:lumMod val="75000"/>
                  <a:lumOff val="25000"/>
                </a:schemeClr>
              </a:solidFill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ctr">
              <a:spcBef>
                <a:spcPts val="0"/>
              </a:spcBef>
              <a:spcAft>
                <a:spcPts val="300"/>
              </a:spcAft>
            </a:pPr>
            <a:endParaRPr lang="en-US" sz="2400" b="1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 algn="ctr">
              <a:spcAft>
                <a:spcPts val="300"/>
              </a:spcAft>
              <a:buAutoNum type="alphaLcParenR"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IBM Plex Mono"/>
                <a:cs typeface="IBM Plex Mono"/>
                <a:sym typeface="IBM Plex Mono"/>
              </a:rPr>
              <a:t>CCS			b) C(S)C			c) SCC</a:t>
            </a:r>
          </a:p>
          <a:p>
            <a:pPr algn="just">
              <a:spcAft>
                <a:spcPts val="300"/>
              </a:spcAft>
            </a:pP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Gill Sans"/>
              <a:ea typeface="IBM Plex Mono"/>
              <a:cs typeface="IBM Plex Mono"/>
              <a:sym typeface="IBM Plex Mono"/>
            </a:endParaRPr>
          </a:p>
          <a:p>
            <a:pPr algn="just">
              <a:spcAft>
                <a:spcPts val="300"/>
              </a:spcAft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IBM Plex Mono"/>
                <a:cs typeface="IBM Plex Mono"/>
                <a:sym typeface="IBM Plex Mono"/>
              </a:rPr>
              <a:t>All are correct, but in a database, will lead to duplicates.</a:t>
            </a:r>
          </a:p>
          <a:p>
            <a:pPr algn="just">
              <a:spcAft>
                <a:spcPts val="300"/>
              </a:spcAft>
            </a:pP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Gill Sans"/>
              <a:ea typeface="IBM Plex Mono"/>
              <a:cs typeface="IBM Plex Mono"/>
              <a:sym typeface="IBM Plex Mono"/>
            </a:endParaRPr>
          </a:p>
          <a:p>
            <a:pPr algn="just">
              <a:spcAft>
                <a:spcPts val="300"/>
              </a:spcAft>
            </a:pP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Gill Sans"/>
              <a:ea typeface="IBM Plex Mono"/>
              <a:cs typeface="IBM Plex Mono"/>
              <a:sym typeface="IBM Plex Mono"/>
            </a:endParaRP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FB1AED7-C5F0-F4B1-B11B-D85166C576B2}"/>
              </a:ext>
            </a:extLst>
          </p:cNvPr>
          <p:cNvCxnSpPr>
            <a:cxnSpLocks/>
          </p:cNvCxnSpPr>
          <p:nvPr/>
        </p:nvCxnSpPr>
        <p:spPr>
          <a:xfrm>
            <a:off x="399700" y="894492"/>
            <a:ext cx="11361770" cy="0"/>
          </a:xfrm>
          <a:prstGeom prst="line">
            <a:avLst/>
          </a:prstGeom>
          <a:ln w="38100">
            <a:solidFill>
              <a:srgbClr val="237194"/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34051A06-A725-D555-23AE-026C1B8415F0}"/>
              </a:ext>
            </a:extLst>
          </p:cNvPr>
          <p:cNvSpPr txBox="1">
            <a:spLocks/>
          </p:cNvSpPr>
          <p:nvPr/>
        </p:nvSpPr>
        <p:spPr>
          <a:xfrm>
            <a:off x="284498" y="83955"/>
            <a:ext cx="11616350" cy="738664"/>
          </a:xfrm>
          <a:prstGeom prst="rect">
            <a:avLst/>
          </a:prstGeom>
        </p:spPr>
        <p:txBody>
          <a:bodyPr vert="horz" wrap="square" lIns="91440" tIns="91440" rIns="91440" bIns="91440" rtlCol="0" anchor="b" anchorCtr="0">
            <a:spAutoFit/>
          </a:bodyPr>
          <a:lstStyle>
            <a:lvl1pPr algn="l" defTabSz="699614" rtl="0" eaLnBrk="1" latinLnBrk="0" hangingPunct="1">
              <a:spcBef>
                <a:spcPct val="0"/>
              </a:spcBef>
              <a:buNone/>
              <a:defRPr sz="5400" b="0" i="0" kern="1200">
                <a:solidFill>
                  <a:schemeClr val="tx2"/>
                </a:solidFill>
                <a:latin typeface="Vitesse Light" charset="0"/>
                <a:ea typeface="Vitesse Light" charset="0"/>
                <a:cs typeface="Vitesse Light" charset="0"/>
              </a:defRPr>
            </a:lvl1pPr>
          </a:lstStyle>
          <a:p>
            <a:r>
              <a:rPr lang="es-ES" sz="3600" dirty="0">
                <a:solidFill>
                  <a:schemeClr val="tx1"/>
                </a:solidFill>
              </a:rPr>
              <a:t>Can</a:t>
            </a:r>
            <a:r>
              <a:rPr lang="en-US" sz="3600" dirty="0" err="1">
                <a:solidFill>
                  <a:schemeClr val="tx1"/>
                </a:solidFill>
              </a:rPr>
              <a:t>onical</a:t>
            </a:r>
            <a:r>
              <a:rPr lang="en-US" sz="3600" dirty="0">
                <a:solidFill>
                  <a:schemeClr val="tx1"/>
                </a:solidFill>
              </a:rPr>
              <a:t> SMILES</a:t>
            </a:r>
            <a:endParaRPr lang="es-ES" sz="3600" dirty="0">
              <a:solidFill>
                <a:schemeClr val="tx1"/>
              </a:solidFill>
            </a:endParaRPr>
          </a:p>
        </p:txBody>
      </p:sp>
      <p:pic>
        <p:nvPicPr>
          <p:cNvPr id="6" name="Picture 5" descr="A picture containing arrow&#10;&#10;Description automatically generated">
            <a:extLst>
              <a:ext uri="{FF2B5EF4-FFF2-40B4-BE49-F238E27FC236}">
                <a16:creationId xmlns:a16="http://schemas.microsoft.com/office/drawing/2014/main" id="{4D384AB9-5504-6B63-7779-0DF304C69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7654" y="13477"/>
            <a:ext cx="1244134" cy="830042"/>
          </a:xfrm>
          <a:prstGeom prst="rect">
            <a:avLst/>
          </a:prstGeom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68990BE0-7BE0-4108-ADF0-8718B45AD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1486" y="6443435"/>
            <a:ext cx="783217" cy="338554"/>
          </a:xfrm>
        </p:spPr>
        <p:txBody>
          <a:bodyPr/>
          <a:lstStyle/>
          <a:p>
            <a:fld id="{09A062AA-2C6C-4571-9892-9B3657580B26}" type="slidenum">
              <a:rPr lang="en-US" sz="1400" smtClean="0"/>
              <a:t>14</a:t>
            </a:fld>
            <a:endParaRPr lang="en-US" sz="1400"/>
          </a:p>
        </p:txBody>
      </p:sp>
      <p:pic>
        <p:nvPicPr>
          <p:cNvPr id="9" name="Picture 8" descr="IUI Mixto de Síntesis Química y Catálisis Homogenea (ISQCH) | Universidad  de Zaragoza">
            <a:extLst>
              <a:ext uri="{FF2B5EF4-FFF2-40B4-BE49-F238E27FC236}">
                <a16:creationId xmlns:a16="http://schemas.microsoft.com/office/drawing/2014/main" id="{C38D48E2-B4AF-2BF3-2511-1C919B9FD6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035" y="178961"/>
            <a:ext cx="1744679" cy="589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Freeform 31">
            <a:extLst>
              <a:ext uri="{FF2B5EF4-FFF2-40B4-BE49-F238E27FC236}">
                <a16:creationId xmlns:a16="http://schemas.microsoft.com/office/drawing/2014/main" id="{AC9A63EF-8CAE-D595-49A5-0FA2820FC761}"/>
              </a:ext>
            </a:extLst>
          </p:cNvPr>
          <p:cNvSpPr>
            <a:spLocks noChangeAspect="1"/>
          </p:cNvSpPr>
          <p:nvPr/>
        </p:nvSpPr>
        <p:spPr>
          <a:xfrm>
            <a:off x="5114822" y="1656578"/>
            <a:ext cx="2346967" cy="1142602"/>
          </a:xfrm>
          <a:custGeom>
            <a:avLst/>
            <a:gdLst/>
            <a:ahLst/>
            <a:cxnLst/>
            <a:rect l="l" t="t" r="r" b="b"/>
            <a:pathLst>
              <a:path w="3296360" h="1604807">
                <a:moveTo>
                  <a:pt x="0" y="0"/>
                </a:moveTo>
                <a:lnTo>
                  <a:pt x="3296360" y="0"/>
                </a:lnTo>
                <a:lnTo>
                  <a:pt x="3296360" y="1604807"/>
                </a:lnTo>
                <a:lnTo>
                  <a:pt x="0" y="160480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70180" t="-562324" r="-366069" b="-13654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583D74-3205-0282-A438-384289AC44F8}"/>
              </a:ext>
            </a:extLst>
          </p:cNvPr>
          <p:cNvSpPr/>
          <p:nvPr/>
        </p:nvSpPr>
        <p:spPr>
          <a:xfrm>
            <a:off x="430530" y="1316561"/>
            <a:ext cx="11361770" cy="2112438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alpha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33932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9996A-EAE4-BBC2-77ED-1A5999179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0CE608AC-9306-1550-3E2E-887FE19C098A}"/>
              </a:ext>
            </a:extLst>
          </p:cNvPr>
          <p:cNvSpPr>
            <a:spLocks/>
          </p:cNvSpPr>
          <p:nvPr/>
        </p:nvSpPr>
        <p:spPr bwMode="auto">
          <a:xfrm>
            <a:off x="399700" y="1388435"/>
            <a:ext cx="11361770" cy="48167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65506" bIns="0">
            <a:spAutoFit/>
          </a:bodyPr>
          <a:lstStyle/>
          <a:p>
            <a:pPr marL="0" marR="0" indent="0" algn="ctr">
              <a:spcBef>
                <a:spcPts val="0"/>
              </a:spcBef>
              <a:spcAft>
                <a:spcPts val="300"/>
              </a:spcAft>
            </a:pP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SMILES of molecule?</a:t>
            </a:r>
            <a:endParaRPr lang="en-US" sz="2400" b="1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ctr">
              <a:spcBef>
                <a:spcPts val="0"/>
              </a:spcBef>
              <a:spcAft>
                <a:spcPts val="300"/>
              </a:spcAft>
            </a:pPr>
            <a:endParaRPr lang="en-US" sz="2400" b="1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ctr">
              <a:spcBef>
                <a:spcPts val="0"/>
              </a:spcBef>
              <a:spcAft>
                <a:spcPts val="300"/>
              </a:spcAft>
            </a:pPr>
            <a:endParaRPr lang="en-US" sz="2400" b="1" kern="1050" dirty="0">
              <a:solidFill>
                <a:schemeClr val="tx1">
                  <a:lumMod val="75000"/>
                  <a:lumOff val="25000"/>
                </a:schemeClr>
              </a:solidFill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ctr">
              <a:spcBef>
                <a:spcPts val="0"/>
              </a:spcBef>
              <a:spcAft>
                <a:spcPts val="300"/>
              </a:spcAft>
            </a:pPr>
            <a:endParaRPr lang="en-US" sz="2400" b="1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 algn="ctr">
              <a:spcAft>
                <a:spcPts val="300"/>
              </a:spcAft>
              <a:buAutoNum type="alphaLcParenR"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IBM Plex Mono"/>
                <a:cs typeface="IBM Plex Mono"/>
                <a:sym typeface="IBM Plex Mono"/>
              </a:rPr>
              <a:t>CCS			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IBM Plex Mono"/>
                <a:cs typeface="IBM Plex Mono"/>
                <a:sym typeface="IBM Plex Mono"/>
              </a:rPr>
              <a:t>b) C(S)C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IBM Plex Mono"/>
                <a:cs typeface="IBM Plex Mono"/>
                <a:sym typeface="IBM Plex Mono"/>
              </a:rPr>
              <a:t>			c) SCC</a:t>
            </a:r>
          </a:p>
          <a:p>
            <a:pPr algn="just">
              <a:spcAft>
                <a:spcPts val="300"/>
              </a:spcAft>
            </a:pP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Gill Sans"/>
              <a:ea typeface="IBM Plex Mono"/>
              <a:cs typeface="IBM Plex Mono"/>
              <a:sym typeface="IBM Plex Mono"/>
            </a:endParaRPr>
          </a:p>
          <a:p>
            <a:pPr algn="just">
              <a:spcAft>
                <a:spcPts val="300"/>
              </a:spcAft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IBM Plex Mono"/>
                <a:cs typeface="IBM Plex Mono"/>
                <a:sym typeface="IBM Plex Mono"/>
              </a:rPr>
              <a:t>All are correct, but in a database, will lead to duplicates.</a:t>
            </a:r>
          </a:p>
          <a:p>
            <a:pPr algn="just">
              <a:spcAft>
                <a:spcPts val="300"/>
              </a:spcAft>
            </a:pP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Gill Sans"/>
              <a:ea typeface="IBM Plex Mono"/>
              <a:cs typeface="IBM Plex Mono"/>
              <a:sym typeface="IBM Plex Mono"/>
            </a:endParaRPr>
          </a:p>
          <a:p>
            <a:pPr algn="just">
              <a:spcAft>
                <a:spcPts val="300"/>
              </a:spcAft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IBM Plex Mono"/>
                <a:cs typeface="IBM Plex Mono"/>
                <a:sym typeface="IBM Plex Mono"/>
              </a:rPr>
              <a:t>The canonical SMILES must be obtained to get a </a:t>
            </a:r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IBM Plex Mono"/>
                <a:cs typeface="IBM Plex Mono"/>
                <a:sym typeface="IBM Plex Mono"/>
              </a:rPr>
              <a:t>unique standardized text representation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IBM Plex Mono"/>
                <a:cs typeface="IBM Plex Mono"/>
                <a:sym typeface="IBM Plex Mono"/>
              </a:rPr>
              <a:t> is a) CCS.</a:t>
            </a:r>
          </a:p>
          <a:p>
            <a:pPr algn="just">
              <a:spcAft>
                <a:spcPts val="300"/>
              </a:spcAft>
            </a:pP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Gill Sans"/>
              <a:ea typeface="IBM Plex Mono"/>
              <a:cs typeface="IBM Plex Mono"/>
              <a:sym typeface="IBM Plex Mono"/>
            </a:endParaRP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B6D54F1-A390-93FB-2A7C-9F23478584DD}"/>
              </a:ext>
            </a:extLst>
          </p:cNvPr>
          <p:cNvCxnSpPr>
            <a:cxnSpLocks/>
          </p:cNvCxnSpPr>
          <p:nvPr/>
        </p:nvCxnSpPr>
        <p:spPr>
          <a:xfrm>
            <a:off x="399700" y="894492"/>
            <a:ext cx="11361770" cy="0"/>
          </a:xfrm>
          <a:prstGeom prst="line">
            <a:avLst/>
          </a:prstGeom>
          <a:ln w="38100">
            <a:solidFill>
              <a:srgbClr val="237194"/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4C085486-0E1D-61DD-ADD2-CF823C232139}"/>
              </a:ext>
            </a:extLst>
          </p:cNvPr>
          <p:cNvSpPr txBox="1">
            <a:spLocks/>
          </p:cNvSpPr>
          <p:nvPr/>
        </p:nvSpPr>
        <p:spPr>
          <a:xfrm>
            <a:off x="284498" y="83955"/>
            <a:ext cx="11616350" cy="738664"/>
          </a:xfrm>
          <a:prstGeom prst="rect">
            <a:avLst/>
          </a:prstGeom>
        </p:spPr>
        <p:txBody>
          <a:bodyPr vert="horz" wrap="square" lIns="91440" tIns="91440" rIns="91440" bIns="91440" rtlCol="0" anchor="b" anchorCtr="0">
            <a:spAutoFit/>
          </a:bodyPr>
          <a:lstStyle>
            <a:lvl1pPr algn="l" defTabSz="699614" rtl="0" eaLnBrk="1" latinLnBrk="0" hangingPunct="1">
              <a:spcBef>
                <a:spcPct val="0"/>
              </a:spcBef>
              <a:buNone/>
              <a:defRPr sz="5400" b="0" i="0" kern="1200">
                <a:solidFill>
                  <a:schemeClr val="tx2"/>
                </a:solidFill>
                <a:latin typeface="Vitesse Light" charset="0"/>
                <a:ea typeface="Vitesse Light" charset="0"/>
                <a:cs typeface="Vitesse Light" charset="0"/>
              </a:defRPr>
            </a:lvl1pPr>
          </a:lstStyle>
          <a:p>
            <a:r>
              <a:rPr lang="es-ES" sz="3600" dirty="0">
                <a:solidFill>
                  <a:schemeClr val="tx1"/>
                </a:solidFill>
              </a:rPr>
              <a:t>Can</a:t>
            </a:r>
            <a:r>
              <a:rPr lang="en-US" sz="3600" dirty="0" err="1">
                <a:solidFill>
                  <a:schemeClr val="tx1"/>
                </a:solidFill>
              </a:rPr>
              <a:t>onical</a:t>
            </a:r>
            <a:r>
              <a:rPr lang="en-US" sz="3600" dirty="0">
                <a:solidFill>
                  <a:schemeClr val="tx1"/>
                </a:solidFill>
              </a:rPr>
              <a:t> SMILES</a:t>
            </a:r>
            <a:endParaRPr lang="es-ES" sz="3600" dirty="0">
              <a:solidFill>
                <a:schemeClr val="tx1"/>
              </a:solidFill>
            </a:endParaRPr>
          </a:p>
        </p:txBody>
      </p:sp>
      <p:pic>
        <p:nvPicPr>
          <p:cNvPr id="6" name="Picture 5" descr="A picture containing arrow&#10;&#10;Description automatically generated">
            <a:extLst>
              <a:ext uri="{FF2B5EF4-FFF2-40B4-BE49-F238E27FC236}">
                <a16:creationId xmlns:a16="http://schemas.microsoft.com/office/drawing/2014/main" id="{70DDD966-94CF-BEE5-F026-27EE67160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7654" y="13477"/>
            <a:ext cx="1244134" cy="830042"/>
          </a:xfrm>
          <a:prstGeom prst="rect">
            <a:avLst/>
          </a:prstGeom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A161F76F-B0D2-0E71-8B75-4116189A3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1486" y="6443435"/>
            <a:ext cx="783217" cy="338554"/>
          </a:xfrm>
        </p:spPr>
        <p:txBody>
          <a:bodyPr/>
          <a:lstStyle/>
          <a:p>
            <a:fld id="{09A062AA-2C6C-4571-9892-9B3657580B26}" type="slidenum">
              <a:rPr lang="en-US" sz="1400" smtClean="0"/>
              <a:t>15</a:t>
            </a:fld>
            <a:endParaRPr lang="en-US" sz="1400"/>
          </a:p>
        </p:txBody>
      </p:sp>
      <p:pic>
        <p:nvPicPr>
          <p:cNvPr id="9" name="Picture 8" descr="IUI Mixto de Síntesis Química y Catálisis Homogenea (ISQCH) | Universidad  de Zaragoza">
            <a:extLst>
              <a:ext uri="{FF2B5EF4-FFF2-40B4-BE49-F238E27FC236}">
                <a16:creationId xmlns:a16="http://schemas.microsoft.com/office/drawing/2014/main" id="{4E222E75-B559-F15F-EBF9-5A40DDDE63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035" y="178961"/>
            <a:ext cx="1744679" cy="589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Freeform 31">
            <a:extLst>
              <a:ext uri="{FF2B5EF4-FFF2-40B4-BE49-F238E27FC236}">
                <a16:creationId xmlns:a16="http://schemas.microsoft.com/office/drawing/2014/main" id="{029DE787-3B2B-8FA7-2D34-D531A6D539D5}"/>
              </a:ext>
            </a:extLst>
          </p:cNvPr>
          <p:cNvSpPr>
            <a:spLocks noChangeAspect="1"/>
          </p:cNvSpPr>
          <p:nvPr/>
        </p:nvSpPr>
        <p:spPr>
          <a:xfrm>
            <a:off x="5114822" y="1656578"/>
            <a:ext cx="2346967" cy="1142602"/>
          </a:xfrm>
          <a:custGeom>
            <a:avLst/>
            <a:gdLst/>
            <a:ahLst/>
            <a:cxnLst/>
            <a:rect l="l" t="t" r="r" b="b"/>
            <a:pathLst>
              <a:path w="3296360" h="1604807">
                <a:moveTo>
                  <a:pt x="0" y="0"/>
                </a:moveTo>
                <a:lnTo>
                  <a:pt x="3296360" y="0"/>
                </a:lnTo>
                <a:lnTo>
                  <a:pt x="3296360" y="1604807"/>
                </a:lnTo>
                <a:lnTo>
                  <a:pt x="0" y="160480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70180" t="-562324" r="-366069" b="-13654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D4C8BD-8FAA-5FF2-7857-D1CB8D1BB6EA}"/>
              </a:ext>
            </a:extLst>
          </p:cNvPr>
          <p:cNvSpPr/>
          <p:nvPr/>
        </p:nvSpPr>
        <p:spPr>
          <a:xfrm>
            <a:off x="399700" y="1150138"/>
            <a:ext cx="11361770" cy="3157638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alpha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26839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A30E5-E80D-42FB-ECE9-EF67A09D5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93EECAA7-E91F-D494-073B-366901292495}"/>
              </a:ext>
            </a:extLst>
          </p:cNvPr>
          <p:cNvSpPr>
            <a:spLocks/>
          </p:cNvSpPr>
          <p:nvPr/>
        </p:nvSpPr>
        <p:spPr bwMode="auto">
          <a:xfrm>
            <a:off x="399700" y="1388435"/>
            <a:ext cx="11361770" cy="52245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65506" bIns="0">
            <a:spAutoFit/>
          </a:bodyPr>
          <a:lstStyle/>
          <a:p>
            <a:pPr marL="0" marR="0" indent="0" algn="ctr">
              <a:spcBef>
                <a:spcPts val="0"/>
              </a:spcBef>
              <a:spcAft>
                <a:spcPts val="300"/>
              </a:spcAft>
            </a:pPr>
            <a:r>
              <a:rPr lang="en-US" sz="2400" b="1" kern="105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Times New Roman" panose="02020603050405020304" pitchFamily="18" charset="0"/>
                <a:cs typeface="Times New Roman" panose="02020603050405020304" pitchFamily="18" charset="0"/>
              </a:rPr>
              <a:t>SMILES of molecule?</a:t>
            </a:r>
            <a:endParaRPr lang="en-US" sz="2400" b="1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ctr">
              <a:spcBef>
                <a:spcPts val="0"/>
              </a:spcBef>
              <a:spcAft>
                <a:spcPts val="300"/>
              </a:spcAft>
            </a:pPr>
            <a:endParaRPr lang="en-US" sz="2400" b="1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ctr">
              <a:spcBef>
                <a:spcPts val="0"/>
              </a:spcBef>
              <a:spcAft>
                <a:spcPts val="300"/>
              </a:spcAft>
            </a:pPr>
            <a:endParaRPr lang="en-US" sz="2400" b="1" kern="1050" dirty="0">
              <a:solidFill>
                <a:schemeClr val="tx1">
                  <a:lumMod val="75000"/>
                  <a:lumOff val="25000"/>
                </a:schemeClr>
              </a:solidFill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ctr">
              <a:spcBef>
                <a:spcPts val="0"/>
              </a:spcBef>
              <a:spcAft>
                <a:spcPts val="300"/>
              </a:spcAft>
            </a:pPr>
            <a:endParaRPr lang="en-US" sz="2400" b="1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 algn="ctr">
              <a:spcAft>
                <a:spcPts val="300"/>
              </a:spcAft>
              <a:buAutoNum type="alphaLcParenR"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IBM Plex Mono"/>
                <a:cs typeface="IBM Plex Mono"/>
                <a:sym typeface="IBM Plex Mono"/>
              </a:rPr>
              <a:t>CCS			b) C(S)C			c) SCC</a:t>
            </a:r>
          </a:p>
          <a:p>
            <a:pPr algn="just">
              <a:spcAft>
                <a:spcPts val="300"/>
              </a:spcAft>
            </a:pP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Gill Sans"/>
              <a:ea typeface="IBM Plex Mono"/>
              <a:cs typeface="IBM Plex Mono"/>
              <a:sym typeface="IBM Plex Mono"/>
            </a:endParaRPr>
          </a:p>
          <a:p>
            <a:pPr algn="just">
              <a:spcAft>
                <a:spcPts val="300"/>
              </a:spcAft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IBM Plex Mono"/>
                <a:cs typeface="IBM Plex Mono"/>
                <a:sym typeface="IBM Plex Mono"/>
              </a:rPr>
              <a:t>All are correct, but in a database, will lead to duplicates.</a:t>
            </a:r>
          </a:p>
          <a:p>
            <a:pPr algn="just">
              <a:spcAft>
                <a:spcPts val="300"/>
              </a:spcAft>
            </a:pP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Gill Sans"/>
              <a:ea typeface="IBM Plex Mono"/>
              <a:cs typeface="IBM Plex Mono"/>
              <a:sym typeface="IBM Plex Mono"/>
            </a:endParaRPr>
          </a:p>
          <a:p>
            <a:pPr algn="just">
              <a:spcAft>
                <a:spcPts val="300"/>
              </a:spcAft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IBM Plex Mono"/>
                <a:cs typeface="IBM Plex Mono"/>
                <a:sym typeface="IBM Plex Mono"/>
              </a:rPr>
              <a:t>The canonical SMILES must be obtained to get a </a:t>
            </a:r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IBM Plex Mono"/>
                <a:cs typeface="IBM Plex Mono"/>
                <a:sym typeface="IBM Plex Mono"/>
              </a:rPr>
              <a:t>unique standardized text representation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IBM Plex Mono"/>
                <a:cs typeface="IBM Plex Mono"/>
                <a:sym typeface="IBM Plex Mono"/>
              </a:rPr>
              <a:t> is a) CCS.</a:t>
            </a:r>
          </a:p>
          <a:p>
            <a:pPr algn="just">
              <a:spcAft>
                <a:spcPts val="300"/>
              </a:spcAft>
            </a:pP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Gill Sans"/>
              <a:ea typeface="IBM Plex Mono"/>
              <a:cs typeface="IBM Plex Mono"/>
              <a:sym typeface="IBM Plex Mono"/>
            </a:endParaRPr>
          </a:p>
          <a:p>
            <a:pPr algn="just">
              <a:spcAft>
                <a:spcPts val="300"/>
              </a:spcAft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IBM Plex Mono"/>
                <a:cs typeface="IBM Plex Mono"/>
                <a:sym typeface="IBM Plex Mono"/>
              </a:rPr>
              <a:t>You can check with this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IBM Plex Mono"/>
                <a:cs typeface="IBM Plex Mono"/>
                <a:sym typeface="IBM Plex Mono"/>
                <a:hlinkClick r:id="rId3"/>
              </a:rPr>
              <a:t>tool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"/>
                <a:ea typeface="IBM Plex Mono"/>
                <a:cs typeface="IBM Plex Mono"/>
                <a:sym typeface="IBM Plex Mono"/>
              </a:rPr>
              <a:t>.</a:t>
            </a:r>
          </a:p>
          <a:p>
            <a:pPr marL="0" marR="0" indent="0" algn="just">
              <a:spcBef>
                <a:spcPts val="0"/>
              </a:spcBef>
              <a:spcAft>
                <a:spcPts val="300"/>
              </a:spcAft>
            </a:pPr>
            <a:endParaRPr lang="en-US" sz="2400" kern="105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Gill Sans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5997771-F851-0AA5-ED3E-E11381D10557}"/>
              </a:ext>
            </a:extLst>
          </p:cNvPr>
          <p:cNvCxnSpPr>
            <a:cxnSpLocks/>
          </p:cNvCxnSpPr>
          <p:nvPr/>
        </p:nvCxnSpPr>
        <p:spPr>
          <a:xfrm>
            <a:off x="399700" y="894492"/>
            <a:ext cx="11361770" cy="0"/>
          </a:xfrm>
          <a:prstGeom prst="line">
            <a:avLst/>
          </a:prstGeom>
          <a:ln w="38100">
            <a:solidFill>
              <a:srgbClr val="237194"/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456F3B4E-FC13-F710-932C-F610B6456FC0}"/>
              </a:ext>
            </a:extLst>
          </p:cNvPr>
          <p:cNvSpPr txBox="1">
            <a:spLocks/>
          </p:cNvSpPr>
          <p:nvPr/>
        </p:nvSpPr>
        <p:spPr>
          <a:xfrm>
            <a:off x="284498" y="83955"/>
            <a:ext cx="11616350" cy="738664"/>
          </a:xfrm>
          <a:prstGeom prst="rect">
            <a:avLst/>
          </a:prstGeom>
        </p:spPr>
        <p:txBody>
          <a:bodyPr vert="horz" wrap="square" lIns="91440" tIns="91440" rIns="91440" bIns="91440" rtlCol="0" anchor="b" anchorCtr="0">
            <a:spAutoFit/>
          </a:bodyPr>
          <a:lstStyle>
            <a:lvl1pPr algn="l" defTabSz="699614" rtl="0" eaLnBrk="1" latinLnBrk="0" hangingPunct="1">
              <a:spcBef>
                <a:spcPct val="0"/>
              </a:spcBef>
              <a:buNone/>
              <a:defRPr sz="5400" b="0" i="0" kern="1200">
                <a:solidFill>
                  <a:schemeClr val="tx2"/>
                </a:solidFill>
                <a:latin typeface="Vitesse Light" charset="0"/>
                <a:ea typeface="Vitesse Light" charset="0"/>
                <a:cs typeface="Vitesse Light" charset="0"/>
              </a:defRPr>
            </a:lvl1pPr>
          </a:lstStyle>
          <a:p>
            <a:r>
              <a:rPr lang="es-ES" sz="3600" dirty="0">
                <a:solidFill>
                  <a:schemeClr val="tx1"/>
                </a:solidFill>
              </a:rPr>
              <a:t>Can</a:t>
            </a:r>
            <a:r>
              <a:rPr lang="en-US" sz="3600" dirty="0" err="1">
                <a:solidFill>
                  <a:schemeClr val="tx1"/>
                </a:solidFill>
              </a:rPr>
              <a:t>onical</a:t>
            </a:r>
            <a:r>
              <a:rPr lang="en-US" sz="3600" dirty="0">
                <a:solidFill>
                  <a:schemeClr val="tx1"/>
                </a:solidFill>
              </a:rPr>
              <a:t> SMILES</a:t>
            </a:r>
            <a:endParaRPr lang="es-ES" sz="3600" dirty="0">
              <a:solidFill>
                <a:schemeClr val="tx1"/>
              </a:solidFill>
            </a:endParaRPr>
          </a:p>
        </p:txBody>
      </p:sp>
      <p:pic>
        <p:nvPicPr>
          <p:cNvPr id="6" name="Picture 5" descr="A picture containing arrow&#10;&#10;Description automatically generated">
            <a:extLst>
              <a:ext uri="{FF2B5EF4-FFF2-40B4-BE49-F238E27FC236}">
                <a16:creationId xmlns:a16="http://schemas.microsoft.com/office/drawing/2014/main" id="{559031F8-9AF9-CC19-5756-237F67318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7654" y="13477"/>
            <a:ext cx="1244134" cy="830042"/>
          </a:xfrm>
          <a:prstGeom prst="rect">
            <a:avLst/>
          </a:prstGeom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AFEDDFB7-0486-C427-E697-31A769AB8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1486" y="6443435"/>
            <a:ext cx="783217" cy="338554"/>
          </a:xfrm>
        </p:spPr>
        <p:txBody>
          <a:bodyPr/>
          <a:lstStyle/>
          <a:p>
            <a:fld id="{09A062AA-2C6C-4571-9892-9B3657580B26}" type="slidenum">
              <a:rPr lang="en-US" sz="1400" smtClean="0"/>
              <a:t>16</a:t>
            </a:fld>
            <a:endParaRPr lang="en-US" sz="1400"/>
          </a:p>
        </p:txBody>
      </p:sp>
      <p:pic>
        <p:nvPicPr>
          <p:cNvPr id="9" name="Picture 8" descr="IUI Mixto de Síntesis Química y Catálisis Homogenea (ISQCH) | Universidad  de Zaragoza">
            <a:extLst>
              <a:ext uri="{FF2B5EF4-FFF2-40B4-BE49-F238E27FC236}">
                <a16:creationId xmlns:a16="http://schemas.microsoft.com/office/drawing/2014/main" id="{52896C7B-3555-A599-D929-D0DAEAA20A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035" y="178961"/>
            <a:ext cx="1744679" cy="589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Freeform 31">
            <a:extLst>
              <a:ext uri="{FF2B5EF4-FFF2-40B4-BE49-F238E27FC236}">
                <a16:creationId xmlns:a16="http://schemas.microsoft.com/office/drawing/2014/main" id="{C1125EA2-8FB8-1C63-BF73-0BD6D998BBA1}"/>
              </a:ext>
            </a:extLst>
          </p:cNvPr>
          <p:cNvSpPr>
            <a:spLocks noChangeAspect="1"/>
          </p:cNvSpPr>
          <p:nvPr/>
        </p:nvSpPr>
        <p:spPr>
          <a:xfrm>
            <a:off x="5114822" y="1656578"/>
            <a:ext cx="2346967" cy="1142602"/>
          </a:xfrm>
          <a:custGeom>
            <a:avLst/>
            <a:gdLst/>
            <a:ahLst/>
            <a:cxnLst/>
            <a:rect l="l" t="t" r="r" b="b"/>
            <a:pathLst>
              <a:path w="3296360" h="1604807">
                <a:moveTo>
                  <a:pt x="0" y="0"/>
                </a:moveTo>
                <a:lnTo>
                  <a:pt x="3296360" y="0"/>
                </a:lnTo>
                <a:lnTo>
                  <a:pt x="3296360" y="1604807"/>
                </a:lnTo>
                <a:lnTo>
                  <a:pt x="0" y="160480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0180" t="-562324" r="-366069" b="-13654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3E2A43-3FAC-9C4A-6706-F14D3EBD9E29}"/>
              </a:ext>
            </a:extLst>
          </p:cNvPr>
          <p:cNvSpPr/>
          <p:nvPr/>
        </p:nvSpPr>
        <p:spPr>
          <a:xfrm>
            <a:off x="399700" y="1261962"/>
            <a:ext cx="11361770" cy="4473698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alpha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6581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3210</TotalTime>
  <Words>556</Words>
  <Application>Microsoft Office PowerPoint</Application>
  <PresentationFormat>Widescreen</PresentationFormat>
  <Paragraphs>127</Paragraphs>
  <Slides>16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Gill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jvalegre</dc:creator>
  <cp:lastModifiedBy>Juan Vicente Alegre Requena</cp:lastModifiedBy>
  <cp:revision>963</cp:revision>
  <dcterms:created xsi:type="dcterms:W3CDTF">2023-06-21T09:49:49Z</dcterms:created>
  <dcterms:modified xsi:type="dcterms:W3CDTF">2026-05-11T10:25:03Z</dcterms:modified>
</cp:coreProperties>
</file>