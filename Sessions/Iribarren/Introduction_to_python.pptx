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1129" r:id="rId3"/>
    <p:sldId id="1124" r:id="rId4"/>
    <p:sldId id="1130" r:id="rId5"/>
    <p:sldId id="1125" r:id="rId6"/>
    <p:sldId id="1131" r:id="rId7"/>
    <p:sldId id="1128" r:id="rId8"/>
    <p:sldId id="1127" r:id="rId9"/>
    <p:sldId id="1134" r:id="rId10"/>
    <p:sldId id="1133" r:id="rId11"/>
    <p:sldId id="1132" r:id="rId12"/>
    <p:sldId id="1140" r:id="rId13"/>
    <p:sldId id="1139" r:id="rId14"/>
    <p:sldId id="1138" r:id="rId15"/>
    <p:sldId id="1137" r:id="rId16"/>
    <p:sldId id="1136" r:id="rId17"/>
    <p:sldId id="11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194"/>
    <a:srgbClr val="40C040"/>
    <a:srgbClr val="339933"/>
    <a:srgbClr val="BEA698"/>
    <a:srgbClr val="826251"/>
    <a:srgbClr val="FDD7A5"/>
    <a:srgbClr val="FF7F0E"/>
    <a:srgbClr val="A0D9E4"/>
    <a:srgbClr val="68C3D4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1AF5-2077-4BA1-B113-2310F8AFC2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82E02-BE67-4161-A544-735639CA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FEDF-4E64-345E-AB62-B3B4C3C3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F668F-4D49-BEC6-DE7C-3E869E4C3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BBD0C-4663-05EE-0B83-C11FA3EE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2CCF-237E-83F8-B005-64F5214B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B476C-6E96-DD45-2402-1F3F7AC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1E64-873A-F2AD-8994-87C8CBD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7738-D6CD-4FE9-21DC-9002E943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65BA-1C07-4CA3-BEA6-DF7BA250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666A9-47FC-92AC-3D31-81DDD66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A462-15CD-C29C-E9C6-B1D956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848-2DED-2C41-E3E5-3B62EFE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583DC-4676-E553-60FF-66EA0889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E372-058D-562A-84B7-4419FA66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8AE9-8941-F00C-07BD-FD96501D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D62E-2C63-1145-4574-BB2722CB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7F5A-E538-B3CD-CF09-91561668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A79E-6161-6672-29A8-EC3C973AB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B898-5571-7270-3233-154A5865F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AFF83-BD61-AB1C-8C60-56029E96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86F6-8EE4-DB9B-D695-2BABE749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F7A8-A7F3-7042-C169-CCFFB06E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787-421D-742A-F54E-DA803BEA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EB2A1-3672-84FD-20EB-D83F5B7E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62D6D-8D88-C374-2F67-ADCB2BB8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DB75-1F9E-F53E-508C-BCE9B378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F1EFE-EC88-4821-35D1-3407704E5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E025-767D-7906-E6C6-4602AA6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C0F4C-CAE9-141D-0786-18FD7A0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A92E7-DEE4-4A74-892A-04ED10FF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4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2D4D-8A8A-D7B1-CBE0-BF7770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7319B-B47D-7A08-2F8C-E7EB1E8D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6DD35-3499-7039-923A-D0896FEC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48622-66E6-191B-1055-1D41143F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26E8E-E7BA-8B1D-6E80-B365CF6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36EBD-6204-65B4-1215-D1E79729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6FFC-1A90-2A23-9852-B364E823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233-DCC5-AF65-EE61-9E909FE9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B15B-37C3-7912-25DA-F47A1729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6F9B-4EA1-435B-6259-16F6C65B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394C-4E2C-C28B-E4BE-B68AF5B8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F3B6-E364-8138-3149-EC06151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C2979-B81B-BE1F-F5EC-9891334A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6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6B83-7426-D5F9-9D77-F7FE2A4C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69F1C-5711-FEA7-460E-558F05E75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69A31-C776-1CFE-0628-85455C5B2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505B0-AC3F-D67C-E9F6-8B42B47E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662D-3839-D918-F502-456F0294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57953-DB77-5DAF-1FDE-2157760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7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5EF6-1A03-E077-5421-EA6D0113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D6B2-3D95-3D77-E588-3642905EF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8059-EE05-C8EF-611C-8AE03E9F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9D03-F220-8DA1-9752-70D59D89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C519-9006-853C-9114-A194FB73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2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39F53-5EF9-330F-C790-33D876D1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94974-3B66-9295-234A-3017DF34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107D8-2EC0-DAEF-7FFA-CF9338D4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FBEF-88CE-42B1-779C-F8C8B60D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E6F-A31C-7113-4656-B135E3F8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19A77-428C-CA5F-A609-10144762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34FDC-52EE-F578-5882-91F9B0B16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487C-3F15-30BE-6046-30E72900D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E1F9-83F8-4EE8-BA17-07AD2975257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C16A-EE89-EC75-5A37-DF77F16F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1131-F98E-F9B3-BCB0-6E3FE79C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5FF854-1024-C381-AEE0-126931EE51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157228C-0CF7-471A-6DB4-679BDC043B1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AI workshop</a:t>
            </a:r>
            <a:endParaRPr lang="en-US" sz="3600" baseline="300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4A076C-4020-499F-F6D5-05042578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3A1941D-2C73-70D5-34E3-9CB427DCE40F}"/>
              </a:ext>
            </a:extLst>
          </p:cNvPr>
          <p:cNvSpPr txBox="1">
            <a:spLocks/>
          </p:cNvSpPr>
          <p:nvPr/>
        </p:nvSpPr>
        <p:spPr>
          <a:xfrm>
            <a:off x="280626" y="2228671"/>
            <a:ext cx="11100819" cy="2400657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</a:rPr>
              <a:t>Introduction to Python</a:t>
            </a:r>
          </a:p>
          <a:p>
            <a:pPr algn="ctr"/>
            <a:endParaRPr lang="en-US" sz="40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Itzel Muro Puente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May 13</a:t>
            </a:r>
            <a:r>
              <a:rPr lang="en-US" sz="2800" baseline="30000" dirty="0">
                <a:solidFill>
                  <a:schemeClr val="tx1"/>
                </a:solidFill>
              </a:rPr>
              <a:t>th</a:t>
            </a:r>
            <a:r>
              <a:rPr lang="en-US" sz="2800" dirty="0">
                <a:solidFill>
                  <a:schemeClr val="tx1"/>
                </a:solidFill>
              </a:rPr>
              <a:t>, 2026</a:t>
            </a:r>
          </a:p>
        </p:txBody>
      </p:sp>
      <p:pic>
        <p:nvPicPr>
          <p:cNvPr id="3" name="Picture 2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0F39FD7-3E82-0F6A-4ACC-8A28505E8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549F3C-C0D0-9DF9-94A6-955F875E2663}"/>
              </a:ext>
            </a:extLst>
          </p:cNvPr>
          <p:cNvSpPr/>
          <p:nvPr/>
        </p:nvSpPr>
        <p:spPr>
          <a:xfrm>
            <a:off x="0" y="5741171"/>
            <a:ext cx="12192000" cy="1168979"/>
          </a:xfrm>
          <a:prstGeom prst="rect">
            <a:avLst/>
          </a:prstGeom>
          <a:solidFill>
            <a:srgbClr val="237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Imagen 5">
            <a:extLst>
              <a:ext uri="{FF2B5EF4-FFF2-40B4-BE49-F238E27FC236}">
                <a16:creationId xmlns:a16="http://schemas.microsoft.com/office/drawing/2014/main" id="{C75F6C1C-53D8-3ACD-9301-F34408D980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7" r="1609"/>
          <a:stretch>
            <a:fillRect/>
          </a:stretch>
        </p:blipFill>
        <p:spPr>
          <a:xfrm>
            <a:off x="-2069348" y="19499512"/>
            <a:ext cx="19710434" cy="245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1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C6D7-2E5C-21A6-9CB0-0F933354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46D74C-368D-BDD0-48F8-215E5E20F77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B48E208-70E5-4AE1-64D0-D5E25FC5B24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Python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D20ECAAF-E9D6-DF92-5FC3-E9A752BFE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E9C96A0-C2A1-4780-3DF8-A89605E8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E619D2E-9BC2-3CED-222E-1DC43FDC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0B56C452-7B9C-A8B8-A875-4620586C8B72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2269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Easy to interpret and high-level object-oriented programming language with easy-to-read syntax.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96B818A0-AEDF-5265-C2AE-DFB24E954505}"/>
              </a:ext>
            </a:extLst>
          </p:cNvPr>
          <p:cNvGrpSpPr>
            <a:grpSpLocks noChangeAspect="1"/>
          </p:cNvGrpSpPr>
          <p:nvPr/>
        </p:nvGrpSpPr>
        <p:grpSpPr>
          <a:xfrm>
            <a:off x="8404167" y="3433591"/>
            <a:ext cx="1691674" cy="1617270"/>
            <a:chOff x="0" y="0"/>
            <a:chExt cx="729766" cy="697669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CB1A2911-ABFF-BC07-762E-7EA5CCAC149E}"/>
                </a:ext>
              </a:extLst>
            </p:cNvPr>
            <p:cNvSpPr/>
            <p:nvPr/>
          </p:nvSpPr>
          <p:spPr>
            <a:xfrm>
              <a:off x="0" y="0"/>
              <a:ext cx="729766" cy="697669"/>
            </a:xfrm>
            <a:custGeom>
              <a:avLst/>
              <a:gdLst/>
              <a:ahLst/>
              <a:cxnLst/>
              <a:rect l="l" t="t" r="r" b="b"/>
              <a:pathLst>
                <a:path w="729766" h="697669">
                  <a:moveTo>
                    <a:pt x="32322" y="0"/>
                  </a:moveTo>
                  <a:lnTo>
                    <a:pt x="697443" y="0"/>
                  </a:lnTo>
                  <a:cubicBezTo>
                    <a:pt x="706016" y="0"/>
                    <a:pt x="714237" y="3405"/>
                    <a:pt x="720299" y="9467"/>
                  </a:cubicBezTo>
                  <a:cubicBezTo>
                    <a:pt x="726360" y="15529"/>
                    <a:pt x="729766" y="23750"/>
                    <a:pt x="729766" y="32322"/>
                  </a:cubicBezTo>
                  <a:lnTo>
                    <a:pt x="729766" y="665346"/>
                  </a:lnTo>
                  <a:cubicBezTo>
                    <a:pt x="729766" y="673919"/>
                    <a:pt x="726360" y="682140"/>
                    <a:pt x="720299" y="688202"/>
                  </a:cubicBezTo>
                  <a:cubicBezTo>
                    <a:pt x="714237" y="694263"/>
                    <a:pt x="706016" y="697669"/>
                    <a:pt x="697443" y="697669"/>
                  </a:cubicBezTo>
                  <a:lnTo>
                    <a:pt x="32322" y="697669"/>
                  </a:lnTo>
                  <a:cubicBezTo>
                    <a:pt x="23750" y="697669"/>
                    <a:pt x="15529" y="694263"/>
                    <a:pt x="9467" y="688202"/>
                  </a:cubicBezTo>
                  <a:cubicBezTo>
                    <a:pt x="3405" y="682140"/>
                    <a:pt x="0" y="673919"/>
                    <a:pt x="0" y="665346"/>
                  </a:cubicBezTo>
                  <a:lnTo>
                    <a:pt x="0" y="32322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2" y="0"/>
                  </a:cubicBezTo>
                  <a:close/>
                </a:path>
              </a:pathLst>
            </a:custGeom>
            <a:blipFill>
              <a:blip r:embed="rId4"/>
              <a:stretch>
                <a:fillRect t="-2300" b="-23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507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A5B7-6D98-155E-BE72-0D3900B3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FF1642-F792-8EBE-16AA-CC2D25F93E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C78CA60-6508-7996-5784-7C4367133CB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Python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EFAD176-015D-A5E8-4636-E8AC940A1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7C4DD51-D30D-6B76-A26D-04B860E7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1AD0C0C-E844-1DF1-68BB-4DBC9950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F5D4D516-566D-8C5C-719A-6AEEDD8BDD0B}"/>
              </a:ext>
            </a:extLst>
          </p:cNvPr>
          <p:cNvSpPr>
            <a:spLocks/>
          </p:cNvSpPr>
          <p:nvPr/>
        </p:nvSpPr>
        <p:spPr bwMode="auto">
          <a:xfrm>
            <a:off x="399700" y="1388435"/>
            <a:ext cx="11361770" cy="2269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Easy to interpret and high-level object-oriented programming language with easy-to-read syntax.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8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BD7A4-6FA7-C8F4-EB27-394F37AD2676}"/>
              </a:ext>
            </a:extLst>
          </p:cNvPr>
          <p:cNvSpPr txBox="1"/>
          <p:nvPr/>
        </p:nvSpPr>
        <p:spPr>
          <a:xfrm>
            <a:off x="399700" y="3679230"/>
            <a:ext cx="110983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 Bold"/>
                <a:cs typeface="IBM Plex Mono Bold"/>
                <a:sym typeface="IBM Plex Mono Bold"/>
              </a:rPr>
              <a:t>Why Python?</a:t>
            </a:r>
          </a:p>
          <a:p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 Bold"/>
              <a:cs typeface="IBM Plex Mono Bold"/>
              <a:sym typeface="IBM Plex Mono Bold"/>
            </a:endParaRPr>
          </a:p>
          <a:p>
            <a:pPr marL="478849" lvl="1" indent="-239425">
              <a:buClr>
                <a:srgbClr val="FF7F0E"/>
              </a:buClr>
              <a:buFont typeface="Arial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Simplicity</a:t>
            </a:r>
          </a:p>
          <a:p>
            <a:pPr marL="478849" lvl="1" indent="-239425">
              <a:buClr>
                <a:srgbClr val="FF7F0E"/>
              </a:buClr>
              <a:buFont typeface="Arial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Easy interface</a:t>
            </a:r>
          </a:p>
          <a:p>
            <a:pPr marL="478849" lvl="1" indent="-239425">
              <a:buClr>
                <a:srgbClr val="FF7F0E"/>
              </a:buClr>
              <a:buFont typeface="Arial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"/>
                <a:ea typeface="IBM Plex Mono"/>
                <a:cs typeface="IBM Plex Mono"/>
                <a:sym typeface="IBM Plex Mono"/>
              </a:rPr>
              <a:t>Big toolkit available (modules/packages)</a:t>
            </a:r>
          </a:p>
          <a:p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Gill Sans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14C51ABC-2017-1D2B-9028-377418481542}"/>
              </a:ext>
            </a:extLst>
          </p:cNvPr>
          <p:cNvGrpSpPr>
            <a:grpSpLocks noChangeAspect="1"/>
          </p:cNvGrpSpPr>
          <p:nvPr/>
        </p:nvGrpSpPr>
        <p:grpSpPr>
          <a:xfrm>
            <a:off x="8404167" y="3433591"/>
            <a:ext cx="1691674" cy="1617270"/>
            <a:chOff x="0" y="0"/>
            <a:chExt cx="729766" cy="697669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384369BB-34C7-6773-D226-B35783B6FADB}"/>
                </a:ext>
              </a:extLst>
            </p:cNvPr>
            <p:cNvSpPr/>
            <p:nvPr/>
          </p:nvSpPr>
          <p:spPr>
            <a:xfrm>
              <a:off x="0" y="0"/>
              <a:ext cx="729766" cy="697669"/>
            </a:xfrm>
            <a:custGeom>
              <a:avLst/>
              <a:gdLst/>
              <a:ahLst/>
              <a:cxnLst/>
              <a:rect l="l" t="t" r="r" b="b"/>
              <a:pathLst>
                <a:path w="729766" h="697669">
                  <a:moveTo>
                    <a:pt x="32322" y="0"/>
                  </a:moveTo>
                  <a:lnTo>
                    <a:pt x="697443" y="0"/>
                  </a:lnTo>
                  <a:cubicBezTo>
                    <a:pt x="706016" y="0"/>
                    <a:pt x="714237" y="3405"/>
                    <a:pt x="720299" y="9467"/>
                  </a:cubicBezTo>
                  <a:cubicBezTo>
                    <a:pt x="726360" y="15529"/>
                    <a:pt x="729766" y="23750"/>
                    <a:pt x="729766" y="32322"/>
                  </a:cubicBezTo>
                  <a:lnTo>
                    <a:pt x="729766" y="665346"/>
                  </a:lnTo>
                  <a:cubicBezTo>
                    <a:pt x="729766" y="673919"/>
                    <a:pt x="726360" y="682140"/>
                    <a:pt x="720299" y="688202"/>
                  </a:cubicBezTo>
                  <a:cubicBezTo>
                    <a:pt x="714237" y="694263"/>
                    <a:pt x="706016" y="697669"/>
                    <a:pt x="697443" y="697669"/>
                  </a:cubicBezTo>
                  <a:lnTo>
                    <a:pt x="32322" y="697669"/>
                  </a:lnTo>
                  <a:cubicBezTo>
                    <a:pt x="23750" y="697669"/>
                    <a:pt x="15529" y="694263"/>
                    <a:pt x="9467" y="688202"/>
                  </a:cubicBezTo>
                  <a:cubicBezTo>
                    <a:pt x="3405" y="682140"/>
                    <a:pt x="0" y="673919"/>
                    <a:pt x="0" y="665346"/>
                  </a:cubicBezTo>
                  <a:lnTo>
                    <a:pt x="0" y="32322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2" y="0"/>
                  </a:cubicBezTo>
                  <a:close/>
                </a:path>
              </a:pathLst>
            </a:custGeom>
            <a:blipFill>
              <a:blip r:embed="rId4"/>
              <a:stretch>
                <a:fillRect t="-2300" b="-23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00DD695-2D45-D7A7-0598-3B8A131DF464}"/>
              </a:ext>
            </a:extLst>
          </p:cNvPr>
          <p:cNvSpPr/>
          <p:nvPr/>
        </p:nvSpPr>
        <p:spPr>
          <a:xfrm>
            <a:off x="284498" y="1216152"/>
            <a:ext cx="11507802" cy="203910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6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4514-57C4-8F5C-CC5A-27B8FA01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A48755-81CB-370A-1B52-007DAE9B658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8F7EF11-4272-3B0C-6BBB-FE9CBCEB9C6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What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is</a:t>
            </a:r>
            <a:r>
              <a:rPr lang="es-ES" sz="3600" dirty="0">
                <a:solidFill>
                  <a:schemeClr val="tx1"/>
                </a:solidFill>
              </a:rPr>
              <a:t> a module?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8E826A02-38A1-C9F6-6D65-43E115D9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E36C054-8682-FB75-62C0-4AC2FD95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A7283A0-48E7-BD40-0E29-390B3493D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C5C1E850-756D-75FF-DC33-23A364B67232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module is a python file that contains code that define functions, classes and variables.</a:t>
            </a:r>
          </a:p>
        </p:txBody>
      </p:sp>
    </p:spTree>
    <p:extLst>
      <p:ext uri="{BB962C8B-B14F-4D97-AF65-F5344CB8AC3E}">
        <p14:creationId xmlns:p14="http://schemas.microsoft.com/office/powerpoint/2010/main" val="89858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794C-1E03-0B85-03DE-BF3E81CC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5EF3FF-4220-7F18-CB44-49DC80ADB269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69BD61D-A815-95E3-2D8A-1FB573003AC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>
                <a:solidFill>
                  <a:schemeClr val="tx1"/>
                </a:solidFill>
              </a:rPr>
              <a:t>What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is</a:t>
            </a:r>
            <a:r>
              <a:rPr lang="es-ES" sz="3600" dirty="0">
                <a:solidFill>
                  <a:schemeClr val="tx1"/>
                </a:solidFill>
              </a:rPr>
              <a:t> a module?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AA2DA86E-2EC0-C421-429F-459EA1DCD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787F315-AD41-FE84-2576-C92C98C1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80849314-F8FD-3044-C401-B5766EFB7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8BEB000B-CE75-C4E9-D4DC-5CCF731D1B3E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8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module is a python file that contains code that define functions, classes and variables.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96AAF-68CA-8C35-297A-AECEA5881792}"/>
              </a:ext>
            </a:extLst>
          </p:cNvPr>
          <p:cNvSpPr/>
          <p:nvPr/>
        </p:nvSpPr>
        <p:spPr>
          <a:xfrm>
            <a:off x="284498" y="1216152"/>
            <a:ext cx="11907502" cy="103405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7808DB8C-6880-1D00-B386-4E3EA4858262}"/>
              </a:ext>
            </a:extLst>
          </p:cNvPr>
          <p:cNvSpPr>
            <a:spLocks noChangeAspect="1"/>
          </p:cNvSpPr>
          <p:nvPr/>
        </p:nvSpPr>
        <p:spPr>
          <a:xfrm>
            <a:off x="2815141" y="1898623"/>
            <a:ext cx="6530887" cy="4544812"/>
          </a:xfrm>
          <a:custGeom>
            <a:avLst/>
            <a:gdLst/>
            <a:ahLst/>
            <a:cxnLst/>
            <a:rect l="l" t="t" r="r" b="b"/>
            <a:pathLst>
              <a:path w="9464563" h="6586343">
                <a:moveTo>
                  <a:pt x="0" y="0"/>
                </a:moveTo>
                <a:lnTo>
                  <a:pt x="9464563" y="0"/>
                </a:lnTo>
                <a:lnTo>
                  <a:pt x="9464563" y="6586342"/>
                </a:lnTo>
                <a:lnTo>
                  <a:pt x="0" y="6586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46" t="-11146" r="-11798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9ED2-3A9B-9980-D74E-2AACDAAC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AE2330-9ECD-35B9-A57B-6759299D35F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A71B4E3-D0E2-5DB9-A1B0-E5192B697338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Common </a:t>
            </a:r>
            <a:r>
              <a:rPr lang="es-ES" sz="3600" dirty="0" err="1">
                <a:solidFill>
                  <a:schemeClr val="tx1"/>
                </a:solidFill>
              </a:rPr>
              <a:t>scientific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packages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FD9A637-7035-AB38-EEB1-CC7245ED5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825A4E-E415-493A-75A0-ED484D9F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649A619-DB69-9065-293E-EF1A7ED42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77DF4BAF-08D2-2130-F478-49FA124F3881}"/>
              </a:ext>
            </a:extLst>
          </p:cNvPr>
          <p:cNvSpPr/>
          <p:nvPr/>
        </p:nvSpPr>
        <p:spPr>
          <a:xfrm>
            <a:off x="399700" y="1599540"/>
            <a:ext cx="3420000" cy="4363968"/>
          </a:xfrm>
          <a:prstGeom prst="round2DiagRect">
            <a:avLst/>
          </a:prstGeom>
          <a:solidFill>
            <a:srgbClr val="A0D9E4"/>
          </a:solidFill>
          <a:ln w="76200">
            <a:solidFill>
              <a:srgbClr val="68C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Basics</a:t>
            </a:r>
            <a:endParaRPr lang="en-US" sz="2000" b="1" dirty="0">
              <a:solidFill>
                <a:schemeClr val="tx1"/>
              </a:solidFill>
              <a:latin typeface="Gill Sans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NumPy (array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Pandas (tabular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Matplotlib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Seaborn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9833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9378E-E540-8CB7-CBFC-A33413FA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E894FB-647D-1B10-71D3-02A68B8F97B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DC55B85-3539-808E-75B7-351A35BA2AFA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Common </a:t>
            </a:r>
            <a:r>
              <a:rPr lang="es-ES" sz="3600" dirty="0" err="1">
                <a:solidFill>
                  <a:schemeClr val="tx1"/>
                </a:solidFill>
              </a:rPr>
              <a:t>scientific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packages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70E727C-73A0-5B34-0D29-0138C768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73A5430-A1B0-58D1-722E-DA32DAD8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743F99B-A418-59A1-0F3F-9CD6A1DEB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85938DBA-F0FC-4692-88B8-2FC8B8B4B715}"/>
              </a:ext>
            </a:extLst>
          </p:cNvPr>
          <p:cNvSpPr/>
          <p:nvPr/>
        </p:nvSpPr>
        <p:spPr>
          <a:xfrm>
            <a:off x="399700" y="1599540"/>
            <a:ext cx="3420000" cy="4363968"/>
          </a:xfrm>
          <a:prstGeom prst="round2DiagRect">
            <a:avLst/>
          </a:prstGeom>
          <a:solidFill>
            <a:srgbClr val="A0D9E4"/>
          </a:solidFill>
          <a:ln w="76200">
            <a:solidFill>
              <a:srgbClr val="68C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Basics</a:t>
            </a:r>
            <a:endParaRPr lang="en-US" sz="2000" b="1" dirty="0">
              <a:solidFill>
                <a:schemeClr val="tx1"/>
              </a:solidFill>
              <a:latin typeface="Gill Sans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NumPy (array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Pandas (tabular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Matplotlib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Seaborn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B84CFC7F-706D-EEEE-01CA-2D8F0921F7F4}"/>
              </a:ext>
            </a:extLst>
          </p:cNvPr>
          <p:cNvSpPr/>
          <p:nvPr/>
        </p:nvSpPr>
        <p:spPr>
          <a:xfrm>
            <a:off x="4382673" y="1599540"/>
            <a:ext cx="3420000" cy="4363968"/>
          </a:xfrm>
          <a:prstGeom prst="round2DiagRect">
            <a:avLst/>
          </a:prstGeom>
          <a:solidFill>
            <a:srgbClr val="FDD7A5"/>
          </a:solidFill>
          <a:ln w="76200">
            <a:solidFill>
              <a:srgbClr val="FF7F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Chemistry</a:t>
            </a:r>
            <a:endParaRPr lang="en-US" sz="2000" b="1" dirty="0">
              <a:solidFill>
                <a:schemeClr val="tx1"/>
              </a:solidFill>
              <a:latin typeface="Gill Sans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RDKit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(cheminformatics and 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Open Babel (conversion of chemical file formats)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PyMOL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(molecular graphics tool)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ChemPy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(physical chemistry)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E85A0E-7490-ABDE-7C38-2CB04B4B8500}"/>
              </a:ext>
            </a:extLst>
          </p:cNvPr>
          <p:cNvSpPr/>
          <p:nvPr/>
        </p:nvSpPr>
        <p:spPr>
          <a:xfrm>
            <a:off x="284499" y="1302545"/>
            <a:ext cx="3716002" cy="5022053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1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D7E0-F2F5-F5AB-EF90-81522B0E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A48136-0618-051F-FCD2-3325BF6D777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3B6226B-511F-05A9-DDC5-D0172EC5AB4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Common </a:t>
            </a:r>
            <a:r>
              <a:rPr lang="es-ES" sz="3600" dirty="0" err="1">
                <a:solidFill>
                  <a:schemeClr val="tx1"/>
                </a:solidFill>
              </a:rPr>
              <a:t>scientific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packages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25C0DF9-D43E-FFC2-DA58-67C8920B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04DB5C6-6B1F-C720-F528-C1EC4417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9F2F9640-80C1-8F08-F231-6AEC8200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35E57088-36B6-9100-0AEB-250DE6B0D34D}"/>
              </a:ext>
            </a:extLst>
          </p:cNvPr>
          <p:cNvSpPr/>
          <p:nvPr/>
        </p:nvSpPr>
        <p:spPr>
          <a:xfrm>
            <a:off x="399700" y="1599540"/>
            <a:ext cx="3420000" cy="4363968"/>
          </a:xfrm>
          <a:prstGeom prst="round2DiagRect">
            <a:avLst/>
          </a:prstGeom>
          <a:solidFill>
            <a:srgbClr val="A0D9E4"/>
          </a:solidFill>
          <a:ln w="76200">
            <a:solidFill>
              <a:srgbClr val="68C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Basics</a:t>
            </a:r>
            <a:endParaRPr lang="en-US" sz="2000" b="1" dirty="0">
              <a:solidFill>
                <a:schemeClr val="tx1"/>
              </a:solidFill>
              <a:latin typeface="Gill Sans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NumPy (array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Pandas (tabular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Matplotlib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Seaborn (data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84FED6BA-F26A-FC91-3443-E4FBBB7BE490}"/>
              </a:ext>
            </a:extLst>
          </p:cNvPr>
          <p:cNvSpPr/>
          <p:nvPr/>
        </p:nvSpPr>
        <p:spPr>
          <a:xfrm>
            <a:off x="4382673" y="1599540"/>
            <a:ext cx="3420000" cy="4363968"/>
          </a:xfrm>
          <a:prstGeom prst="round2DiagRect">
            <a:avLst/>
          </a:prstGeom>
          <a:solidFill>
            <a:srgbClr val="FDD7A5"/>
          </a:solidFill>
          <a:ln w="76200">
            <a:solidFill>
              <a:srgbClr val="FF7F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Chemistry</a:t>
            </a:r>
            <a:endParaRPr lang="en-US" sz="2000" b="1" dirty="0">
              <a:solidFill>
                <a:schemeClr val="tx1"/>
              </a:solidFill>
              <a:latin typeface="Gill Sans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RDKit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(cheminformatics and 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Open Babel (conversion of chemical file formats)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PyMOL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(molecular graphics tool)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  <a:latin typeface="Gill Sans"/>
              </a:rPr>
              <a:t>ChemPy</a:t>
            </a:r>
            <a:r>
              <a:rPr lang="en-US" sz="2100" dirty="0">
                <a:solidFill>
                  <a:schemeClr val="tx1"/>
                </a:solidFill>
                <a:latin typeface="Gill Sans"/>
              </a:rPr>
              <a:t> (physical chemistry)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7C129E23-76B4-7795-CA2A-AF2A3D6EC37F}"/>
              </a:ext>
            </a:extLst>
          </p:cNvPr>
          <p:cNvSpPr/>
          <p:nvPr/>
        </p:nvSpPr>
        <p:spPr>
          <a:xfrm>
            <a:off x="8341470" y="1599540"/>
            <a:ext cx="3420000" cy="4363968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ill Sans"/>
              </a:rPr>
              <a:t>Machine Learning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TensorFlow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  <a:latin typeface="Gill Sans"/>
              </a:rPr>
              <a:t>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ill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4D680-8A5E-6FB3-C61B-7C72B513B5F3}"/>
              </a:ext>
            </a:extLst>
          </p:cNvPr>
          <p:cNvSpPr/>
          <p:nvPr/>
        </p:nvSpPr>
        <p:spPr>
          <a:xfrm>
            <a:off x="284498" y="1302545"/>
            <a:ext cx="7649827" cy="5022053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8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ADE0-65AD-9DCC-8EA9-4D8438AE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89ABCF-7A2C-ABB6-6EC8-592A4D1EBD0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4103BA8-72EF-E44A-1251-519D3F39CC0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AA818CA-D269-C1D4-1788-316E44F27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6BDF4E4-264D-3CD3-788A-84A3303A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94ADDDF-EC3D-3608-4820-1469AAD70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0375022D-7D41-3AFC-BAD0-054FC815DD5C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virtual environment is an isolated directory tree that contains a specific Python version and its own libraries/packages.</a:t>
            </a:r>
          </a:p>
        </p:txBody>
      </p:sp>
    </p:spTree>
    <p:extLst>
      <p:ext uri="{BB962C8B-B14F-4D97-AF65-F5344CB8AC3E}">
        <p14:creationId xmlns:p14="http://schemas.microsoft.com/office/powerpoint/2010/main" val="773012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E8303-C93B-47B5-09DC-A1BA97EE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FA2F77-175F-9499-3EA3-58CA3E982E5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C3791DF-CB05-20F0-0BBD-C184337EF86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38F6618D-C3DB-35F0-FD0A-65485813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93CBF43-7139-3336-3CEF-45C23763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2333EBC-B18B-1D61-0564-1A7373CF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0C94C1D9-FD6F-4588-1BA8-2B07DD6182B6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virtual environment is an isolated directory tree that contains a specific Python version and its own libraries/packages.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Mainly used:</a:t>
            </a:r>
          </a:p>
          <a:p>
            <a:pPr marL="342900" marR="0" indent="-342900" algn="just">
              <a:spcBef>
                <a:spcPts val="0"/>
              </a:spcBef>
              <a:spcAft>
                <a:spcPts val="300"/>
              </a:spcAft>
              <a:buClr>
                <a:srgbClr val="FF7F0E"/>
              </a:buClr>
              <a:buFont typeface="Arial" panose="020B0604020202020204" pitchFamily="34" charset="0"/>
              <a:buChar char="•"/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to avoid dependency conflicts</a:t>
            </a:r>
          </a:p>
          <a:p>
            <a:pPr marL="342900" marR="0" indent="-342900" algn="just">
              <a:spcBef>
                <a:spcPts val="0"/>
              </a:spcBef>
              <a:spcAft>
                <a:spcPts val="300"/>
              </a:spcAft>
              <a:buClr>
                <a:srgbClr val="FF7F0E"/>
              </a:buClr>
              <a:buFont typeface="Arial" panose="020B0604020202020204" pitchFamily="34" charset="0"/>
              <a:buChar char="•"/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for reproducibility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523D8-6AA4-C956-1219-29C205978E7B}"/>
              </a:ext>
            </a:extLst>
          </p:cNvPr>
          <p:cNvSpPr/>
          <p:nvPr/>
        </p:nvSpPr>
        <p:spPr>
          <a:xfrm>
            <a:off x="284498" y="1302545"/>
            <a:ext cx="11747290" cy="830035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00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96E4-1088-18DF-23F4-AD906431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7724C3-E22E-B577-7F04-45C80DBD604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78E74A5-A974-A5E5-FAED-362E06E21A9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environments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8D64F55-11DF-7F26-E8C4-16180239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1AFB961-5796-1622-62F4-FE3A9F8E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65CD3D86-618D-26DC-652B-13248D53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048A6948-4553-BBCC-B0C3-5B1B4627A803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 virtual environment is an isolated directory tree that contains a specific Python version and its own libraries/packages.</a:t>
            </a: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Mainly used:</a:t>
            </a:r>
          </a:p>
          <a:p>
            <a:pPr marL="342900" marR="0" indent="-342900" algn="just">
              <a:spcBef>
                <a:spcPts val="0"/>
              </a:spcBef>
              <a:spcAft>
                <a:spcPts val="300"/>
              </a:spcAft>
              <a:buClr>
                <a:srgbClr val="FF7F0E"/>
              </a:buClr>
              <a:buFont typeface="Arial" panose="020B0604020202020204" pitchFamily="34" charset="0"/>
              <a:buChar char="•"/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to avoid dependency conflicts</a:t>
            </a:r>
          </a:p>
          <a:p>
            <a:pPr marL="342900" marR="0" indent="-342900" algn="just">
              <a:spcBef>
                <a:spcPts val="0"/>
              </a:spcBef>
              <a:spcAft>
                <a:spcPts val="300"/>
              </a:spcAft>
              <a:buClr>
                <a:srgbClr val="FF7F0E"/>
              </a:buClr>
              <a:buFont typeface="Arial" panose="020B0604020202020204" pitchFamily="34" charset="0"/>
              <a:buChar char="•"/>
            </a:pPr>
            <a:r>
              <a:rPr lang="en-US" sz="2400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for reproducibility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CAAA5C-D030-E4DC-4AB3-985D20C7D152}"/>
              </a:ext>
            </a:extLst>
          </p:cNvPr>
          <p:cNvSpPr/>
          <p:nvPr/>
        </p:nvSpPr>
        <p:spPr>
          <a:xfrm>
            <a:off x="284498" y="1302545"/>
            <a:ext cx="11747290" cy="25550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AC6BB5D2-DD19-3891-F168-A9626F6375D2}"/>
              </a:ext>
            </a:extLst>
          </p:cNvPr>
          <p:cNvSpPr>
            <a:spLocks noChangeAspect="1"/>
          </p:cNvSpPr>
          <p:nvPr/>
        </p:nvSpPr>
        <p:spPr>
          <a:xfrm>
            <a:off x="4014216" y="3322546"/>
            <a:ext cx="7606092" cy="3535454"/>
          </a:xfrm>
          <a:custGeom>
            <a:avLst/>
            <a:gdLst/>
            <a:ahLst/>
            <a:cxnLst/>
            <a:rect l="l" t="t" r="r" b="b"/>
            <a:pathLst>
              <a:path w="11438648" h="5316898">
                <a:moveTo>
                  <a:pt x="0" y="0"/>
                </a:moveTo>
                <a:lnTo>
                  <a:pt x="11438648" y="0"/>
                </a:lnTo>
                <a:lnTo>
                  <a:pt x="11438648" y="5316898"/>
                </a:lnTo>
                <a:lnTo>
                  <a:pt x="0" y="5316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52" t="-16108" r="-5263" b="-1751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7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9C11E-FD5D-8EBB-6FA2-5263893D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01BD1D-8EF4-E732-A2AE-B88DFF98C28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8346B7D-7081-73EE-E2B6-F1FF9CFD2EE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21869577-F689-3216-7437-7D13DC7E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DD47870-F627-38CF-E5E8-E592EB80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BDFE137-CDEC-5476-84D7-EFB4553C3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51BE62DF-4009-E70F-7B90-8E481B48F9C4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836803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7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89B6-50A0-C7F8-4EA5-F0E6B2CE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9789B4-E89E-48D6-C2B3-A8B8F01B9EA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550C575-18D7-2967-472A-F43AA07DDD1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2F494EEA-CB55-8278-436B-DAEDAB62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976DB5D-73F8-C1B5-543B-AF9BB8F2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06E26CD-32C5-4040-F8A6-DB0B406B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AA0A8793-319C-C347-C87F-F957E38F22CA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1622108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Virtual environment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Personal </a:t>
                      </a:r>
                      <a:r>
                        <a:rPr lang="en-US" sz="2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fumehood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96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21CE-13C9-F10A-8DD1-7A1BD0FF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DEF180-8036-D5FE-C491-776BD662034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BFF26CC-19FA-62B0-66BE-F045D5F89A30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23FD9ADF-CFC9-FEA5-3B66-1A5DFA8D6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BAD9EB5-A442-0074-D355-0FDADE24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4061E64-B0F4-6547-6A4D-7EE34E321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482AB4C6-2413-EB76-F645-2E09057682E5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2407413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Virtual environment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Personal </a:t>
                      </a:r>
                      <a:r>
                        <a:rPr lang="en-US" sz="2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fumehood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Packages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Reagents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40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D9F7-2167-D760-1314-B99C2729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B506A5-4D37-C605-71FC-76DF5E39DB59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CAC6C997-ADC3-0B49-34E6-6ECDDDF0A3D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F56AA80-B488-FE74-FEF5-9C5D58C20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BC76536-9D79-5964-77E5-C32A23DA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592AEEB-39F2-016D-5230-79ADCF1E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05CDF9AC-F26F-D060-EFED-A86E100CB8B7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3192718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Virtual environment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Personal </a:t>
                      </a:r>
                      <a:r>
                        <a:rPr lang="en-US" sz="2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fumehood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Packages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Reagents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Versions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Condutions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69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2AF73-DCEA-EC94-A3D6-19C395BC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483E9C-6F85-386D-7C38-31DA2296CAE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FC3BC6-F19B-7C0D-2B54-C4D2A02B077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4F8512BF-24DB-B67E-85E9-E16ED833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3666799-21F4-3919-2612-CBE43226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F6C06AEF-761C-F2B3-7022-184CF005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A5983599-834B-AE67-36A3-08EE8122941C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3978023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Virtual environment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Personal fumehood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Packages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Reagents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Versions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Condutions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Requirements (yaml)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Lab notebook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689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EF2D-B91C-1AD2-C069-E7CBEE4B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5E495E-84F2-B413-FB48-15C40B6EDE54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rgbClr val="237194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77AB675-11DE-16F6-37BB-CB3799700E3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>
                <a:solidFill>
                  <a:schemeClr val="tx1"/>
                </a:solidFill>
              </a:rPr>
              <a:t>Virtual </a:t>
            </a:r>
            <a:r>
              <a:rPr lang="es-ES" sz="3600" dirty="0" err="1">
                <a:solidFill>
                  <a:schemeClr val="tx1"/>
                </a:solidFill>
              </a:rPr>
              <a:t>environment</a:t>
            </a:r>
            <a:r>
              <a:rPr lang="es-ES" sz="3600" dirty="0">
                <a:solidFill>
                  <a:schemeClr val="tx1"/>
                </a:solidFill>
              </a:rPr>
              <a:t> </a:t>
            </a:r>
            <a:r>
              <a:rPr lang="es-ES" sz="3600" dirty="0" err="1">
                <a:solidFill>
                  <a:schemeClr val="tx1"/>
                </a:solidFill>
              </a:rPr>
              <a:t>example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692A623-F47B-C841-CB79-95F4DE00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CCEC856-B43D-7950-22EF-883D9CF0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34A6076-71B6-BE03-A238-EC8E9C4AE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A268A3C7-E078-80D7-EB8F-915210794E60}"/>
              </a:ext>
            </a:extLst>
          </p:cNvPr>
          <p:cNvSpPr>
            <a:spLocks/>
          </p:cNvSpPr>
          <p:nvPr/>
        </p:nvSpPr>
        <p:spPr bwMode="auto">
          <a:xfrm>
            <a:off x="486276" y="5355184"/>
            <a:ext cx="11545512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Other examples</a:t>
            </a:r>
          </a:p>
          <a:p>
            <a:pPr marL="342900" marR="0" indent="-342900" algn="just">
              <a:spcBef>
                <a:spcPts val="0"/>
              </a:spcBef>
              <a:spcAft>
                <a:spcPts val="300"/>
              </a:spcAft>
              <a:buClr>
                <a:srgbClr val="FF7F0E"/>
              </a:buClr>
              <a:buFont typeface="Arial" panose="020B0604020202020204" pitchFamily="34" charset="0"/>
              <a:buChar char="•"/>
            </a:pPr>
            <a:r>
              <a:rPr lang="en-US" sz="2400" kern="105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cheminf</a:t>
            </a:r>
            <a:endParaRPr lang="en-US" sz="2400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endParaRPr lang="en-US" sz="2400" b="1" kern="105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3">
            <a:extLst>
              <a:ext uri="{FF2B5EF4-FFF2-40B4-BE49-F238E27FC236}">
                <a16:creationId xmlns:a16="http://schemas.microsoft.com/office/drawing/2014/main" id="{4E79F5FF-3DFE-CCBF-4C61-C4BF93CF7A2B}"/>
              </a:ext>
            </a:extLst>
          </p:cNvPr>
          <p:cNvGraphicFramePr>
            <a:graphicFrameLocks noGrp="1"/>
          </p:cNvGraphicFramePr>
          <p:nvPr/>
        </p:nvGraphicFramePr>
        <p:xfrm>
          <a:off x="2536654" y="1272987"/>
          <a:ext cx="7112038" cy="3978023"/>
        </p:xfrm>
        <a:graphic>
          <a:graphicData uri="http://schemas.openxmlformats.org/drawingml/2006/table">
            <a:tbl>
              <a:tblPr/>
              <a:tblGrid>
                <a:gridCol w="36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800" b="1" u="sng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 Bold"/>
                          <a:cs typeface="Canva Sans Bold"/>
                          <a:sym typeface="Canva Sans Bold"/>
                        </a:rPr>
                        <a:t>Real life example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Virtual environment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Personal fumehood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Packages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Reagents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Versions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Condutions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Requirements (yaml)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ill Sans"/>
                          <a:ea typeface="Canva Sans"/>
                          <a:cs typeface="Canva Sans"/>
                          <a:sym typeface="Canva Sans"/>
                        </a:rPr>
                        <a:t>Lab notebook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ill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E66E2D0-186E-00DC-97CC-8D72B15525FB}"/>
              </a:ext>
            </a:extLst>
          </p:cNvPr>
          <p:cNvSpPr/>
          <p:nvPr/>
        </p:nvSpPr>
        <p:spPr>
          <a:xfrm>
            <a:off x="284498" y="1302544"/>
            <a:ext cx="11747290" cy="3701253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64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3184</TotalTime>
  <Words>422</Words>
  <Application>Microsoft Office PowerPoint</Application>
  <PresentationFormat>Widescreen</PresentationFormat>
  <Paragraphs>144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Gill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jvalegre</dc:creator>
  <cp:lastModifiedBy>Juan Vicente Alegre Requena</cp:lastModifiedBy>
  <cp:revision>961</cp:revision>
  <dcterms:created xsi:type="dcterms:W3CDTF">2023-06-21T09:49:49Z</dcterms:created>
  <dcterms:modified xsi:type="dcterms:W3CDTF">2026-05-11T10:26:29Z</dcterms:modified>
</cp:coreProperties>
</file>