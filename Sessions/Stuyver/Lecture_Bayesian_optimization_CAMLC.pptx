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318" r:id="rId2"/>
    <p:sldId id="257" r:id="rId3"/>
    <p:sldId id="294" r:id="rId4"/>
    <p:sldId id="262" r:id="rId5"/>
    <p:sldId id="263" r:id="rId6"/>
    <p:sldId id="258" r:id="rId7"/>
    <p:sldId id="259" r:id="rId8"/>
    <p:sldId id="260" r:id="rId9"/>
    <p:sldId id="296" r:id="rId10"/>
    <p:sldId id="261" r:id="rId11"/>
    <p:sldId id="264" r:id="rId12"/>
    <p:sldId id="265" r:id="rId13"/>
    <p:sldId id="267" r:id="rId14"/>
    <p:sldId id="268" r:id="rId15"/>
    <p:sldId id="269" r:id="rId16"/>
    <p:sldId id="295" r:id="rId17"/>
    <p:sldId id="270" r:id="rId18"/>
    <p:sldId id="271" r:id="rId19"/>
    <p:sldId id="298" r:id="rId20"/>
    <p:sldId id="272" r:id="rId21"/>
    <p:sldId id="273" r:id="rId22"/>
    <p:sldId id="299" r:id="rId23"/>
    <p:sldId id="275" r:id="rId24"/>
    <p:sldId id="278" r:id="rId25"/>
    <p:sldId id="279" r:id="rId26"/>
    <p:sldId id="276" r:id="rId27"/>
    <p:sldId id="454" r:id="rId28"/>
    <p:sldId id="455" r:id="rId29"/>
    <p:sldId id="293" r:id="rId30"/>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p:restoredTop sz="72269"/>
  </p:normalViewPr>
  <p:slideViewPr>
    <p:cSldViewPr snapToGrid="0">
      <p:cViewPr varScale="1">
        <p:scale>
          <a:sx n="86" d="100"/>
          <a:sy n="86" d="100"/>
        </p:scale>
        <p:origin x="248"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5AB869-E0E1-1D4A-8DB9-1A0411580400}" type="datetimeFigureOut">
              <a:rPr lang="nl-BE" smtClean="0"/>
              <a:t>3/06/2026</a:t>
            </a:fld>
            <a:endParaRPr lang="nl-BE"/>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49B9D9-B8CF-5243-A617-FECEDD87D2BF}" type="slidenum">
              <a:rPr lang="nl-BE" smtClean="0"/>
              <a:t>‹nr.›</a:t>
            </a:fld>
            <a:endParaRPr lang="nl-BE"/>
          </a:p>
        </p:txBody>
      </p:sp>
    </p:spTree>
    <p:extLst>
      <p:ext uri="{BB962C8B-B14F-4D97-AF65-F5344CB8AC3E}">
        <p14:creationId xmlns:p14="http://schemas.microsoft.com/office/powerpoint/2010/main" val="1487951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084693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2649B9D9-B8CF-5243-A617-FECEDD87D2BF}" type="slidenum">
              <a:rPr lang="nl-BE" smtClean="0"/>
              <a:t>2</a:t>
            </a:fld>
            <a:endParaRPr lang="nl-BE"/>
          </a:p>
        </p:txBody>
      </p:sp>
    </p:spTree>
    <p:extLst>
      <p:ext uri="{BB962C8B-B14F-4D97-AF65-F5344CB8AC3E}">
        <p14:creationId xmlns:p14="http://schemas.microsoft.com/office/powerpoint/2010/main" val="1626183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0E3A3-171B-F0B1-D1A2-4594C194CF91}"/>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F3E5CBC7-3616-325B-753E-27534E1808B9}"/>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84299784-F32C-A9B8-C0D1-D83DF12705C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Science =&gt; often optimization problems (there is a specific quantity or property that you want to optimize, and you have a number of parameters x1, x2,…,xn to finetune =&gt; all these parameters are independent dimensions of an n dimensional space, so f assigns a value to every point in that space)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Example: I want to optimize the yield of a reaction by adjusting the temperature and the solvent, or I want to optimize the hyperparameters of a machine learning model…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Many methods exist to numerically find the optimum of a function (Newton-Raphson, gradient descent), but these typically require many iterations/evaluations, and access to the gradient of the function =&gt; it does not work for black-box functions</a:t>
            </a:r>
          </a:p>
          <a:p>
            <a:endParaRPr lang="nl-BE" dirty="0"/>
          </a:p>
        </p:txBody>
      </p:sp>
      <p:sp>
        <p:nvSpPr>
          <p:cNvPr id="4" name="Tijdelijke aanduiding voor dianummer 3">
            <a:extLst>
              <a:ext uri="{FF2B5EF4-FFF2-40B4-BE49-F238E27FC236}">
                <a16:creationId xmlns:a16="http://schemas.microsoft.com/office/drawing/2014/main" id="{48763752-C80A-6E8E-FE02-5CE91A90B45C}"/>
              </a:ext>
            </a:extLst>
          </p:cNvPr>
          <p:cNvSpPr>
            <a:spLocks noGrp="1"/>
          </p:cNvSpPr>
          <p:nvPr>
            <p:ph type="sldNum" sz="quarter" idx="5"/>
          </p:nvPr>
        </p:nvSpPr>
        <p:spPr/>
        <p:txBody>
          <a:bodyPr/>
          <a:lstStyle/>
          <a:p>
            <a:fld id="{2649B9D9-B8CF-5243-A617-FECEDD87D2BF}" type="slidenum">
              <a:rPr lang="nl-BE" smtClean="0"/>
              <a:t>3</a:t>
            </a:fld>
            <a:endParaRPr lang="nl-BE"/>
          </a:p>
        </p:txBody>
      </p:sp>
    </p:spTree>
    <p:extLst>
      <p:ext uri="{BB962C8B-B14F-4D97-AF65-F5344CB8AC3E}">
        <p14:creationId xmlns:p14="http://schemas.microsoft.com/office/powerpoint/2010/main" val="2324022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5E7ED-4D43-8FF1-9172-7219FB4F0732}"/>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ADFC2571-5FED-5F46-945F-C53F919A9F4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AA47E2DA-554C-3B04-0508-5CC30D0E5578}"/>
              </a:ext>
            </a:extLst>
          </p:cNvPr>
          <p:cNvSpPr>
            <a:spLocks noGrp="1"/>
          </p:cNvSpPr>
          <p:nvPr>
            <p:ph type="body" idx="1"/>
          </p:nvPr>
        </p:nvSpPr>
        <p:spPr/>
        <p:txBody>
          <a:bodyPr/>
          <a:lstStyle/>
          <a:p>
            <a:r>
              <a:rPr lang="nl-BE" dirty="0"/>
              <a:t>Before we can start discussing what Bayesian optimization really entails, we first need to cover a couple of fundamental concepts =&gt; Gaussian/normal distributions</a:t>
            </a:r>
          </a:p>
          <a:p>
            <a:endParaRPr lang="nl-BE" dirty="0"/>
          </a:p>
          <a:p>
            <a:r>
              <a:rPr lang="nl-BE" dirty="0"/>
              <a:t>Mu is mean, sigma is standard deviation</a:t>
            </a:r>
          </a:p>
          <a:p>
            <a:endParaRPr lang="nl-BE" dirty="0"/>
          </a:p>
          <a:p>
            <a:r>
              <a:rPr lang="nl-BE" dirty="0"/>
              <a:t>Example of a normal distribution in practice: human height (if you take a sample of many French men or women, and you measure each of them and make a barplot, then you are going to get a Gaussian curve)</a:t>
            </a:r>
          </a:p>
        </p:txBody>
      </p:sp>
      <p:sp>
        <p:nvSpPr>
          <p:cNvPr id="4" name="Tijdelijke aanduiding voor dianummer 3">
            <a:extLst>
              <a:ext uri="{FF2B5EF4-FFF2-40B4-BE49-F238E27FC236}">
                <a16:creationId xmlns:a16="http://schemas.microsoft.com/office/drawing/2014/main" id="{8C849FA7-7F08-9FB0-A65A-567D06052BC0}"/>
              </a:ext>
            </a:extLst>
          </p:cNvPr>
          <p:cNvSpPr>
            <a:spLocks noGrp="1"/>
          </p:cNvSpPr>
          <p:nvPr>
            <p:ph type="sldNum" sz="quarter" idx="5"/>
          </p:nvPr>
        </p:nvSpPr>
        <p:spPr/>
        <p:txBody>
          <a:bodyPr/>
          <a:lstStyle/>
          <a:p>
            <a:fld id="{2649B9D9-B8CF-5243-A617-FECEDD87D2BF}" type="slidenum">
              <a:rPr lang="nl-BE" smtClean="0"/>
              <a:t>4</a:t>
            </a:fld>
            <a:endParaRPr lang="nl-BE"/>
          </a:p>
        </p:txBody>
      </p:sp>
    </p:spTree>
    <p:extLst>
      <p:ext uri="{BB962C8B-B14F-4D97-AF65-F5344CB8AC3E}">
        <p14:creationId xmlns:p14="http://schemas.microsoft.com/office/powerpoint/2010/main" val="38777152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4460F-8475-ABBF-EFF5-DEADA61CFD94}"/>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E05831C1-6A95-4F79-ED10-C639F430273D}"/>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66A59C1F-0CCC-1C2B-1808-9C0E20DE2D23}"/>
              </a:ext>
            </a:extLst>
          </p:cNvPr>
          <p:cNvSpPr>
            <a:spLocks noGrp="1"/>
          </p:cNvSpPr>
          <p:nvPr>
            <p:ph type="body" idx="1"/>
          </p:nvPr>
        </p:nvSpPr>
        <p:spPr/>
        <p:txBody>
          <a:bodyPr/>
          <a:lstStyle/>
          <a:p>
            <a:r>
              <a:rPr lang="nl-BE" dirty="0"/>
              <a:t>Mu is the mean vector and sigma is the covariance matrix</a:t>
            </a:r>
          </a:p>
          <a:p>
            <a:endParaRPr lang="nl-BE" dirty="0"/>
          </a:p>
          <a:p>
            <a:r>
              <a:rPr lang="nl-BE" dirty="0"/>
              <a:t>Example of variables without significant covariance: length &amp; IQ (both short and tall people can be either smart or dumb -&gt; independent variables; knowledge about one doesn’t tell me anything about the other)</a:t>
            </a:r>
          </a:p>
          <a:p>
            <a:endParaRPr lang="nl-BE" dirty="0"/>
          </a:p>
          <a:p>
            <a:r>
              <a:rPr lang="nl-BE" dirty="0"/>
              <a:t>Example of variables with significant covariance: length &amp; shoe size (someone who is tall is likely to also have a big shoe size; someone short is likely to have a small shoe size -&gt; both variables in isolation are normally distributed, but they are not independent)</a:t>
            </a:r>
          </a:p>
        </p:txBody>
      </p:sp>
      <p:sp>
        <p:nvSpPr>
          <p:cNvPr id="4" name="Tijdelijke aanduiding voor dianummer 3">
            <a:extLst>
              <a:ext uri="{FF2B5EF4-FFF2-40B4-BE49-F238E27FC236}">
                <a16:creationId xmlns:a16="http://schemas.microsoft.com/office/drawing/2014/main" id="{7BFEE418-DCDA-9971-8028-AEA3CF63A961}"/>
              </a:ext>
            </a:extLst>
          </p:cNvPr>
          <p:cNvSpPr>
            <a:spLocks noGrp="1"/>
          </p:cNvSpPr>
          <p:nvPr>
            <p:ph type="sldNum" sz="quarter" idx="5"/>
          </p:nvPr>
        </p:nvSpPr>
        <p:spPr/>
        <p:txBody>
          <a:bodyPr/>
          <a:lstStyle/>
          <a:p>
            <a:fld id="{2649B9D9-B8CF-5243-A617-FECEDD87D2BF}" type="slidenum">
              <a:rPr lang="nl-BE" smtClean="0"/>
              <a:t>5</a:t>
            </a:fld>
            <a:endParaRPr lang="nl-BE"/>
          </a:p>
        </p:txBody>
      </p:sp>
    </p:spTree>
    <p:extLst>
      <p:ext uri="{BB962C8B-B14F-4D97-AF65-F5344CB8AC3E}">
        <p14:creationId xmlns:p14="http://schemas.microsoft.com/office/powerpoint/2010/main" val="10445319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68D26-3EEE-2505-1512-656DA5A350A1}"/>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45853089-90AF-0AF5-A37C-F073694772E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9729DCA4-36A1-0E86-A828-07EF2E0DD1D8}"/>
              </a:ext>
            </a:extLst>
          </p:cNvPr>
          <p:cNvSpPr>
            <a:spLocks noGrp="1"/>
          </p:cNvSpPr>
          <p:nvPr>
            <p:ph type="body" idx="1"/>
          </p:nvPr>
        </p:nvSpPr>
        <p:spPr/>
        <p:txBody>
          <a:bodyPr/>
          <a:lstStyle/>
          <a:p>
            <a:r>
              <a:rPr lang="nl-BE" dirty="0"/>
              <a:t>Example: yield =&gt; I can evaluate for a series of reaction conditions the yield, but I don’t know what happens if I perturb one of the variables</a:t>
            </a:r>
          </a:p>
          <a:p>
            <a:endParaRPr lang="nl-BE" dirty="0"/>
          </a:p>
          <a:p>
            <a:r>
              <a:rPr lang="nl-BE" dirty="0"/>
              <a:t>We know the function passes through the points previously evaluated, but how does the function look like? You could come up with many plausible functions…</a:t>
            </a:r>
          </a:p>
          <a:p>
            <a:endParaRPr lang="nl-BE" dirty="0"/>
          </a:p>
          <a:p>
            <a:r>
              <a:rPr lang="nl-BE" dirty="0"/>
              <a:t>Let’s focus on a 1D input space for a moment, and imagine 4 points for which the function has been evaluated so far. There are multiple functions that I can fit through these points -&gt; which one is the correct one?</a:t>
            </a:r>
          </a:p>
        </p:txBody>
      </p:sp>
      <p:sp>
        <p:nvSpPr>
          <p:cNvPr id="4" name="Tijdelijke aanduiding voor dianummer 3">
            <a:extLst>
              <a:ext uri="{FF2B5EF4-FFF2-40B4-BE49-F238E27FC236}">
                <a16:creationId xmlns:a16="http://schemas.microsoft.com/office/drawing/2014/main" id="{B5A7FE0C-7572-EDE7-4B08-7126B71B0B00}"/>
              </a:ext>
            </a:extLst>
          </p:cNvPr>
          <p:cNvSpPr>
            <a:spLocks noGrp="1"/>
          </p:cNvSpPr>
          <p:nvPr>
            <p:ph type="sldNum" sz="quarter" idx="5"/>
          </p:nvPr>
        </p:nvSpPr>
        <p:spPr/>
        <p:txBody>
          <a:bodyPr/>
          <a:lstStyle/>
          <a:p>
            <a:fld id="{2649B9D9-B8CF-5243-A617-FECEDD87D2BF}" type="slidenum">
              <a:rPr lang="nl-BE" smtClean="0"/>
              <a:t>6</a:t>
            </a:fld>
            <a:endParaRPr lang="nl-BE"/>
          </a:p>
        </p:txBody>
      </p:sp>
    </p:spTree>
    <p:extLst>
      <p:ext uri="{BB962C8B-B14F-4D97-AF65-F5344CB8AC3E}">
        <p14:creationId xmlns:p14="http://schemas.microsoft.com/office/powerpoint/2010/main" val="15261994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62B78-5C51-EEDE-1F46-654E9AA8EF14}"/>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35391977-7AD4-8435-6A31-4C0036C50B3A}"/>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61A0CFCF-CC22-1A9C-3182-7DEF2D995C35}"/>
              </a:ext>
            </a:extLst>
          </p:cNvPr>
          <p:cNvSpPr>
            <a:spLocks noGrp="1"/>
          </p:cNvSpPr>
          <p:nvPr>
            <p:ph type="body" idx="1"/>
          </p:nvPr>
        </p:nvSpPr>
        <p:spPr/>
        <p:txBody>
          <a:bodyPr/>
          <a:lstStyle/>
          <a:p>
            <a:r>
              <a:rPr lang="nl-BE" dirty="0"/>
              <a:t>With current info =&gt; no way to know which one is most probable</a:t>
            </a:r>
          </a:p>
          <a:p>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But imagine I do an additional measurement: new point falls straight on the purple curve -&gt; I think you would all intuitively agree that among the 3 options I drew, the odds that the purple one is the correct one will rise after this observation.</a:t>
            </a:r>
          </a:p>
          <a:p>
            <a:endParaRPr lang="nl-BE" dirty="0"/>
          </a:p>
          <a:p>
            <a:r>
              <a:rPr lang="nl-BE" dirty="0"/>
              <a:t>This gives conceptual sense about BO: we model a distribution of probable functions, conditioned on the datapoints we currently have at our disposal =&gt; this distribution = prior</a:t>
            </a:r>
          </a:p>
          <a:p>
            <a:endParaRPr lang="nl-BE" dirty="0"/>
          </a:p>
          <a:p>
            <a:r>
              <a:rPr lang="nl-BE" dirty="0"/>
              <a:t>Next, new points are selected for evaluation =&gt; function values enable us to discard some possible function &amp; update function distribution =&gt; posterior</a:t>
            </a:r>
          </a:p>
          <a:p>
            <a:endParaRPr lang="nl-BE" dirty="0"/>
          </a:p>
          <a:p>
            <a:r>
              <a:rPr lang="nl-BE" dirty="0"/>
              <a:t>Extremely dumbed down, but this is core idea BO =&gt; based on current knowledge, you construct distributions of functions =&gt; you do a measurement =&gt; update distribution to reflect new knowledge</a:t>
            </a:r>
          </a:p>
        </p:txBody>
      </p:sp>
      <p:sp>
        <p:nvSpPr>
          <p:cNvPr id="4" name="Tijdelijke aanduiding voor dianummer 3">
            <a:extLst>
              <a:ext uri="{FF2B5EF4-FFF2-40B4-BE49-F238E27FC236}">
                <a16:creationId xmlns:a16="http://schemas.microsoft.com/office/drawing/2014/main" id="{4078A4EE-AB6A-5D27-B849-08F9E0E76F22}"/>
              </a:ext>
            </a:extLst>
          </p:cNvPr>
          <p:cNvSpPr>
            <a:spLocks noGrp="1"/>
          </p:cNvSpPr>
          <p:nvPr>
            <p:ph type="sldNum" sz="quarter" idx="5"/>
          </p:nvPr>
        </p:nvSpPr>
        <p:spPr/>
        <p:txBody>
          <a:bodyPr/>
          <a:lstStyle/>
          <a:p>
            <a:fld id="{2649B9D9-B8CF-5243-A617-FECEDD87D2BF}" type="slidenum">
              <a:rPr lang="nl-BE" smtClean="0"/>
              <a:t>7</a:t>
            </a:fld>
            <a:endParaRPr lang="nl-BE"/>
          </a:p>
        </p:txBody>
      </p:sp>
    </p:spTree>
    <p:extLst>
      <p:ext uri="{BB962C8B-B14F-4D97-AF65-F5344CB8AC3E}">
        <p14:creationId xmlns:p14="http://schemas.microsoft.com/office/powerpoint/2010/main" val="26000299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EFCA6-DA69-3BF7-D204-2BAD2A5059F9}"/>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C7CD3679-763B-7482-817B-F7188B4F07C9}"/>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C12103F6-9FD8-1FF2-564B-84FCCB9774F5}"/>
              </a:ext>
            </a:extLst>
          </p:cNvPr>
          <p:cNvSpPr>
            <a:spLocks noGrp="1"/>
          </p:cNvSpPr>
          <p:nvPr>
            <p:ph type="body" idx="1"/>
          </p:nvPr>
        </p:nvSpPr>
        <p:spPr/>
        <p:txBody>
          <a:bodyPr/>
          <a:lstStyle/>
          <a:p>
            <a:r>
              <a:rPr lang="nl-BE" dirty="0"/>
              <a:t>Then you get a picture like this one in 1D =&gt; 5 points computed/evaluated for f, with current minimum at -2 and maximum at +1</a:t>
            </a:r>
          </a:p>
          <a:p>
            <a:endParaRPr lang="nl-BE" dirty="0"/>
          </a:p>
          <a:p>
            <a:r>
              <a:rPr lang="nl-BE" dirty="0"/>
              <a:t>Based on this distribution =&gt; blue function most probable; confidence interval around it shaded in brown (cut-off taken at 1 SD around mean)</a:t>
            </a:r>
          </a:p>
          <a:p>
            <a:endParaRPr lang="nl-BE" dirty="0"/>
          </a:p>
          <a:p>
            <a:r>
              <a:rPr lang="nl-BE" dirty="0"/>
              <a:t>brown area: gives the distribution of the expected outcome of a new measurment at any given value of x =&gt; close to the previously measured points, the confidence interval is very narrow (measured value is likely going to be very similar to the point you already evaluated) </a:t>
            </a:r>
          </a:p>
          <a:p>
            <a:endParaRPr lang="nl-BE" dirty="0"/>
          </a:p>
          <a:p>
            <a:r>
              <a:rPr lang="nl-BE" dirty="0"/>
              <a:t>As you move further away between two points, the uncertainty becomes bigger =&gt; bigger shifts become possible</a:t>
            </a:r>
          </a:p>
          <a:p>
            <a:endParaRPr lang="nl-BE" dirty="0"/>
          </a:p>
          <a:p>
            <a:r>
              <a:rPr lang="nl-BE" dirty="0"/>
              <a:t>If you want to find the optimum of this function, you preferably evaluate it at a point where you stand a high chance of improving on the current maximum/minimum!</a:t>
            </a:r>
          </a:p>
        </p:txBody>
      </p:sp>
      <p:sp>
        <p:nvSpPr>
          <p:cNvPr id="4" name="Tijdelijke aanduiding voor dianummer 3">
            <a:extLst>
              <a:ext uri="{FF2B5EF4-FFF2-40B4-BE49-F238E27FC236}">
                <a16:creationId xmlns:a16="http://schemas.microsoft.com/office/drawing/2014/main" id="{9B24250C-B017-5499-9EB8-F50B4F0A39BC}"/>
              </a:ext>
            </a:extLst>
          </p:cNvPr>
          <p:cNvSpPr>
            <a:spLocks noGrp="1"/>
          </p:cNvSpPr>
          <p:nvPr>
            <p:ph type="sldNum" sz="quarter" idx="5"/>
          </p:nvPr>
        </p:nvSpPr>
        <p:spPr/>
        <p:txBody>
          <a:bodyPr/>
          <a:lstStyle/>
          <a:p>
            <a:fld id="{2649B9D9-B8CF-5243-A617-FECEDD87D2BF}" type="slidenum">
              <a:rPr lang="nl-BE" smtClean="0"/>
              <a:t>8</a:t>
            </a:fld>
            <a:endParaRPr lang="nl-BE"/>
          </a:p>
        </p:txBody>
      </p:sp>
    </p:spTree>
    <p:extLst>
      <p:ext uri="{BB962C8B-B14F-4D97-AF65-F5344CB8AC3E}">
        <p14:creationId xmlns:p14="http://schemas.microsoft.com/office/powerpoint/2010/main" val="36837108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2E112-D8B2-32F8-BE84-DC3DC758DBA1}"/>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D0E5F92E-C7CD-B192-BD4C-1A0FFFBD34B2}"/>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938D89C9-D217-F140-D99B-8DD82EA12AF5}"/>
              </a:ext>
            </a:extLst>
          </p:cNvPr>
          <p:cNvSpPr>
            <a:spLocks noGrp="1"/>
          </p:cNvSpPr>
          <p:nvPr>
            <p:ph type="body" idx="1"/>
          </p:nvPr>
        </p:nvSpPr>
        <p:spPr/>
        <p:txBody>
          <a:bodyPr/>
          <a:lstStyle/>
          <a:p>
            <a:r>
              <a:rPr lang="nl-BE" dirty="0"/>
              <a:t>Conceptually, this is what happens: previous experiments inform setting of the prior =&gt; prior informs new meaurements (you want to evaluate at points with likely maximum value for f =&gt; new measurements inform posterior </a:t>
            </a:r>
          </a:p>
          <a:p>
            <a:endParaRPr lang="nl-BE" dirty="0"/>
          </a:p>
          <a:p>
            <a:r>
              <a:rPr lang="nl-BE" dirty="0"/>
              <a:t>Now how do we do all this in practice? How do we define the most probable function and the confidence interval??? For that we need to introduce some more mathematical background</a:t>
            </a:r>
          </a:p>
        </p:txBody>
      </p:sp>
      <p:sp>
        <p:nvSpPr>
          <p:cNvPr id="4" name="Tijdelijke aanduiding voor dianummer 3">
            <a:extLst>
              <a:ext uri="{FF2B5EF4-FFF2-40B4-BE49-F238E27FC236}">
                <a16:creationId xmlns:a16="http://schemas.microsoft.com/office/drawing/2014/main" id="{029B1D0C-F12E-63E5-76D8-FA4C03FEA314}"/>
              </a:ext>
            </a:extLst>
          </p:cNvPr>
          <p:cNvSpPr>
            <a:spLocks noGrp="1"/>
          </p:cNvSpPr>
          <p:nvPr>
            <p:ph type="sldNum" sz="quarter" idx="5"/>
          </p:nvPr>
        </p:nvSpPr>
        <p:spPr/>
        <p:txBody>
          <a:bodyPr/>
          <a:lstStyle/>
          <a:p>
            <a:fld id="{2649B9D9-B8CF-5243-A617-FECEDD87D2BF}" type="slidenum">
              <a:rPr lang="nl-BE" smtClean="0"/>
              <a:t>9</a:t>
            </a:fld>
            <a:endParaRPr lang="nl-BE"/>
          </a:p>
        </p:txBody>
      </p:sp>
    </p:spTree>
    <p:extLst>
      <p:ext uri="{BB962C8B-B14F-4D97-AF65-F5344CB8AC3E}">
        <p14:creationId xmlns:p14="http://schemas.microsoft.com/office/powerpoint/2010/main" val="29514543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E24AF-F11F-60C3-F652-2B151AFED49E}"/>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3F2FDCE7-7B8D-4CF0-18E0-0E8B56205C96}"/>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F27CF143-BE1B-ADD9-384B-22CC89B1EF07}"/>
              </a:ext>
            </a:extLst>
          </p:cNvPr>
          <p:cNvSpPr>
            <a:spLocks noGrp="1"/>
          </p:cNvSpPr>
          <p:nvPr>
            <p:ph type="body" idx="1"/>
          </p:nvPr>
        </p:nvSpPr>
        <p:spPr/>
        <p:txBody>
          <a:bodyPr/>
          <a:lstStyle/>
          <a:p>
            <a:r>
              <a:rPr lang="nl-BE" dirty="0"/>
              <a:t>New measurements =&gt; will also exhibit correlation with the outcome of my preceding measurements =&gt; I need to estimate to what extent there will be correlation</a:t>
            </a:r>
          </a:p>
          <a:p>
            <a:endParaRPr lang="nl-BE" dirty="0"/>
          </a:p>
          <a:p>
            <a:r>
              <a:rPr lang="nl-BE" dirty="0"/>
              <a:t>Intuitive: adjacent to previous measurement, I assume almost perfect correlation =&gt; new experiment is expected to give almost same result; the further away from previous measurements, the more uncertain I get =&gt; this is also reflected in plot</a:t>
            </a:r>
          </a:p>
          <a:p>
            <a:endParaRPr lang="nl-BE" dirty="0"/>
          </a:p>
        </p:txBody>
      </p:sp>
      <p:sp>
        <p:nvSpPr>
          <p:cNvPr id="4" name="Tijdelijke aanduiding voor dianummer 3">
            <a:extLst>
              <a:ext uri="{FF2B5EF4-FFF2-40B4-BE49-F238E27FC236}">
                <a16:creationId xmlns:a16="http://schemas.microsoft.com/office/drawing/2014/main" id="{C7A9CC67-8445-68B3-5259-C743BD29AB81}"/>
              </a:ext>
            </a:extLst>
          </p:cNvPr>
          <p:cNvSpPr>
            <a:spLocks noGrp="1"/>
          </p:cNvSpPr>
          <p:nvPr>
            <p:ph type="sldNum" sz="quarter" idx="5"/>
          </p:nvPr>
        </p:nvSpPr>
        <p:spPr/>
        <p:txBody>
          <a:bodyPr/>
          <a:lstStyle/>
          <a:p>
            <a:fld id="{2649B9D9-B8CF-5243-A617-FECEDD87D2BF}" type="slidenum">
              <a:rPr lang="nl-BE" smtClean="0"/>
              <a:t>10</a:t>
            </a:fld>
            <a:endParaRPr lang="nl-BE"/>
          </a:p>
        </p:txBody>
      </p:sp>
    </p:spTree>
    <p:extLst>
      <p:ext uri="{BB962C8B-B14F-4D97-AF65-F5344CB8AC3E}">
        <p14:creationId xmlns:p14="http://schemas.microsoft.com/office/powerpoint/2010/main" val="15534314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F1525-FC01-8BC0-E8D7-0CD9591BF3D2}"/>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F62B8D4A-2C0E-2878-44E6-8BCECDCD0D5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68F368BA-3526-09D6-4A37-C14A35514979}"/>
              </a:ext>
            </a:extLst>
          </p:cNvPr>
          <p:cNvSpPr>
            <a:spLocks noGrp="1"/>
          </p:cNvSpPr>
          <p:nvPr>
            <p:ph type="body" idx="1"/>
          </p:nvPr>
        </p:nvSpPr>
        <p:spPr/>
        <p:txBody>
          <a:bodyPr/>
          <a:lstStyle/>
          <a:p>
            <a:r>
              <a:rPr lang="nl-BE" dirty="0"/>
              <a:t>Choice of kernel =&gt; not set in stone, but should be sensible: close points should correlate with each other (i.e., K should be big) &amp; far away, points should not (i.e., K should be small) + we want some flexibility in the kernel, i.e., we want it to contain some parameters, so that it can be fit based on the data (more specifically, we want to be able to finetune at which point we consider points to be far away…)</a:t>
            </a:r>
          </a:p>
          <a:p>
            <a:endParaRPr lang="nl-BE" dirty="0"/>
          </a:p>
          <a:p>
            <a:r>
              <a:rPr lang="nl-BE" dirty="0"/>
              <a:t>The RBF function fulfills these criteria =&gt; there is a dependence on the distance between the two points, and I have 2 parameters (k and sigma) which determine how the covariance behaves</a:t>
            </a:r>
          </a:p>
          <a:p>
            <a:endParaRPr lang="nl-BE" dirty="0"/>
          </a:p>
          <a:p>
            <a:pPr marL="171450" indent="-171450">
              <a:buFont typeface="Symbol" pitchFamily="2" charset="2"/>
              <a:buChar char="Þ"/>
            </a:pPr>
            <a:r>
              <a:rPr lang="nl-BE" dirty="0"/>
              <a:t>You may recognize shape: corresponds again to a Gaussian function</a:t>
            </a:r>
          </a:p>
          <a:p>
            <a:pPr marL="171450" indent="-171450">
              <a:buFont typeface="Symbol" pitchFamily="2" charset="2"/>
              <a:buChar char="Þ"/>
            </a:pPr>
            <a:endParaRPr lang="nl-BE" dirty="0"/>
          </a:p>
          <a:p>
            <a:pPr marL="171450" indent="-171450">
              <a:buFont typeface="Symbol" pitchFamily="2" charset="2"/>
              <a:buChar char="Þ"/>
            </a:pPr>
            <a:r>
              <a:rPr lang="nl-BE" dirty="0"/>
              <a:t>k = variance; sigma = lengthscale</a:t>
            </a:r>
          </a:p>
        </p:txBody>
      </p:sp>
      <p:sp>
        <p:nvSpPr>
          <p:cNvPr id="4" name="Tijdelijke aanduiding voor dianummer 3">
            <a:extLst>
              <a:ext uri="{FF2B5EF4-FFF2-40B4-BE49-F238E27FC236}">
                <a16:creationId xmlns:a16="http://schemas.microsoft.com/office/drawing/2014/main" id="{BDCEDE75-B16A-DAD3-A425-8DC38660C83C}"/>
              </a:ext>
            </a:extLst>
          </p:cNvPr>
          <p:cNvSpPr>
            <a:spLocks noGrp="1"/>
          </p:cNvSpPr>
          <p:nvPr>
            <p:ph type="sldNum" sz="quarter" idx="5"/>
          </p:nvPr>
        </p:nvSpPr>
        <p:spPr/>
        <p:txBody>
          <a:bodyPr/>
          <a:lstStyle/>
          <a:p>
            <a:fld id="{2649B9D9-B8CF-5243-A617-FECEDD87D2BF}" type="slidenum">
              <a:rPr lang="nl-BE" smtClean="0"/>
              <a:t>11</a:t>
            </a:fld>
            <a:endParaRPr lang="nl-BE"/>
          </a:p>
        </p:txBody>
      </p:sp>
    </p:spTree>
    <p:extLst>
      <p:ext uri="{BB962C8B-B14F-4D97-AF65-F5344CB8AC3E}">
        <p14:creationId xmlns:p14="http://schemas.microsoft.com/office/powerpoint/2010/main" val="41845426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CF569-2B21-BF1D-E3AC-D4B990FF669C}"/>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64A5D270-497F-FD8C-5BA0-8DDB86272B0C}"/>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74460DAA-BB22-2724-CCC7-3064485E3B7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k indicates the intrinsic magnitude of the confidence interval; sigma indicates the lengthscale at which the covariance changes</a:t>
            </a:r>
          </a:p>
          <a:p>
            <a:endParaRPr lang="nl-BE" dirty="0"/>
          </a:p>
          <a:p>
            <a:r>
              <a:rPr lang="nl-BE" dirty="0"/>
              <a:t>To give you some intuition: 4 scenarios</a:t>
            </a:r>
          </a:p>
          <a:p>
            <a:endParaRPr lang="nl-BE" dirty="0"/>
          </a:p>
          <a:p>
            <a:r>
              <a:rPr lang="nl-BE" dirty="0"/>
              <a:t>k big, sigma small =&gt; far away from previous measurements: fast increase of uncertainty to maximal value </a:t>
            </a:r>
          </a:p>
          <a:p>
            <a:endParaRPr lang="nl-BE" dirty="0"/>
          </a:p>
          <a:p>
            <a:r>
              <a:rPr lang="nl-BE" dirty="0"/>
              <a:t>k big, sigma big =&gt; high values can be reached, but only far away from previous measurements</a:t>
            </a:r>
          </a:p>
          <a:p>
            <a:endParaRPr lang="nl-BE" dirty="0"/>
          </a:p>
          <a:p>
            <a:r>
              <a:rPr lang="nl-BE" dirty="0"/>
              <a:t>k small, sigma big =&gt; low values can be reached, but only far away from previous measurements</a:t>
            </a:r>
          </a:p>
          <a:p>
            <a:endParaRPr lang="nl-BE" dirty="0"/>
          </a:p>
          <a:p>
            <a:r>
              <a:rPr lang="nl-BE" dirty="0"/>
              <a:t>k small, sigma small =&gt; low values can be reached, but they are reached rapidly </a:t>
            </a:r>
          </a:p>
          <a:p>
            <a:endParaRPr lang="nl-BE" dirty="0"/>
          </a:p>
          <a:p>
            <a:r>
              <a:rPr lang="nl-BE" dirty="0"/>
              <a:t>As a side-note, how do we finetune these parameters on the previously determined data points?</a:t>
            </a:r>
          </a:p>
          <a:p>
            <a:endParaRPr lang="nl-BE" dirty="0"/>
          </a:p>
          <a:p>
            <a:r>
              <a:rPr lang="nl-BE" dirty="0"/>
              <a:t>-&gt; If the target values y for my measured points change only gradually, i.e., the previous measurements appear highly correlated, then it likely makes sense to assume that future points will also behave this way -&gt; k will be small and sigma big.</a:t>
            </a:r>
          </a:p>
          <a:p>
            <a:endParaRPr lang="nl-BE" dirty="0"/>
          </a:p>
          <a:p>
            <a:pPr marL="171450" indent="-171450">
              <a:buFont typeface="Wingdings" pitchFamily="2" charset="2"/>
              <a:buChar char="è"/>
            </a:pPr>
            <a:r>
              <a:rPr lang="nl-BE" dirty="0"/>
              <a:t>if however my previously measured points result in y values that swing widely back and forth, then you likely want k to be big and sigma small</a:t>
            </a:r>
          </a:p>
          <a:p>
            <a:pPr marL="171450" indent="-171450">
              <a:buFont typeface="Wingdings" pitchFamily="2" charset="2"/>
              <a:buChar char="è"/>
            </a:pPr>
            <a:endParaRPr lang="nl-BE" dirty="0"/>
          </a:p>
          <a:p>
            <a:pPr marL="171450" indent="-171450">
              <a:buFont typeface="Wingdings" pitchFamily="2" charset="2"/>
              <a:buChar char="è"/>
            </a:pPr>
            <a:r>
              <a:rPr lang="nl-BE" dirty="0"/>
              <a:t>Typically this will be algorithmically optimized!!</a:t>
            </a:r>
          </a:p>
        </p:txBody>
      </p:sp>
      <p:sp>
        <p:nvSpPr>
          <p:cNvPr id="4" name="Tijdelijke aanduiding voor dianummer 3">
            <a:extLst>
              <a:ext uri="{FF2B5EF4-FFF2-40B4-BE49-F238E27FC236}">
                <a16:creationId xmlns:a16="http://schemas.microsoft.com/office/drawing/2014/main" id="{46DEBFC0-327D-4B3D-2F98-A052D2DD80B6}"/>
              </a:ext>
            </a:extLst>
          </p:cNvPr>
          <p:cNvSpPr>
            <a:spLocks noGrp="1"/>
          </p:cNvSpPr>
          <p:nvPr>
            <p:ph type="sldNum" sz="quarter" idx="5"/>
          </p:nvPr>
        </p:nvSpPr>
        <p:spPr/>
        <p:txBody>
          <a:bodyPr/>
          <a:lstStyle/>
          <a:p>
            <a:fld id="{2649B9D9-B8CF-5243-A617-FECEDD87D2BF}" type="slidenum">
              <a:rPr lang="nl-BE" smtClean="0"/>
              <a:t>12</a:t>
            </a:fld>
            <a:endParaRPr lang="nl-BE"/>
          </a:p>
        </p:txBody>
      </p:sp>
    </p:spTree>
    <p:extLst>
      <p:ext uri="{BB962C8B-B14F-4D97-AF65-F5344CB8AC3E}">
        <p14:creationId xmlns:p14="http://schemas.microsoft.com/office/powerpoint/2010/main" val="25522845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1A444-73D9-889E-77E3-10B1C1796D78}"/>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44EBEF81-C32A-BE4B-1C89-DA28904D4F0E}"/>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F8F23D79-6DE7-5978-9343-5028FEC397C2}"/>
              </a:ext>
            </a:extLst>
          </p:cNvPr>
          <p:cNvSpPr>
            <a:spLocks noGrp="1"/>
          </p:cNvSpPr>
          <p:nvPr>
            <p:ph type="body" idx="1"/>
          </p:nvPr>
        </p:nvSpPr>
        <p:spPr/>
        <p:txBody>
          <a:bodyPr/>
          <a:lstStyle/>
          <a:p>
            <a:endParaRPr lang="nl-BE" dirty="0"/>
          </a:p>
        </p:txBody>
      </p:sp>
      <p:sp>
        <p:nvSpPr>
          <p:cNvPr id="4" name="Tijdelijke aanduiding voor dianummer 3">
            <a:extLst>
              <a:ext uri="{FF2B5EF4-FFF2-40B4-BE49-F238E27FC236}">
                <a16:creationId xmlns:a16="http://schemas.microsoft.com/office/drawing/2014/main" id="{B5452F88-1092-B5CA-26D3-0B7D0FEDFE6B}"/>
              </a:ext>
            </a:extLst>
          </p:cNvPr>
          <p:cNvSpPr>
            <a:spLocks noGrp="1"/>
          </p:cNvSpPr>
          <p:nvPr>
            <p:ph type="sldNum" sz="quarter" idx="5"/>
          </p:nvPr>
        </p:nvSpPr>
        <p:spPr/>
        <p:txBody>
          <a:bodyPr/>
          <a:lstStyle/>
          <a:p>
            <a:fld id="{2649B9D9-B8CF-5243-A617-FECEDD87D2BF}" type="slidenum">
              <a:rPr lang="nl-BE" smtClean="0"/>
              <a:t>13</a:t>
            </a:fld>
            <a:endParaRPr lang="nl-BE"/>
          </a:p>
        </p:txBody>
      </p:sp>
    </p:spTree>
    <p:extLst>
      <p:ext uri="{BB962C8B-B14F-4D97-AF65-F5344CB8AC3E}">
        <p14:creationId xmlns:p14="http://schemas.microsoft.com/office/powerpoint/2010/main" val="40605976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3A5B1-D9A4-10A9-DA48-5EE6EBE7448A}"/>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A5E5910F-495C-986E-8EB9-2215044CC53B}"/>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7BDD11C4-9346-E3D0-A438-FA552364565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1200" dirty="0"/>
              <a:t>These expressions look very complex! But we can demonstrate straightforwardly that they give rise to the kind of images shown a couple of slides ago</a:t>
            </a:r>
          </a:p>
          <a:p>
            <a:endParaRPr lang="nl-BE" dirty="0"/>
          </a:p>
        </p:txBody>
      </p:sp>
      <p:sp>
        <p:nvSpPr>
          <p:cNvPr id="4" name="Tijdelijke aanduiding voor dianummer 3">
            <a:extLst>
              <a:ext uri="{FF2B5EF4-FFF2-40B4-BE49-F238E27FC236}">
                <a16:creationId xmlns:a16="http://schemas.microsoft.com/office/drawing/2014/main" id="{5DDC7B1F-66B7-1C44-71BB-5BDC91CA9D90}"/>
              </a:ext>
            </a:extLst>
          </p:cNvPr>
          <p:cNvSpPr>
            <a:spLocks noGrp="1"/>
          </p:cNvSpPr>
          <p:nvPr>
            <p:ph type="sldNum" sz="quarter" idx="5"/>
          </p:nvPr>
        </p:nvSpPr>
        <p:spPr/>
        <p:txBody>
          <a:bodyPr/>
          <a:lstStyle/>
          <a:p>
            <a:fld id="{2649B9D9-B8CF-5243-A617-FECEDD87D2BF}" type="slidenum">
              <a:rPr lang="nl-BE" smtClean="0"/>
              <a:t>14</a:t>
            </a:fld>
            <a:endParaRPr lang="nl-BE"/>
          </a:p>
        </p:txBody>
      </p:sp>
    </p:spTree>
    <p:extLst>
      <p:ext uri="{BB962C8B-B14F-4D97-AF65-F5344CB8AC3E}">
        <p14:creationId xmlns:p14="http://schemas.microsoft.com/office/powerpoint/2010/main" val="11893399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380FD-7598-1962-BD05-00089908447C}"/>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B3736C0D-3F7F-C62D-F1EB-9324A91314FD}"/>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5B1F81E2-89A2-12C7-3FD5-A2FBCA5D81DC}"/>
              </a:ext>
            </a:extLst>
          </p:cNvPr>
          <p:cNvSpPr>
            <a:spLocks noGrp="1"/>
          </p:cNvSpPr>
          <p:nvPr>
            <p:ph type="body" idx="1"/>
          </p:nvPr>
        </p:nvSpPr>
        <p:spPr/>
        <p:txBody>
          <a:bodyPr/>
          <a:lstStyle/>
          <a:p>
            <a:r>
              <a:rPr lang="nl-BE" dirty="0"/>
              <a:t>More specifically, we will prove the following statement</a:t>
            </a:r>
          </a:p>
        </p:txBody>
      </p:sp>
      <p:sp>
        <p:nvSpPr>
          <p:cNvPr id="4" name="Tijdelijke aanduiding voor dianummer 3">
            <a:extLst>
              <a:ext uri="{FF2B5EF4-FFF2-40B4-BE49-F238E27FC236}">
                <a16:creationId xmlns:a16="http://schemas.microsoft.com/office/drawing/2014/main" id="{CD3D041C-1A77-D374-721E-8F3245C536FF}"/>
              </a:ext>
            </a:extLst>
          </p:cNvPr>
          <p:cNvSpPr>
            <a:spLocks noGrp="1"/>
          </p:cNvSpPr>
          <p:nvPr>
            <p:ph type="sldNum" sz="quarter" idx="5"/>
          </p:nvPr>
        </p:nvSpPr>
        <p:spPr/>
        <p:txBody>
          <a:bodyPr/>
          <a:lstStyle/>
          <a:p>
            <a:fld id="{2649B9D9-B8CF-5243-A617-FECEDD87D2BF}" type="slidenum">
              <a:rPr lang="nl-BE" smtClean="0"/>
              <a:t>15</a:t>
            </a:fld>
            <a:endParaRPr lang="nl-BE"/>
          </a:p>
        </p:txBody>
      </p:sp>
    </p:spTree>
    <p:extLst>
      <p:ext uri="{BB962C8B-B14F-4D97-AF65-F5344CB8AC3E}">
        <p14:creationId xmlns:p14="http://schemas.microsoft.com/office/powerpoint/2010/main" val="8179371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A09FD-D311-1AA0-14CD-0EF1C060EBCE}"/>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044DCC63-65F1-FC75-4CAF-0EB6082BC3D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1D18A70B-F59F-3E3A-BF9E-0FDD3F890E9B}"/>
              </a:ext>
            </a:extLst>
          </p:cNvPr>
          <p:cNvSpPr>
            <a:spLocks noGrp="1"/>
          </p:cNvSpPr>
          <p:nvPr>
            <p:ph type="body" idx="1"/>
          </p:nvPr>
        </p:nvSpPr>
        <p:spPr/>
        <p:txBody>
          <a:bodyPr/>
          <a:lstStyle/>
          <a:p>
            <a:r>
              <a:rPr lang="nl-BE" dirty="0"/>
              <a:t>More specifically, we will prove the following statement</a:t>
            </a:r>
          </a:p>
        </p:txBody>
      </p:sp>
      <p:sp>
        <p:nvSpPr>
          <p:cNvPr id="4" name="Tijdelijke aanduiding voor dianummer 3">
            <a:extLst>
              <a:ext uri="{FF2B5EF4-FFF2-40B4-BE49-F238E27FC236}">
                <a16:creationId xmlns:a16="http://schemas.microsoft.com/office/drawing/2014/main" id="{A7C8FFBC-58E1-83B8-8995-6898BAF53134}"/>
              </a:ext>
            </a:extLst>
          </p:cNvPr>
          <p:cNvSpPr>
            <a:spLocks noGrp="1"/>
          </p:cNvSpPr>
          <p:nvPr>
            <p:ph type="sldNum" sz="quarter" idx="5"/>
          </p:nvPr>
        </p:nvSpPr>
        <p:spPr/>
        <p:txBody>
          <a:bodyPr/>
          <a:lstStyle/>
          <a:p>
            <a:fld id="{2649B9D9-B8CF-5243-A617-FECEDD87D2BF}" type="slidenum">
              <a:rPr lang="nl-BE" smtClean="0"/>
              <a:t>16</a:t>
            </a:fld>
            <a:endParaRPr lang="nl-BE"/>
          </a:p>
        </p:txBody>
      </p:sp>
    </p:spTree>
    <p:extLst>
      <p:ext uri="{BB962C8B-B14F-4D97-AF65-F5344CB8AC3E}">
        <p14:creationId xmlns:p14="http://schemas.microsoft.com/office/powerpoint/2010/main" val="5653035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AF627-C95A-1BF7-BA84-F71EA285DA81}"/>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6108E8FC-64EE-B761-CD58-FE96A91E47E0}"/>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57CF8F41-2C02-DE5B-8CE3-A12EE4772F31}"/>
              </a:ext>
            </a:extLst>
          </p:cNvPr>
          <p:cNvSpPr>
            <a:spLocks noGrp="1"/>
          </p:cNvSpPr>
          <p:nvPr>
            <p:ph type="body" idx="1"/>
          </p:nvPr>
        </p:nvSpPr>
        <p:spPr/>
        <p:txBody>
          <a:bodyPr/>
          <a:lstStyle/>
          <a:p>
            <a:r>
              <a:rPr lang="nl-BE" dirty="0"/>
              <a:t>E_i^T =&gt; row vector with 1 value at index i, 0 in all other positions (different than 1^T from previous lectures)</a:t>
            </a:r>
          </a:p>
        </p:txBody>
      </p:sp>
      <p:sp>
        <p:nvSpPr>
          <p:cNvPr id="4" name="Tijdelijke aanduiding voor dianummer 3">
            <a:extLst>
              <a:ext uri="{FF2B5EF4-FFF2-40B4-BE49-F238E27FC236}">
                <a16:creationId xmlns:a16="http://schemas.microsoft.com/office/drawing/2014/main" id="{196D0340-30C3-CE58-F889-E7CE8704F6DC}"/>
              </a:ext>
            </a:extLst>
          </p:cNvPr>
          <p:cNvSpPr>
            <a:spLocks noGrp="1"/>
          </p:cNvSpPr>
          <p:nvPr>
            <p:ph type="sldNum" sz="quarter" idx="5"/>
          </p:nvPr>
        </p:nvSpPr>
        <p:spPr/>
        <p:txBody>
          <a:bodyPr/>
          <a:lstStyle/>
          <a:p>
            <a:fld id="{2649B9D9-B8CF-5243-A617-FECEDD87D2BF}" type="slidenum">
              <a:rPr lang="nl-BE" smtClean="0"/>
              <a:t>17</a:t>
            </a:fld>
            <a:endParaRPr lang="nl-BE"/>
          </a:p>
        </p:txBody>
      </p:sp>
    </p:spTree>
    <p:extLst>
      <p:ext uri="{BB962C8B-B14F-4D97-AF65-F5344CB8AC3E}">
        <p14:creationId xmlns:p14="http://schemas.microsoft.com/office/powerpoint/2010/main" val="31738966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59396-3A42-C735-2E49-334E4F0E5BF8}"/>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06EECC94-B3E6-4015-D369-5E8CC0275F9E}"/>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312AF523-FCD2-EE91-BC45-8B57E071528F}"/>
              </a:ext>
            </a:extLst>
          </p:cNvPr>
          <p:cNvSpPr>
            <a:spLocks noGrp="1"/>
          </p:cNvSpPr>
          <p:nvPr>
            <p:ph type="body" idx="1"/>
          </p:nvPr>
        </p:nvSpPr>
        <p:spPr/>
        <p:txBody>
          <a:bodyPr/>
          <a:lstStyle/>
          <a:p>
            <a:r>
              <a:rPr lang="nl-BE" dirty="0"/>
              <a:t>As soon as you move away from a previously measured point, sigma will start deviating from 0 =&gt; brown shaded area</a:t>
            </a:r>
          </a:p>
        </p:txBody>
      </p:sp>
      <p:sp>
        <p:nvSpPr>
          <p:cNvPr id="4" name="Tijdelijke aanduiding voor dianummer 3">
            <a:extLst>
              <a:ext uri="{FF2B5EF4-FFF2-40B4-BE49-F238E27FC236}">
                <a16:creationId xmlns:a16="http://schemas.microsoft.com/office/drawing/2014/main" id="{86118E1E-7FA1-13B1-6622-6082D4DA9E7C}"/>
              </a:ext>
            </a:extLst>
          </p:cNvPr>
          <p:cNvSpPr>
            <a:spLocks noGrp="1"/>
          </p:cNvSpPr>
          <p:nvPr>
            <p:ph type="sldNum" sz="quarter" idx="5"/>
          </p:nvPr>
        </p:nvSpPr>
        <p:spPr/>
        <p:txBody>
          <a:bodyPr/>
          <a:lstStyle/>
          <a:p>
            <a:fld id="{2649B9D9-B8CF-5243-A617-FECEDD87D2BF}" type="slidenum">
              <a:rPr lang="nl-BE" smtClean="0"/>
              <a:t>18</a:t>
            </a:fld>
            <a:endParaRPr lang="nl-BE"/>
          </a:p>
        </p:txBody>
      </p:sp>
    </p:spTree>
    <p:extLst>
      <p:ext uri="{BB962C8B-B14F-4D97-AF65-F5344CB8AC3E}">
        <p14:creationId xmlns:p14="http://schemas.microsoft.com/office/powerpoint/2010/main" val="36107939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C0F99-3EC9-A909-5038-6552960BFC8C}"/>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6546E140-10AD-4EB4-4CA2-CCDC75E2AC56}"/>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A2A35232-068F-9D6C-C5DB-18280A017F46}"/>
              </a:ext>
            </a:extLst>
          </p:cNvPr>
          <p:cNvSpPr>
            <a:spLocks noGrp="1"/>
          </p:cNvSpPr>
          <p:nvPr>
            <p:ph type="body" idx="1"/>
          </p:nvPr>
        </p:nvSpPr>
        <p:spPr/>
        <p:txBody>
          <a:bodyPr/>
          <a:lstStyle/>
          <a:p>
            <a:r>
              <a:rPr lang="nl-BE" dirty="0"/>
              <a:t>Update =&gt; prior definition is informed also by algorithm (GP) + choice of variance function</a:t>
            </a:r>
          </a:p>
        </p:txBody>
      </p:sp>
      <p:sp>
        <p:nvSpPr>
          <p:cNvPr id="4" name="Tijdelijke aanduiding voor dianummer 3">
            <a:extLst>
              <a:ext uri="{FF2B5EF4-FFF2-40B4-BE49-F238E27FC236}">
                <a16:creationId xmlns:a16="http://schemas.microsoft.com/office/drawing/2014/main" id="{C3BF065A-8F85-C666-A2A5-714D8A985420}"/>
              </a:ext>
            </a:extLst>
          </p:cNvPr>
          <p:cNvSpPr>
            <a:spLocks noGrp="1"/>
          </p:cNvSpPr>
          <p:nvPr>
            <p:ph type="sldNum" sz="quarter" idx="5"/>
          </p:nvPr>
        </p:nvSpPr>
        <p:spPr/>
        <p:txBody>
          <a:bodyPr/>
          <a:lstStyle/>
          <a:p>
            <a:fld id="{2649B9D9-B8CF-5243-A617-FECEDD87D2BF}" type="slidenum">
              <a:rPr lang="nl-BE" smtClean="0"/>
              <a:t>19</a:t>
            </a:fld>
            <a:endParaRPr lang="nl-BE"/>
          </a:p>
        </p:txBody>
      </p:sp>
    </p:spTree>
    <p:extLst>
      <p:ext uri="{BB962C8B-B14F-4D97-AF65-F5344CB8AC3E}">
        <p14:creationId xmlns:p14="http://schemas.microsoft.com/office/powerpoint/2010/main" val="33863975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AF302-C357-B4CB-B3A8-1133FD45F61D}"/>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2A4C4309-82BF-A875-1DE6-660787780E1F}"/>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411F2EA2-DC70-1E25-EE18-E20F97AEE7D5}"/>
              </a:ext>
            </a:extLst>
          </p:cNvPr>
          <p:cNvSpPr>
            <a:spLocks noGrp="1"/>
          </p:cNvSpPr>
          <p:nvPr>
            <p:ph type="body" idx="1"/>
          </p:nvPr>
        </p:nvSpPr>
        <p:spPr/>
        <p:txBody>
          <a:bodyPr/>
          <a:lstStyle/>
          <a:p>
            <a:r>
              <a:rPr lang="nl-BE" dirty="0"/>
              <a:t>Previously, we discussed that if you want to find the optimum of this function, you preferably evaluate it at a point where you stand a high chance of improving on the current maximum/minimum.</a:t>
            </a:r>
          </a:p>
          <a:p>
            <a:endParaRPr lang="nl-BE" dirty="0"/>
          </a:p>
          <a:p>
            <a:r>
              <a:rPr lang="nl-BE" dirty="0"/>
              <a:t>How do turn this into an algorithmic selection?</a:t>
            </a:r>
          </a:p>
        </p:txBody>
      </p:sp>
      <p:sp>
        <p:nvSpPr>
          <p:cNvPr id="4" name="Tijdelijke aanduiding voor dianummer 3">
            <a:extLst>
              <a:ext uri="{FF2B5EF4-FFF2-40B4-BE49-F238E27FC236}">
                <a16:creationId xmlns:a16="http://schemas.microsoft.com/office/drawing/2014/main" id="{8411B9E5-8BB3-2C8D-7226-7071F0AAC5EB}"/>
              </a:ext>
            </a:extLst>
          </p:cNvPr>
          <p:cNvSpPr>
            <a:spLocks noGrp="1"/>
          </p:cNvSpPr>
          <p:nvPr>
            <p:ph type="sldNum" sz="quarter" idx="5"/>
          </p:nvPr>
        </p:nvSpPr>
        <p:spPr/>
        <p:txBody>
          <a:bodyPr/>
          <a:lstStyle/>
          <a:p>
            <a:fld id="{2649B9D9-B8CF-5243-A617-FECEDD87D2BF}" type="slidenum">
              <a:rPr lang="nl-BE" smtClean="0"/>
              <a:t>20</a:t>
            </a:fld>
            <a:endParaRPr lang="nl-BE"/>
          </a:p>
        </p:txBody>
      </p:sp>
    </p:spTree>
    <p:extLst>
      <p:ext uri="{BB962C8B-B14F-4D97-AF65-F5344CB8AC3E}">
        <p14:creationId xmlns:p14="http://schemas.microsoft.com/office/powerpoint/2010/main" val="7971678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A3022-533F-273F-3B8D-E2E0B9C3B5AA}"/>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EF7F4144-C7B5-C05D-7886-58456A712988}"/>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Tijdelijke aanduiding voor notities 2">
                <a:extLst>
                  <a:ext uri="{FF2B5EF4-FFF2-40B4-BE49-F238E27FC236}">
                    <a16:creationId xmlns:a16="http://schemas.microsoft.com/office/drawing/2014/main" id="{C93421BE-3911-167B-DA19-499E1CE0E274}"/>
                  </a:ext>
                </a:extLst>
              </p:cNvPr>
              <p:cNvSpPr>
                <a:spLocks noGrp="1"/>
              </p:cNvSpPr>
              <p:nvPr>
                <p:ph type="body" idx="1"/>
              </p:nvPr>
            </p:nvSpPr>
            <p:spPr/>
            <p:txBody>
              <a:bodyPr/>
              <a:lstStyle/>
              <a:p>
                <a:r>
                  <a:rPr lang="nl-BE" dirty="0"/>
                  <a:t>In practice, EI quantifies how much improvement over the current best observation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𝑓</m:t>
                        </m:r>
                      </m:e>
                      <m:sub>
                        <m:r>
                          <a:rPr lang="ar-AE" sz="1200" i="0" kern="1200">
                            <a:solidFill>
                              <a:schemeClr val="tx1"/>
                            </a:solidFill>
                            <a:latin typeface="Cambria Math" panose="02040503050406030204" pitchFamily="18" charset="0"/>
                            <a:ea typeface="+mn-ea"/>
                            <a:cs typeface="+mn-cs"/>
                          </a:rPr>
                          <m:t>∗</m:t>
                        </m:r>
                      </m:sub>
                    </m:sSub>
                  </m:oMath>
                </a14:m>
                <a:r>
                  <a:rPr lang="nl-BE" dirty="0"/>
                  <a:t> is expected on average at a candidate point </a:t>
                </a:r>
                <a14:m>
                  <m:oMath xmlns:m="http://schemas.openxmlformats.org/officeDocument/2006/math">
                    <m:r>
                      <a:rPr lang="nl-BE" sz="1200" i="1" kern="1200">
                        <a:solidFill>
                          <a:schemeClr val="tx1"/>
                        </a:solidFill>
                        <a:latin typeface="Cambria Math" panose="02040503050406030204" pitchFamily="18" charset="0"/>
                        <a:ea typeface="+mn-ea"/>
                        <a:cs typeface="+mn-cs"/>
                      </a:rPr>
                      <m:t>𝑥</m:t>
                    </m:r>
                  </m:oMath>
                </a14:m>
                <a:r>
                  <a:rPr lang="nl-BE" dirty="0"/>
                  <a:t>, given the predictive distribution of the Gaussian Process. </a:t>
                </a:r>
              </a:p>
              <a:p>
                <a:endParaRPr lang="nl-BE" dirty="0"/>
              </a:p>
              <a:p>
                <a:r>
                  <a:rPr lang="nl-BE" dirty="0"/>
                  <a:t>Correct interpretation of the equation: the Expected Improvement integrates the portion of the predictive distribution </a:t>
                </a:r>
                <a14:m>
                  <m:oMath xmlns:m="http://schemas.openxmlformats.org/officeDocument/2006/math">
                    <m:acc>
                      <m:accPr>
                        <m:chr m:val="̃"/>
                        <m:ctrlPr>
                          <a:rPr lang="ar-AE" sz="1200" i="1" kern="1200">
                            <a:solidFill>
                              <a:schemeClr val="tx1"/>
                            </a:solidFill>
                            <a:latin typeface="Cambria Math" panose="02040503050406030204" pitchFamily="18" charset="0"/>
                            <a:ea typeface="+mn-ea"/>
                            <a:cs typeface="+mn-cs"/>
                          </a:rPr>
                        </m:ctrlPr>
                      </m:accPr>
                      <m:e>
                        <m:r>
                          <a:rPr lang="ar-AE" sz="1200" i="1" kern="1200">
                            <a:solidFill>
                              <a:schemeClr val="tx1"/>
                            </a:solidFill>
                            <a:latin typeface="Cambria Math" panose="02040503050406030204" pitchFamily="18" charset="0"/>
                            <a:ea typeface="+mn-ea"/>
                            <a:cs typeface="+mn-cs"/>
                          </a:rPr>
                          <m:t>𝑓</m:t>
                        </m:r>
                      </m:e>
                    </m:acc>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𝑥</m:t>
                        </m:r>
                      </m:e>
                    </m:d>
                  </m:oMath>
                </a14:m>
                <a:r>
                  <a:rPr lang="nl-BE" dirty="0"/>
                  <a:t> that exceeds the current best value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𝑓</m:t>
                        </m:r>
                      </m:e>
                      <m:sub>
                        <m:r>
                          <a:rPr lang="ar-AE" sz="1200" i="0" kern="1200">
                            <a:solidFill>
                              <a:schemeClr val="tx1"/>
                            </a:solidFill>
                            <a:latin typeface="Cambria Math" panose="02040503050406030204" pitchFamily="18" charset="0"/>
                            <a:ea typeface="+mn-ea"/>
                            <a:cs typeface="+mn-cs"/>
                          </a:rPr>
                          <m:t>∗</m:t>
                        </m:r>
                      </m:sub>
                    </m:sSub>
                  </m:oMath>
                </a14:m>
                <a:r>
                  <a:rPr lang="ar-AE" dirty="0"/>
                  <a:t>, </a:t>
                </a:r>
                <a:r>
                  <a:rPr lang="nl-BE" dirty="0"/>
                  <a:t>weighing each possible improvement by how likely it is under the model’s uncertainty.</a:t>
                </a:r>
              </a:p>
              <a:p>
                <a:endParaRPr lang="nl-BE" dirty="0"/>
              </a:p>
              <a:p>
                <a:r>
                  <a:rPr lang="nl-BE" dirty="0"/>
                  <a:t>=&gt; When at point x, the probability distribution to reach a value higher than f* is zero, then EI will be 0; if there is even a very small chance that the measurement at this point will yield a value higher than f*, then EI is not zero.</a:t>
                </a:r>
              </a:p>
            </p:txBody>
          </p:sp>
        </mc:Choice>
        <mc:Fallback xmlns="">
          <p:sp>
            <p:nvSpPr>
              <p:cNvPr id="3" name="Tijdelijke aanduiding voor notities 2">
                <a:extLst>
                  <a:ext uri="{FF2B5EF4-FFF2-40B4-BE49-F238E27FC236}">
                    <a16:creationId xmlns:a16="http://schemas.microsoft.com/office/drawing/2014/main" id="{C93421BE-3911-167B-DA19-499E1CE0E274}"/>
                  </a:ext>
                </a:extLst>
              </p:cNvPr>
              <p:cNvSpPr>
                <a:spLocks noGrp="1"/>
              </p:cNvSpPr>
              <p:nvPr>
                <p:ph type="body" idx="1"/>
              </p:nvPr>
            </p:nvSpPr>
            <p:spPr/>
            <p:txBody>
              <a:bodyPr/>
              <a:lstStyle/>
              <a:p>
                <a:r>
                  <a:rPr lang="nl-BE" dirty="0"/>
                  <a:t>In practice, EI quantifies how much improvement over the current best observation </a:t>
                </a:r>
                <a:r>
                  <a:rPr lang="ar-AE" sz="1200" i="0" kern="1200">
                    <a:solidFill>
                      <a:schemeClr val="tx1"/>
                    </a:solidFill>
                    <a:latin typeface="+mn-lt"/>
                    <a:ea typeface="+mn-ea"/>
                    <a:cs typeface="+mn-cs"/>
                  </a:rPr>
                  <a:t>𝑓_∗</a:t>
                </a:r>
                <a:r>
                  <a:rPr lang="nl-BE" dirty="0"/>
                  <a:t>is expected on average at a candidate point </a:t>
                </a:r>
                <a:r>
                  <a:rPr lang="nl-BE" sz="1200" i="0" kern="1200">
                    <a:solidFill>
                      <a:schemeClr val="tx1"/>
                    </a:solidFill>
                    <a:latin typeface="+mn-lt"/>
                    <a:ea typeface="+mn-ea"/>
                    <a:cs typeface="+mn-cs"/>
                  </a:rPr>
                  <a:t>𝑥</a:t>
                </a:r>
                <a:r>
                  <a:rPr lang="nl-BE" dirty="0"/>
                  <a:t>, given the predictive distribution of the Gaussian Process. </a:t>
                </a:r>
              </a:p>
              <a:p>
                <a:endParaRPr lang="nl-BE" dirty="0"/>
              </a:p>
              <a:p>
                <a:r>
                  <a:rPr lang="nl-BE" dirty="0"/>
                  <a:t>Correct interpretation of the equation: the Expected Improvement integrates the portion of the predictive distribution </a:t>
                </a:r>
                <a:r>
                  <a:rPr lang="ar-AE" sz="1200" i="0" kern="1200">
                    <a:solidFill>
                      <a:schemeClr val="tx1"/>
                    </a:solidFill>
                    <a:latin typeface="+mn-lt"/>
                    <a:ea typeface="+mn-ea"/>
                    <a:cs typeface="+mn-cs"/>
                  </a:rPr>
                  <a:t>𝑓 ̃(𝑥)</a:t>
                </a:r>
                <a:r>
                  <a:rPr lang="nl-BE" dirty="0"/>
                  <a:t>that exceeds the current best value </a:t>
                </a:r>
                <a:r>
                  <a:rPr lang="ar-AE" sz="1200" i="0" kern="1200">
                    <a:solidFill>
                      <a:schemeClr val="tx1"/>
                    </a:solidFill>
                    <a:latin typeface="+mn-lt"/>
                    <a:ea typeface="+mn-ea"/>
                    <a:cs typeface="+mn-cs"/>
                  </a:rPr>
                  <a:t>𝑓_∗</a:t>
                </a:r>
                <a:r>
                  <a:rPr lang="ar-AE" dirty="0"/>
                  <a:t>, </a:t>
                </a:r>
                <a:r>
                  <a:rPr lang="nl-BE" dirty="0"/>
                  <a:t>weighing each possible improvement by how likely it is under the model’s uncertainty.</a:t>
                </a:r>
              </a:p>
              <a:p>
                <a:endParaRPr lang="nl-BE" dirty="0"/>
              </a:p>
              <a:p>
                <a:r>
                  <a:rPr lang="nl-BE" dirty="0"/>
                  <a:t>=&gt; When at point x, the probability distribution to reach a value higher than f* is zero, then EI will be 0; if there is even a very small chance that the measurement at this point will yield a </a:t>
                </a:r>
                <a:r>
                  <a:rPr lang="nl-BE"/>
                  <a:t>value higher than </a:t>
                </a:r>
                <a:r>
                  <a:rPr lang="nl-BE" dirty="0"/>
                  <a:t>f*, then EI is not zero.</a:t>
                </a:r>
              </a:p>
            </p:txBody>
          </p:sp>
        </mc:Fallback>
      </mc:AlternateContent>
      <p:sp>
        <p:nvSpPr>
          <p:cNvPr id="4" name="Tijdelijke aanduiding voor dianummer 3">
            <a:extLst>
              <a:ext uri="{FF2B5EF4-FFF2-40B4-BE49-F238E27FC236}">
                <a16:creationId xmlns:a16="http://schemas.microsoft.com/office/drawing/2014/main" id="{FECB4867-DA60-0FAC-E897-40739F195964}"/>
              </a:ext>
            </a:extLst>
          </p:cNvPr>
          <p:cNvSpPr>
            <a:spLocks noGrp="1"/>
          </p:cNvSpPr>
          <p:nvPr>
            <p:ph type="sldNum" sz="quarter" idx="5"/>
          </p:nvPr>
        </p:nvSpPr>
        <p:spPr/>
        <p:txBody>
          <a:bodyPr/>
          <a:lstStyle/>
          <a:p>
            <a:fld id="{2649B9D9-B8CF-5243-A617-FECEDD87D2BF}" type="slidenum">
              <a:rPr lang="nl-BE" smtClean="0"/>
              <a:t>21</a:t>
            </a:fld>
            <a:endParaRPr lang="nl-BE"/>
          </a:p>
        </p:txBody>
      </p:sp>
    </p:spTree>
    <p:extLst>
      <p:ext uri="{BB962C8B-B14F-4D97-AF65-F5344CB8AC3E}">
        <p14:creationId xmlns:p14="http://schemas.microsoft.com/office/powerpoint/2010/main" val="13080283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98788-5BB9-F0FA-FA29-ABA09FD09998}"/>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DA77817B-5BDF-AE80-736A-85B4D0C6E55D}"/>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9711349B-8494-0BCF-B196-BB472A6ACEF8}"/>
              </a:ext>
            </a:extLst>
          </p:cNvPr>
          <p:cNvSpPr>
            <a:spLocks noGrp="1"/>
          </p:cNvSpPr>
          <p:nvPr>
            <p:ph type="body" idx="1"/>
          </p:nvPr>
        </p:nvSpPr>
        <p:spPr/>
        <p:txBody>
          <a:bodyPr/>
          <a:lstStyle/>
          <a:p>
            <a:r>
              <a:rPr lang="nl-BE" dirty="0"/>
              <a:t>If you understand this scheme in full, then you have a pretty good sense what BO is about</a:t>
            </a:r>
          </a:p>
        </p:txBody>
      </p:sp>
      <p:sp>
        <p:nvSpPr>
          <p:cNvPr id="4" name="Tijdelijke aanduiding voor dianummer 3">
            <a:extLst>
              <a:ext uri="{FF2B5EF4-FFF2-40B4-BE49-F238E27FC236}">
                <a16:creationId xmlns:a16="http://schemas.microsoft.com/office/drawing/2014/main" id="{210A6EE0-1E82-8E2A-AE82-074A4285B89F}"/>
              </a:ext>
            </a:extLst>
          </p:cNvPr>
          <p:cNvSpPr>
            <a:spLocks noGrp="1"/>
          </p:cNvSpPr>
          <p:nvPr>
            <p:ph type="sldNum" sz="quarter" idx="5"/>
          </p:nvPr>
        </p:nvSpPr>
        <p:spPr/>
        <p:txBody>
          <a:bodyPr/>
          <a:lstStyle/>
          <a:p>
            <a:fld id="{2649B9D9-B8CF-5243-A617-FECEDD87D2BF}" type="slidenum">
              <a:rPr lang="nl-BE" smtClean="0"/>
              <a:t>22</a:t>
            </a:fld>
            <a:endParaRPr lang="nl-BE"/>
          </a:p>
        </p:txBody>
      </p:sp>
    </p:spTree>
    <p:extLst>
      <p:ext uri="{BB962C8B-B14F-4D97-AF65-F5344CB8AC3E}">
        <p14:creationId xmlns:p14="http://schemas.microsoft.com/office/powerpoint/2010/main" val="33049563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60AF6-D946-FA5B-DB1B-C6974AA87DC3}"/>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CEBF8223-9E6F-D60B-A0EC-8046C479FC06}"/>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835F3747-9B3B-9960-81FA-CB3E96AC7DDC}"/>
              </a:ext>
            </a:extLst>
          </p:cNvPr>
          <p:cNvSpPr>
            <a:spLocks noGrp="1"/>
          </p:cNvSpPr>
          <p:nvPr>
            <p:ph type="body" idx="1"/>
          </p:nvPr>
        </p:nvSpPr>
        <p:spPr/>
        <p:txBody>
          <a:bodyPr/>
          <a:lstStyle/>
          <a:p>
            <a:r>
              <a:rPr lang="nl-BE" dirty="0"/>
              <a:t>Applications in medicinal chemistry =&gt; two pioneering papers in the field</a:t>
            </a:r>
          </a:p>
          <a:p>
            <a:endParaRPr lang="nl-BE" dirty="0"/>
          </a:p>
          <a:p>
            <a:r>
              <a:rPr lang="nl-BE" dirty="0"/>
              <a:t>First one: nature paper from a couple of years ago =&gt;authors demonstrated that BO outperforms human decision making when trying to optimize the yield of chemical reactions</a:t>
            </a:r>
          </a:p>
        </p:txBody>
      </p:sp>
      <p:sp>
        <p:nvSpPr>
          <p:cNvPr id="4" name="Tijdelijke aanduiding voor dianummer 3">
            <a:extLst>
              <a:ext uri="{FF2B5EF4-FFF2-40B4-BE49-F238E27FC236}">
                <a16:creationId xmlns:a16="http://schemas.microsoft.com/office/drawing/2014/main" id="{ED02A1A6-4711-1705-9D9A-61B5298FD8E3}"/>
              </a:ext>
            </a:extLst>
          </p:cNvPr>
          <p:cNvSpPr>
            <a:spLocks noGrp="1"/>
          </p:cNvSpPr>
          <p:nvPr>
            <p:ph type="sldNum" sz="quarter" idx="5"/>
          </p:nvPr>
        </p:nvSpPr>
        <p:spPr/>
        <p:txBody>
          <a:bodyPr/>
          <a:lstStyle/>
          <a:p>
            <a:fld id="{2649B9D9-B8CF-5243-A617-FECEDD87D2BF}" type="slidenum">
              <a:rPr lang="nl-BE" smtClean="0"/>
              <a:t>23</a:t>
            </a:fld>
            <a:endParaRPr lang="nl-BE"/>
          </a:p>
        </p:txBody>
      </p:sp>
    </p:spTree>
    <p:extLst>
      <p:ext uri="{BB962C8B-B14F-4D97-AF65-F5344CB8AC3E}">
        <p14:creationId xmlns:p14="http://schemas.microsoft.com/office/powerpoint/2010/main" val="17138516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A9763-6FF5-5406-93A2-36F0375D830E}"/>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5B3EBE84-2A96-7666-A08D-3AE5CC725449}"/>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94454795-241D-33B9-EEBA-EAC5C5825705}"/>
              </a:ext>
            </a:extLst>
          </p:cNvPr>
          <p:cNvSpPr>
            <a:spLocks noGrp="1"/>
          </p:cNvSpPr>
          <p:nvPr>
            <p:ph type="body" idx="1"/>
          </p:nvPr>
        </p:nvSpPr>
        <p:spPr/>
        <p:txBody>
          <a:bodyPr/>
          <a:lstStyle/>
          <a:p>
            <a:r>
              <a:rPr lang="nl-BE" dirty="0"/>
              <a:t>Multiple variables =&gt; x is now no longer 1D, but a point in an N dimensional space</a:t>
            </a:r>
          </a:p>
          <a:p>
            <a:endParaRPr lang="nl-BE" dirty="0"/>
          </a:p>
          <a:p>
            <a:r>
              <a:rPr lang="nl-BE" dirty="0"/>
              <a:t>Beyond the scope of this lecture: in principle you can learn distinct lengthscales, i.e., distances over which decoherence sets in, for different variables</a:t>
            </a:r>
          </a:p>
          <a:p>
            <a:endParaRPr lang="nl-BE" dirty="0"/>
          </a:p>
          <a:p>
            <a:r>
              <a:rPr lang="nl-BE" dirty="0"/>
              <a:t>Regardless, traditionally: one-hot encoding for all options for a given variable =&gt; is not a good idea because all options are equidistant then </a:t>
            </a:r>
          </a:p>
          <a:p>
            <a:r>
              <a:rPr lang="nl-BE" dirty="0"/>
              <a:t>=&gt; I cannot distinguish between “chemically similar” and “chemically distinct” options =&gt; covariance function cannot be finetuned</a:t>
            </a:r>
          </a:p>
        </p:txBody>
      </p:sp>
      <p:sp>
        <p:nvSpPr>
          <p:cNvPr id="4" name="Tijdelijke aanduiding voor dianummer 3">
            <a:extLst>
              <a:ext uri="{FF2B5EF4-FFF2-40B4-BE49-F238E27FC236}">
                <a16:creationId xmlns:a16="http://schemas.microsoft.com/office/drawing/2014/main" id="{524028AE-2696-7057-AEAD-1B0AB7E3C61D}"/>
              </a:ext>
            </a:extLst>
          </p:cNvPr>
          <p:cNvSpPr>
            <a:spLocks noGrp="1"/>
          </p:cNvSpPr>
          <p:nvPr>
            <p:ph type="sldNum" sz="quarter" idx="5"/>
          </p:nvPr>
        </p:nvSpPr>
        <p:spPr/>
        <p:txBody>
          <a:bodyPr/>
          <a:lstStyle/>
          <a:p>
            <a:fld id="{2649B9D9-B8CF-5243-A617-FECEDD87D2BF}" type="slidenum">
              <a:rPr lang="nl-BE" smtClean="0"/>
              <a:t>24</a:t>
            </a:fld>
            <a:endParaRPr lang="nl-BE"/>
          </a:p>
        </p:txBody>
      </p:sp>
    </p:spTree>
    <p:extLst>
      <p:ext uri="{BB962C8B-B14F-4D97-AF65-F5344CB8AC3E}">
        <p14:creationId xmlns:p14="http://schemas.microsoft.com/office/powerpoint/2010/main" val="32105544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6F31B-3DC4-BDDE-8B9D-A6D8C7A85B10}"/>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2BD822DA-CE7D-04DA-CE1C-2AC3184C8340}"/>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56750003-F799-BCB9-480F-36506C53D87B}"/>
              </a:ext>
            </a:extLst>
          </p:cNvPr>
          <p:cNvSpPr>
            <a:spLocks noGrp="1"/>
          </p:cNvSpPr>
          <p:nvPr>
            <p:ph type="body" idx="1"/>
          </p:nvPr>
        </p:nvSpPr>
        <p:spPr/>
        <p:txBody>
          <a:bodyPr/>
          <a:lstStyle/>
          <a:p>
            <a:r>
              <a:rPr lang="nl-BE" sz="1200" dirty="0">
                <a:sym typeface="Wingdings" pitchFamily="2" charset="2"/>
              </a:rPr>
              <a:t>e.g., I represent the solvent by its dielectric constant =&gt; polar solvents are likely to behave similarly, apolar solvents will be different</a:t>
            </a:r>
          </a:p>
          <a:p>
            <a:endParaRPr lang="nl-BE" sz="1200" dirty="0">
              <a:sym typeface="Wingdings" pitchFamily="2" charset="2"/>
            </a:endParaRPr>
          </a:p>
          <a:p>
            <a:r>
              <a:rPr lang="nl-BE" sz="1200" dirty="0">
                <a:sym typeface="Wingdings" pitchFamily="2" charset="2"/>
              </a:rPr>
              <a:t>Works especially well when you have 100s or 1000s of possibilities (e.g., ligand options for Pd catalyst).</a:t>
            </a:r>
            <a:endParaRPr lang="nl-BE" dirty="0"/>
          </a:p>
        </p:txBody>
      </p:sp>
      <p:sp>
        <p:nvSpPr>
          <p:cNvPr id="4" name="Tijdelijke aanduiding voor dianummer 3">
            <a:extLst>
              <a:ext uri="{FF2B5EF4-FFF2-40B4-BE49-F238E27FC236}">
                <a16:creationId xmlns:a16="http://schemas.microsoft.com/office/drawing/2014/main" id="{EC1E1B37-F520-9791-E274-E6B3F8FE54FB}"/>
              </a:ext>
            </a:extLst>
          </p:cNvPr>
          <p:cNvSpPr>
            <a:spLocks noGrp="1"/>
          </p:cNvSpPr>
          <p:nvPr>
            <p:ph type="sldNum" sz="quarter" idx="5"/>
          </p:nvPr>
        </p:nvSpPr>
        <p:spPr/>
        <p:txBody>
          <a:bodyPr/>
          <a:lstStyle/>
          <a:p>
            <a:fld id="{2649B9D9-B8CF-5243-A617-FECEDD87D2BF}" type="slidenum">
              <a:rPr lang="nl-BE" smtClean="0"/>
              <a:t>25</a:t>
            </a:fld>
            <a:endParaRPr lang="nl-BE"/>
          </a:p>
        </p:txBody>
      </p:sp>
    </p:spTree>
    <p:extLst>
      <p:ext uri="{BB962C8B-B14F-4D97-AF65-F5344CB8AC3E}">
        <p14:creationId xmlns:p14="http://schemas.microsoft.com/office/powerpoint/2010/main" val="10256503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7AC01-9E5A-1185-6BE5-5C1DC05FED62}"/>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D1903974-B9D8-6997-BE2B-DCF68F3E22D5}"/>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674C2C8C-2083-F59B-C642-6A37FAF1C257}"/>
              </a:ext>
            </a:extLst>
          </p:cNvPr>
          <p:cNvSpPr>
            <a:spLocks noGrp="1"/>
          </p:cNvSpPr>
          <p:nvPr>
            <p:ph type="body" idx="1"/>
          </p:nvPr>
        </p:nvSpPr>
        <p:spPr/>
        <p:txBody>
          <a:bodyPr/>
          <a:lstStyle/>
          <a:p>
            <a:r>
              <a:rPr lang="nl-BE" dirty="0"/>
              <a:t>Explain game</a:t>
            </a:r>
          </a:p>
        </p:txBody>
      </p:sp>
      <p:sp>
        <p:nvSpPr>
          <p:cNvPr id="4" name="Tijdelijke aanduiding voor dianummer 3">
            <a:extLst>
              <a:ext uri="{FF2B5EF4-FFF2-40B4-BE49-F238E27FC236}">
                <a16:creationId xmlns:a16="http://schemas.microsoft.com/office/drawing/2014/main" id="{9AEF10E9-279B-F8C7-0E26-5A2642E4DBB3}"/>
              </a:ext>
            </a:extLst>
          </p:cNvPr>
          <p:cNvSpPr>
            <a:spLocks noGrp="1"/>
          </p:cNvSpPr>
          <p:nvPr>
            <p:ph type="sldNum" sz="quarter" idx="5"/>
          </p:nvPr>
        </p:nvSpPr>
        <p:spPr/>
        <p:txBody>
          <a:bodyPr/>
          <a:lstStyle/>
          <a:p>
            <a:fld id="{2649B9D9-B8CF-5243-A617-FECEDD87D2BF}" type="slidenum">
              <a:rPr lang="nl-BE" smtClean="0"/>
              <a:t>26</a:t>
            </a:fld>
            <a:endParaRPr lang="nl-BE"/>
          </a:p>
        </p:txBody>
      </p:sp>
    </p:spTree>
    <p:extLst>
      <p:ext uri="{BB962C8B-B14F-4D97-AF65-F5344CB8AC3E}">
        <p14:creationId xmlns:p14="http://schemas.microsoft.com/office/powerpoint/2010/main" val="35205846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66173-1807-14B7-A93F-0593E6A813B6}"/>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BF74208A-ACF9-60EC-D39D-1E3C9756D9E5}"/>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80A6736E-E50A-D124-E6EC-E7A1F56251DC}"/>
              </a:ext>
            </a:extLst>
          </p:cNvPr>
          <p:cNvSpPr>
            <a:spLocks noGrp="1"/>
          </p:cNvSpPr>
          <p:nvPr>
            <p:ph type="body" idx="1"/>
          </p:nvPr>
        </p:nvSpPr>
        <p:spPr/>
        <p:txBody>
          <a:bodyPr/>
          <a:lstStyle/>
          <a:p>
            <a:endParaRPr lang="nl-BE" dirty="0"/>
          </a:p>
        </p:txBody>
      </p:sp>
      <p:sp>
        <p:nvSpPr>
          <p:cNvPr id="4" name="Tijdelijke aanduiding voor dianummer 3">
            <a:extLst>
              <a:ext uri="{FF2B5EF4-FFF2-40B4-BE49-F238E27FC236}">
                <a16:creationId xmlns:a16="http://schemas.microsoft.com/office/drawing/2014/main" id="{BFCB8F05-4E53-06E4-9C07-230C93345E7D}"/>
              </a:ext>
            </a:extLst>
          </p:cNvPr>
          <p:cNvSpPr>
            <a:spLocks noGrp="1"/>
          </p:cNvSpPr>
          <p:nvPr>
            <p:ph type="sldNum" sz="quarter" idx="5"/>
          </p:nvPr>
        </p:nvSpPr>
        <p:spPr/>
        <p:txBody>
          <a:bodyPr/>
          <a:lstStyle/>
          <a:p>
            <a:fld id="{2649B9D9-B8CF-5243-A617-FECEDD87D2BF}" type="slidenum">
              <a:rPr lang="nl-BE" smtClean="0"/>
              <a:t>27</a:t>
            </a:fld>
            <a:endParaRPr lang="nl-BE"/>
          </a:p>
        </p:txBody>
      </p:sp>
    </p:spTree>
    <p:extLst>
      <p:ext uri="{BB962C8B-B14F-4D97-AF65-F5344CB8AC3E}">
        <p14:creationId xmlns:p14="http://schemas.microsoft.com/office/powerpoint/2010/main" val="28298478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DC796-2C96-72DC-D8F7-A4DD0A600345}"/>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05AD0737-D395-BA3E-139C-9CA6A8F275E7}"/>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01069C8B-FC9D-66BC-04A4-57FDA2F59C87}"/>
              </a:ext>
            </a:extLst>
          </p:cNvPr>
          <p:cNvSpPr>
            <a:spLocks noGrp="1"/>
          </p:cNvSpPr>
          <p:nvPr>
            <p:ph type="body" idx="1"/>
          </p:nvPr>
        </p:nvSpPr>
        <p:spPr/>
        <p:txBody>
          <a:bodyPr/>
          <a:lstStyle/>
          <a:p>
            <a:endParaRPr lang="nl-BE" dirty="0"/>
          </a:p>
        </p:txBody>
      </p:sp>
      <p:sp>
        <p:nvSpPr>
          <p:cNvPr id="4" name="Tijdelijke aanduiding voor dianummer 3">
            <a:extLst>
              <a:ext uri="{FF2B5EF4-FFF2-40B4-BE49-F238E27FC236}">
                <a16:creationId xmlns:a16="http://schemas.microsoft.com/office/drawing/2014/main" id="{5D430210-1228-1444-1BB6-5A33409B011D}"/>
              </a:ext>
            </a:extLst>
          </p:cNvPr>
          <p:cNvSpPr>
            <a:spLocks noGrp="1"/>
          </p:cNvSpPr>
          <p:nvPr>
            <p:ph type="sldNum" sz="quarter" idx="5"/>
          </p:nvPr>
        </p:nvSpPr>
        <p:spPr/>
        <p:txBody>
          <a:bodyPr/>
          <a:lstStyle/>
          <a:p>
            <a:fld id="{2649B9D9-B8CF-5243-A617-FECEDD87D2BF}" type="slidenum">
              <a:rPr lang="nl-BE" smtClean="0"/>
              <a:t>28</a:t>
            </a:fld>
            <a:endParaRPr lang="nl-BE"/>
          </a:p>
        </p:txBody>
      </p:sp>
    </p:spTree>
    <p:extLst>
      <p:ext uri="{BB962C8B-B14F-4D97-AF65-F5344CB8AC3E}">
        <p14:creationId xmlns:p14="http://schemas.microsoft.com/office/powerpoint/2010/main" val="26829745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61B5D-BB55-84AC-86DC-EA4ECFB85025}"/>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CBAB0182-A7DC-1E88-CC5E-86B6B3F96FC6}"/>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6BC6070D-B045-99EC-F3CF-10307CDA978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p:txBody>
      </p:sp>
      <p:sp>
        <p:nvSpPr>
          <p:cNvPr id="4" name="Tijdelijke aanduiding voor dianummer 3">
            <a:extLst>
              <a:ext uri="{FF2B5EF4-FFF2-40B4-BE49-F238E27FC236}">
                <a16:creationId xmlns:a16="http://schemas.microsoft.com/office/drawing/2014/main" id="{0AA68B3F-B4C2-CCE3-C493-AC8F94EC9AE3}"/>
              </a:ext>
            </a:extLst>
          </p:cNvPr>
          <p:cNvSpPr>
            <a:spLocks noGrp="1"/>
          </p:cNvSpPr>
          <p:nvPr>
            <p:ph type="sldNum" sz="quarter" idx="5"/>
          </p:nvPr>
        </p:nvSpPr>
        <p:spPr/>
        <p:txBody>
          <a:bodyPr/>
          <a:lstStyle/>
          <a:p>
            <a:fld id="{2649B9D9-B8CF-5243-A617-FECEDD87D2BF}" type="slidenum">
              <a:rPr lang="nl-BE" smtClean="0"/>
              <a:t>29</a:t>
            </a:fld>
            <a:endParaRPr lang="nl-BE"/>
          </a:p>
        </p:txBody>
      </p:sp>
    </p:spTree>
    <p:extLst>
      <p:ext uri="{BB962C8B-B14F-4D97-AF65-F5344CB8AC3E}">
        <p14:creationId xmlns:p14="http://schemas.microsoft.com/office/powerpoint/2010/main" val="4217656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018DC5A-1DDC-BC9C-9169-EA3758BEBCC2}"/>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endParaRPr lang="nl-BE"/>
          </a:p>
        </p:txBody>
      </p:sp>
      <p:sp>
        <p:nvSpPr>
          <p:cNvPr id="3" name="Ondertitel 2">
            <a:extLst>
              <a:ext uri="{FF2B5EF4-FFF2-40B4-BE49-F238E27FC236}">
                <a16:creationId xmlns:a16="http://schemas.microsoft.com/office/drawing/2014/main" id="{D054938F-97AF-82AA-036F-4B409827CA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endParaRPr lang="nl-BE"/>
          </a:p>
        </p:txBody>
      </p:sp>
      <p:sp>
        <p:nvSpPr>
          <p:cNvPr id="4" name="Tijdelijke aanduiding voor datum 3">
            <a:extLst>
              <a:ext uri="{FF2B5EF4-FFF2-40B4-BE49-F238E27FC236}">
                <a16:creationId xmlns:a16="http://schemas.microsoft.com/office/drawing/2014/main" id="{B416C6CB-ACE3-1DD9-67E1-CF4C28F58575}"/>
              </a:ext>
            </a:extLst>
          </p:cNvPr>
          <p:cNvSpPr>
            <a:spLocks noGrp="1"/>
          </p:cNvSpPr>
          <p:nvPr>
            <p:ph type="dt" sz="half" idx="10"/>
          </p:nvPr>
        </p:nvSpPr>
        <p:spPr/>
        <p:txBody>
          <a:bodyPr/>
          <a:lstStyle/>
          <a:p>
            <a:fld id="{DC3A0648-10AD-FB4C-BC84-A783B721362D}" type="datetime1">
              <a:rPr lang="nl-BE" smtClean="0"/>
              <a:t>3/06/2026</a:t>
            </a:fld>
            <a:endParaRPr lang="nl-BE"/>
          </a:p>
        </p:txBody>
      </p:sp>
      <p:sp>
        <p:nvSpPr>
          <p:cNvPr id="5" name="Tijdelijke aanduiding voor voettekst 4">
            <a:extLst>
              <a:ext uri="{FF2B5EF4-FFF2-40B4-BE49-F238E27FC236}">
                <a16:creationId xmlns:a16="http://schemas.microsoft.com/office/drawing/2014/main" id="{4D1927B0-5830-FEC5-B7C3-0D3DD020728F}"/>
              </a:ext>
            </a:extLst>
          </p:cNvPr>
          <p:cNvSpPr>
            <a:spLocks noGrp="1"/>
          </p:cNvSpPr>
          <p:nvPr>
            <p:ph type="ftr" sz="quarter" idx="11"/>
          </p:nvPr>
        </p:nvSpPr>
        <p:spPr/>
        <p:txBody>
          <a:bodyPr/>
          <a:lstStyle/>
          <a:p>
            <a:endParaRPr lang="nl-BE"/>
          </a:p>
        </p:txBody>
      </p:sp>
      <p:sp>
        <p:nvSpPr>
          <p:cNvPr id="6" name="Tijdelijke aanduiding voor dianummer 5">
            <a:extLst>
              <a:ext uri="{FF2B5EF4-FFF2-40B4-BE49-F238E27FC236}">
                <a16:creationId xmlns:a16="http://schemas.microsoft.com/office/drawing/2014/main" id="{C54322D5-0663-1FA6-6EC1-0C8132A95286}"/>
              </a:ext>
            </a:extLst>
          </p:cNvPr>
          <p:cNvSpPr>
            <a:spLocks noGrp="1"/>
          </p:cNvSpPr>
          <p:nvPr>
            <p:ph type="sldNum" sz="quarter" idx="12"/>
          </p:nvPr>
        </p:nvSpPr>
        <p:spPr/>
        <p:txBody>
          <a:bodyPr/>
          <a:lstStyle/>
          <a:p>
            <a:fld id="{45E6605D-1E32-D542-B458-1FC57A046453}" type="slidenum">
              <a:rPr lang="nl-BE" smtClean="0"/>
              <a:t>‹nr.›</a:t>
            </a:fld>
            <a:endParaRPr lang="nl-BE"/>
          </a:p>
        </p:txBody>
      </p:sp>
    </p:spTree>
    <p:extLst>
      <p:ext uri="{BB962C8B-B14F-4D97-AF65-F5344CB8AC3E}">
        <p14:creationId xmlns:p14="http://schemas.microsoft.com/office/powerpoint/2010/main" val="2556509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008059-3063-7247-5023-60B6894C600B}"/>
              </a:ext>
            </a:extLst>
          </p:cNvPr>
          <p:cNvSpPr>
            <a:spLocks noGrp="1"/>
          </p:cNvSpPr>
          <p:nvPr>
            <p:ph type="title"/>
          </p:nvPr>
        </p:nvSpPr>
        <p:spPr/>
        <p:txBody>
          <a:bodyPr/>
          <a:lstStyle/>
          <a:p>
            <a:r>
              <a:rPr lang="nl-NL"/>
              <a:t>Klik om stijl te bewerken</a:t>
            </a:r>
            <a:endParaRPr lang="nl-BE"/>
          </a:p>
        </p:txBody>
      </p:sp>
      <p:sp>
        <p:nvSpPr>
          <p:cNvPr id="3" name="Tijdelijke aanduiding voor inhoud 2">
            <a:extLst>
              <a:ext uri="{FF2B5EF4-FFF2-40B4-BE49-F238E27FC236}">
                <a16:creationId xmlns:a16="http://schemas.microsoft.com/office/drawing/2014/main" id="{4C4808DB-D43A-5459-40EC-5086F0C342CE}"/>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a:extLst>
              <a:ext uri="{FF2B5EF4-FFF2-40B4-BE49-F238E27FC236}">
                <a16:creationId xmlns:a16="http://schemas.microsoft.com/office/drawing/2014/main" id="{C9B5EC95-E46A-D194-E14E-E03810C55990}"/>
              </a:ext>
            </a:extLst>
          </p:cNvPr>
          <p:cNvSpPr>
            <a:spLocks noGrp="1"/>
          </p:cNvSpPr>
          <p:nvPr>
            <p:ph type="dt" sz="half" idx="10"/>
          </p:nvPr>
        </p:nvSpPr>
        <p:spPr/>
        <p:txBody>
          <a:bodyPr/>
          <a:lstStyle/>
          <a:p>
            <a:fld id="{55291985-F04E-814A-82FA-AEE9FCEC7DA2}" type="datetime1">
              <a:rPr lang="nl-BE" smtClean="0"/>
              <a:t>3/06/2026</a:t>
            </a:fld>
            <a:endParaRPr lang="nl-BE"/>
          </a:p>
        </p:txBody>
      </p:sp>
      <p:sp>
        <p:nvSpPr>
          <p:cNvPr id="5" name="Tijdelijke aanduiding voor voettekst 4">
            <a:extLst>
              <a:ext uri="{FF2B5EF4-FFF2-40B4-BE49-F238E27FC236}">
                <a16:creationId xmlns:a16="http://schemas.microsoft.com/office/drawing/2014/main" id="{7310B723-3E42-7739-F66C-DA33D96CB031}"/>
              </a:ext>
            </a:extLst>
          </p:cNvPr>
          <p:cNvSpPr>
            <a:spLocks noGrp="1"/>
          </p:cNvSpPr>
          <p:nvPr>
            <p:ph type="ftr" sz="quarter" idx="11"/>
          </p:nvPr>
        </p:nvSpPr>
        <p:spPr/>
        <p:txBody>
          <a:bodyPr/>
          <a:lstStyle/>
          <a:p>
            <a:endParaRPr lang="nl-BE"/>
          </a:p>
        </p:txBody>
      </p:sp>
      <p:sp>
        <p:nvSpPr>
          <p:cNvPr id="6" name="Tijdelijke aanduiding voor dianummer 5">
            <a:extLst>
              <a:ext uri="{FF2B5EF4-FFF2-40B4-BE49-F238E27FC236}">
                <a16:creationId xmlns:a16="http://schemas.microsoft.com/office/drawing/2014/main" id="{78158049-4ECB-F3EA-1A31-42C63920D802}"/>
              </a:ext>
            </a:extLst>
          </p:cNvPr>
          <p:cNvSpPr>
            <a:spLocks noGrp="1"/>
          </p:cNvSpPr>
          <p:nvPr>
            <p:ph type="sldNum" sz="quarter" idx="12"/>
          </p:nvPr>
        </p:nvSpPr>
        <p:spPr/>
        <p:txBody>
          <a:bodyPr/>
          <a:lstStyle/>
          <a:p>
            <a:fld id="{45E6605D-1E32-D542-B458-1FC57A046453}" type="slidenum">
              <a:rPr lang="nl-BE" smtClean="0"/>
              <a:t>‹nr.›</a:t>
            </a:fld>
            <a:endParaRPr lang="nl-BE"/>
          </a:p>
        </p:txBody>
      </p:sp>
    </p:spTree>
    <p:extLst>
      <p:ext uri="{BB962C8B-B14F-4D97-AF65-F5344CB8AC3E}">
        <p14:creationId xmlns:p14="http://schemas.microsoft.com/office/powerpoint/2010/main" val="3153315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D3389C-8E67-124E-860A-28B9A61ADE93}"/>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endParaRPr lang="nl-BE"/>
          </a:p>
        </p:txBody>
      </p:sp>
      <p:sp>
        <p:nvSpPr>
          <p:cNvPr id="3" name="Tijdelijke aanduiding voor tekst 2">
            <a:extLst>
              <a:ext uri="{FF2B5EF4-FFF2-40B4-BE49-F238E27FC236}">
                <a16:creationId xmlns:a16="http://schemas.microsoft.com/office/drawing/2014/main" id="{C60EE9A1-0B3E-9D4B-17A3-76FAF031194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128CE4CF-F9B5-7571-C610-4EDC9CC2F835}"/>
              </a:ext>
            </a:extLst>
          </p:cNvPr>
          <p:cNvSpPr>
            <a:spLocks noGrp="1"/>
          </p:cNvSpPr>
          <p:nvPr>
            <p:ph type="dt" sz="half" idx="10"/>
          </p:nvPr>
        </p:nvSpPr>
        <p:spPr/>
        <p:txBody>
          <a:bodyPr/>
          <a:lstStyle/>
          <a:p>
            <a:fld id="{11DE2C3B-6606-F54A-A54D-F5C5F23FB065}" type="datetime1">
              <a:rPr lang="nl-BE" smtClean="0"/>
              <a:t>3/06/2026</a:t>
            </a:fld>
            <a:endParaRPr lang="nl-BE"/>
          </a:p>
        </p:txBody>
      </p:sp>
      <p:sp>
        <p:nvSpPr>
          <p:cNvPr id="5" name="Tijdelijke aanduiding voor voettekst 4">
            <a:extLst>
              <a:ext uri="{FF2B5EF4-FFF2-40B4-BE49-F238E27FC236}">
                <a16:creationId xmlns:a16="http://schemas.microsoft.com/office/drawing/2014/main" id="{8C5BAB63-EEF8-85F1-D596-EA3CF0A9BE18}"/>
              </a:ext>
            </a:extLst>
          </p:cNvPr>
          <p:cNvSpPr>
            <a:spLocks noGrp="1"/>
          </p:cNvSpPr>
          <p:nvPr>
            <p:ph type="ftr" sz="quarter" idx="11"/>
          </p:nvPr>
        </p:nvSpPr>
        <p:spPr/>
        <p:txBody>
          <a:bodyPr/>
          <a:lstStyle/>
          <a:p>
            <a:endParaRPr lang="nl-BE"/>
          </a:p>
        </p:txBody>
      </p:sp>
      <p:sp>
        <p:nvSpPr>
          <p:cNvPr id="6" name="Tijdelijke aanduiding voor dianummer 5">
            <a:extLst>
              <a:ext uri="{FF2B5EF4-FFF2-40B4-BE49-F238E27FC236}">
                <a16:creationId xmlns:a16="http://schemas.microsoft.com/office/drawing/2014/main" id="{F0DF9BBD-D6BE-08D0-70EC-F8B0417BE574}"/>
              </a:ext>
            </a:extLst>
          </p:cNvPr>
          <p:cNvSpPr>
            <a:spLocks noGrp="1"/>
          </p:cNvSpPr>
          <p:nvPr>
            <p:ph type="sldNum" sz="quarter" idx="12"/>
          </p:nvPr>
        </p:nvSpPr>
        <p:spPr/>
        <p:txBody>
          <a:bodyPr/>
          <a:lstStyle/>
          <a:p>
            <a:fld id="{45E6605D-1E32-D542-B458-1FC57A046453}" type="slidenum">
              <a:rPr lang="nl-BE" smtClean="0"/>
              <a:t>‹nr.›</a:t>
            </a:fld>
            <a:endParaRPr lang="nl-BE"/>
          </a:p>
        </p:txBody>
      </p:sp>
    </p:spTree>
    <p:extLst>
      <p:ext uri="{BB962C8B-B14F-4D97-AF65-F5344CB8AC3E}">
        <p14:creationId xmlns:p14="http://schemas.microsoft.com/office/powerpoint/2010/main" val="1182532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3062B9-2DBF-25B6-E917-AD84FFB75F85}"/>
              </a:ext>
            </a:extLst>
          </p:cNvPr>
          <p:cNvSpPr>
            <a:spLocks noGrp="1"/>
          </p:cNvSpPr>
          <p:nvPr>
            <p:ph type="title"/>
          </p:nvPr>
        </p:nvSpPr>
        <p:spPr/>
        <p:txBody>
          <a:bodyPr/>
          <a:lstStyle/>
          <a:p>
            <a:r>
              <a:rPr lang="nl-NL"/>
              <a:t>Klik om stijl te bewerken</a:t>
            </a:r>
            <a:endParaRPr lang="nl-BE"/>
          </a:p>
        </p:txBody>
      </p:sp>
      <p:sp>
        <p:nvSpPr>
          <p:cNvPr id="3" name="Tijdelijke aanduiding voor inhoud 2">
            <a:extLst>
              <a:ext uri="{FF2B5EF4-FFF2-40B4-BE49-F238E27FC236}">
                <a16:creationId xmlns:a16="http://schemas.microsoft.com/office/drawing/2014/main" id="{08D17735-EAEA-C53E-2DA7-09B024D34031}"/>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inhoud 3">
            <a:extLst>
              <a:ext uri="{FF2B5EF4-FFF2-40B4-BE49-F238E27FC236}">
                <a16:creationId xmlns:a16="http://schemas.microsoft.com/office/drawing/2014/main" id="{0D4CD642-CB33-B72B-30F0-5822B92886E9}"/>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ijdelijke aanduiding voor datum 4">
            <a:extLst>
              <a:ext uri="{FF2B5EF4-FFF2-40B4-BE49-F238E27FC236}">
                <a16:creationId xmlns:a16="http://schemas.microsoft.com/office/drawing/2014/main" id="{C61248F1-8DF4-A87E-7FD5-B30A799D9346}"/>
              </a:ext>
            </a:extLst>
          </p:cNvPr>
          <p:cNvSpPr>
            <a:spLocks noGrp="1"/>
          </p:cNvSpPr>
          <p:nvPr>
            <p:ph type="dt" sz="half" idx="10"/>
          </p:nvPr>
        </p:nvSpPr>
        <p:spPr/>
        <p:txBody>
          <a:bodyPr/>
          <a:lstStyle/>
          <a:p>
            <a:fld id="{E9641B1E-BABB-234C-98B1-F0E6B16E396E}" type="datetime1">
              <a:rPr lang="nl-BE" smtClean="0"/>
              <a:t>3/06/2026</a:t>
            </a:fld>
            <a:endParaRPr lang="nl-BE"/>
          </a:p>
        </p:txBody>
      </p:sp>
      <p:sp>
        <p:nvSpPr>
          <p:cNvPr id="6" name="Tijdelijke aanduiding voor voettekst 5">
            <a:extLst>
              <a:ext uri="{FF2B5EF4-FFF2-40B4-BE49-F238E27FC236}">
                <a16:creationId xmlns:a16="http://schemas.microsoft.com/office/drawing/2014/main" id="{F2CD8A05-B09C-C83F-5000-467912D291F6}"/>
              </a:ext>
            </a:extLst>
          </p:cNvPr>
          <p:cNvSpPr>
            <a:spLocks noGrp="1"/>
          </p:cNvSpPr>
          <p:nvPr>
            <p:ph type="ftr" sz="quarter" idx="11"/>
          </p:nvPr>
        </p:nvSpPr>
        <p:spPr/>
        <p:txBody>
          <a:bodyPr/>
          <a:lstStyle/>
          <a:p>
            <a:endParaRPr lang="nl-BE"/>
          </a:p>
        </p:txBody>
      </p:sp>
      <p:sp>
        <p:nvSpPr>
          <p:cNvPr id="7" name="Tijdelijke aanduiding voor dianummer 6">
            <a:extLst>
              <a:ext uri="{FF2B5EF4-FFF2-40B4-BE49-F238E27FC236}">
                <a16:creationId xmlns:a16="http://schemas.microsoft.com/office/drawing/2014/main" id="{F56D20C2-245B-455F-9086-F7E00BF53080}"/>
              </a:ext>
            </a:extLst>
          </p:cNvPr>
          <p:cNvSpPr>
            <a:spLocks noGrp="1"/>
          </p:cNvSpPr>
          <p:nvPr>
            <p:ph type="sldNum" sz="quarter" idx="12"/>
          </p:nvPr>
        </p:nvSpPr>
        <p:spPr/>
        <p:txBody>
          <a:bodyPr/>
          <a:lstStyle/>
          <a:p>
            <a:fld id="{45E6605D-1E32-D542-B458-1FC57A046453}" type="slidenum">
              <a:rPr lang="nl-BE" smtClean="0"/>
              <a:t>‹nr.›</a:t>
            </a:fld>
            <a:endParaRPr lang="nl-BE"/>
          </a:p>
        </p:txBody>
      </p:sp>
    </p:spTree>
    <p:extLst>
      <p:ext uri="{BB962C8B-B14F-4D97-AF65-F5344CB8AC3E}">
        <p14:creationId xmlns:p14="http://schemas.microsoft.com/office/powerpoint/2010/main" val="3815682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C835DA-A8A5-D816-6AB9-FF96594841F5}"/>
              </a:ext>
            </a:extLst>
          </p:cNvPr>
          <p:cNvSpPr>
            <a:spLocks noGrp="1"/>
          </p:cNvSpPr>
          <p:nvPr>
            <p:ph type="title"/>
          </p:nvPr>
        </p:nvSpPr>
        <p:spPr>
          <a:xfrm>
            <a:off x="839788" y="365125"/>
            <a:ext cx="10515600" cy="1325563"/>
          </a:xfrm>
        </p:spPr>
        <p:txBody>
          <a:bodyPr/>
          <a:lstStyle/>
          <a:p>
            <a:r>
              <a:rPr lang="nl-NL"/>
              <a:t>Klik om stijl te bewerken</a:t>
            </a:r>
            <a:endParaRPr lang="nl-BE"/>
          </a:p>
        </p:txBody>
      </p:sp>
      <p:sp>
        <p:nvSpPr>
          <p:cNvPr id="3" name="Tijdelijke aanduiding voor tekst 2">
            <a:extLst>
              <a:ext uri="{FF2B5EF4-FFF2-40B4-BE49-F238E27FC236}">
                <a16:creationId xmlns:a16="http://schemas.microsoft.com/office/drawing/2014/main" id="{E7A0E7F0-A750-026E-BDA2-A1C2FE5760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D74AB190-C3E3-A0C8-2D2F-C578C111EE87}"/>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ijdelijke aanduiding voor tekst 4">
            <a:extLst>
              <a:ext uri="{FF2B5EF4-FFF2-40B4-BE49-F238E27FC236}">
                <a16:creationId xmlns:a16="http://schemas.microsoft.com/office/drawing/2014/main" id="{6000A92B-050A-A121-D8AF-DF4BCDE84F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B38E1B70-3C4F-BFC4-EB54-F77C2F25E892}"/>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7" name="Tijdelijke aanduiding voor datum 6">
            <a:extLst>
              <a:ext uri="{FF2B5EF4-FFF2-40B4-BE49-F238E27FC236}">
                <a16:creationId xmlns:a16="http://schemas.microsoft.com/office/drawing/2014/main" id="{D6FE0F20-29C3-DFDC-0775-800F6AEF927D}"/>
              </a:ext>
            </a:extLst>
          </p:cNvPr>
          <p:cNvSpPr>
            <a:spLocks noGrp="1"/>
          </p:cNvSpPr>
          <p:nvPr>
            <p:ph type="dt" sz="half" idx="10"/>
          </p:nvPr>
        </p:nvSpPr>
        <p:spPr/>
        <p:txBody>
          <a:bodyPr/>
          <a:lstStyle/>
          <a:p>
            <a:fld id="{51BAF2FF-AF03-4142-B4C0-C8C850F6E31A}" type="datetime1">
              <a:rPr lang="nl-BE" smtClean="0"/>
              <a:t>3/06/2026</a:t>
            </a:fld>
            <a:endParaRPr lang="nl-BE"/>
          </a:p>
        </p:txBody>
      </p:sp>
      <p:sp>
        <p:nvSpPr>
          <p:cNvPr id="8" name="Tijdelijke aanduiding voor voettekst 7">
            <a:extLst>
              <a:ext uri="{FF2B5EF4-FFF2-40B4-BE49-F238E27FC236}">
                <a16:creationId xmlns:a16="http://schemas.microsoft.com/office/drawing/2014/main" id="{64E0554D-AAEB-C939-3CC4-91E6E3795223}"/>
              </a:ext>
            </a:extLst>
          </p:cNvPr>
          <p:cNvSpPr>
            <a:spLocks noGrp="1"/>
          </p:cNvSpPr>
          <p:nvPr>
            <p:ph type="ftr" sz="quarter" idx="11"/>
          </p:nvPr>
        </p:nvSpPr>
        <p:spPr/>
        <p:txBody>
          <a:bodyPr/>
          <a:lstStyle/>
          <a:p>
            <a:endParaRPr lang="nl-BE"/>
          </a:p>
        </p:txBody>
      </p:sp>
      <p:sp>
        <p:nvSpPr>
          <p:cNvPr id="9" name="Tijdelijke aanduiding voor dianummer 8">
            <a:extLst>
              <a:ext uri="{FF2B5EF4-FFF2-40B4-BE49-F238E27FC236}">
                <a16:creationId xmlns:a16="http://schemas.microsoft.com/office/drawing/2014/main" id="{51B8F5BE-26FA-6D77-4E99-A0562CE585DC}"/>
              </a:ext>
            </a:extLst>
          </p:cNvPr>
          <p:cNvSpPr>
            <a:spLocks noGrp="1"/>
          </p:cNvSpPr>
          <p:nvPr>
            <p:ph type="sldNum" sz="quarter" idx="12"/>
          </p:nvPr>
        </p:nvSpPr>
        <p:spPr/>
        <p:txBody>
          <a:bodyPr/>
          <a:lstStyle/>
          <a:p>
            <a:fld id="{45E6605D-1E32-D542-B458-1FC57A046453}" type="slidenum">
              <a:rPr lang="nl-BE" smtClean="0"/>
              <a:t>‹nr.›</a:t>
            </a:fld>
            <a:endParaRPr lang="nl-BE"/>
          </a:p>
        </p:txBody>
      </p:sp>
    </p:spTree>
    <p:extLst>
      <p:ext uri="{BB962C8B-B14F-4D97-AF65-F5344CB8AC3E}">
        <p14:creationId xmlns:p14="http://schemas.microsoft.com/office/powerpoint/2010/main" val="28221917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484852A-26DC-5552-F446-9EBB42E8F1BE}"/>
              </a:ext>
            </a:extLst>
          </p:cNvPr>
          <p:cNvSpPr>
            <a:spLocks noGrp="1"/>
          </p:cNvSpPr>
          <p:nvPr>
            <p:ph type="title"/>
          </p:nvPr>
        </p:nvSpPr>
        <p:spPr/>
        <p:txBody>
          <a:bodyPr/>
          <a:lstStyle/>
          <a:p>
            <a:r>
              <a:rPr lang="nl-NL"/>
              <a:t>Klik om stijl te bewerken</a:t>
            </a:r>
            <a:endParaRPr lang="nl-BE"/>
          </a:p>
        </p:txBody>
      </p:sp>
      <p:sp>
        <p:nvSpPr>
          <p:cNvPr id="3" name="Tijdelijke aanduiding voor datum 2">
            <a:extLst>
              <a:ext uri="{FF2B5EF4-FFF2-40B4-BE49-F238E27FC236}">
                <a16:creationId xmlns:a16="http://schemas.microsoft.com/office/drawing/2014/main" id="{E9889344-2859-8D80-9560-515F8CA8E7B6}"/>
              </a:ext>
            </a:extLst>
          </p:cNvPr>
          <p:cNvSpPr>
            <a:spLocks noGrp="1"/>
          </p:cNvSpPr>
          <p:nvPr>
            <p:ph type="dt" sz="half" idx="10"/>
          </p:nvPr>
        </p:nvSpPr>
        <p:spPr/>
        <p:txBody>
          <a:bodyPr/>
          <a:lstStyle/>
          <a:p>
            <a:fld id="{D6B07516-B5ED-694F-903B-C70B38954D11}" type="datetime1">
              <a:rPr lang="nl-BE" smtClean="0"/>
              <a:t>3/06/2026</a:t>
            </a:fld>
            <a:endParaRPr lang="nl-BE"/>
          </a:p>
        </p:txBody>
      </p:sp>
      <p:sp>
        <p:nvSpPr>
          <p:cNvPr id="4" name="Tijdelijke aanduiding voor voettekst 3">
            <a:extLst>
              <a:ext uri="{FF2B5EF4-FFF2-40B4-BE49-F238E27FC236}">
                <a16:creationId xmlns:a16="http://schemas.microsoft.com/office/drawing/2014/main" id="{B6D75F5E-9C71-D294-75CB-A03A7C10636E}"/>
              </a:ext>
            </a:extLst>
          </p:cNvPr>
          <p:cNvSpPr>
            <a:spLocks noGrp="1"/>
          </p:cNvSpPr>
          <p:nvPr>
            <p:ph type="ftr" sz="quarter" idx="11"/>
          </p:nvPr>
        </p:nvSpPr>
        <p:spPr/>
        <p:txBody>
          <a:bodyPr/>
          <a:lstStyle/>
          <a:p>
            <a:endParaRPr lang="nl-BE"/>
          </a:p>
        </p:txBody>
      </p:sp>
      <p:sp>
        <p:nvSpPr>
          <p:cNvPr id="5" name="Tijdelijke aanduiding voor dianummer 4">
            <a:extLst>
              <a:ext uri="{FF2B5EF4-FFF2-40B4-BE49-F238E27FC236}">
                <a16:creationId xmlns:a16="http://schemas.microsoft.com/office/drawing/2014/main" id="{594A096E-6BE9-2808-AF09-09C48EC55DB6}"/>
              </a:ext>
            </a:extLst>
          </p:cNvPr>
          <p:cNvSpPr>
            <a:spLocks noGrp="1"/>
          </p:cNvSpPr>
          <p:nvPr>
            <p:ph type="sldNum" sz="quarter" idx="12"/>
          </p:nvPr>
        </p:nvSpPr>
        <p:spPr/>
        <p:txBody>
          <a:bodyPr/>
          <a:lstStyle/>
          <a:p>
            <a:fld id="{45E6605D-1E32-D542-B458-1FC57A046453}" type="slidenum">
              <a:rPr lang="nl-BE" smtClean="0"/>
              <a:t>‹nr.›</a:t>
            </a:fld>
            <a:endParaRPr lang="nl-BE"/>
          </a:p>
        </p:txBody>
      </p:sp>
    </p:spTree>
    <p:extLst>
      <p:ext uri="{BB962C8B-B14F-4D97-AF65-F5344CB8AC3E}">
        <p14:creationId xmlns:p14="http://schemas.microsoft.com/office/powerpoint/2010/main" val="1512386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41E60C7B-BF13-7B59-DDF4-FB073DE0899D}"/>
              </a:ext>
            </a:extLst>
          </p:cNvPr>
          <p:cNvSpPr>
            <a:spLocks noGrp="1"/>
          </p:cNvSpPr>
          <p:nvPr>
            <p:ph type="dt" sz="half" idx="10"/>
          </p:nvPr>
        </p:nvSpPr>
        <p:spPr/>
        <p:txBody>
          <a:bodyPr/>
          <a:lstStyle/>
          <a:p>
            <a:fld id="{E60B0C4B-21C9-DC48-B042-D35EBC22F057}" type="datetime1">
              <a:rPr lang="nl-BE" smtClean="0"/>
              <a:t>3/06/2026</a:t>
            </a:fld>
            <a:endParaRPr lang="nl-BE"/>
          </a:p>
        </p:txBody>
      </p:sp>
      <p:sp>
        <p:nvSpPr>
          <p:cNvPr id="3" name="Tijdelijke aanduiding voor voettekst 2">
            <a:extLst>
              <a:ext uri="{FF2B5EF4-FFF2-40B4-BE49-F238E27FC236}">
                <a16:creationId xmlns:a16="http://schemas.microsoft.com/office/drawing/2014/main" id="{F9C17DF1-A4D0-B437-23F1-D52DD99E9DA0}"/>
              </a:ext>
            </a:extLst>
          </p:cNvPr>
          <p:cNvSpPr>
            <a:spLocks noGrp="1"/>
          </p:cNvSpPr>
          <p:nvPr>
            <p:ph type="ftr" sz="quarter" idx="11"/>
          </p:nvPr>
        </p:nvSpPr>
        <p:spPr/>
        <p:txBody>
          <a:bodyPr/>
          <a:lstStyle/>
          <a:p>
            <a:endParaRPr lang="nl-BE"/>
          </a:p>
        </p:txBody>
      </p:sp>
      <p:sp>
        <p:nvSpPr>
          <p:cNvPr id="4" name="Tijdelijke aanduiding voor dianummer 3">
            <a:extLst>
              <a:ext uri="{FF2B5EF4-FFF2-40B4-BE49-F238E27FC236}">
                <a16:creationId xmlns:a16="http://schemas.microsoft.com/office/drawing/2014/main" id="{D89CF1FF-73CF-C9C8-7AE2-5C3FF9E0DC6F}"/>
              </a:ext>
            </a:extLst>
          </p:cNvPr>
          <p:cNvSpPr>
            <a:spLocks noGrp="1"/>
          </p:cNvSpPr>
          <p:nvPr>
            <p:ph type="sldNum" sz="quarter" idx="12"/>
          </p:nvPr>
        </p:nvSpPr>
        <p:spPr/>
        <p:txBody>
          <a:bodyPr/>
          <a:lstStyle/>
          <a:p>
            <a:fld id="{45E6605D-1E32-D542-B458-1FC57A046453}" type="slidenum">
              <a:rPr lang="nl-BE" smtClean="0"/>
              <a:t>‹nr.›</a:t>
            </a:fld>
            <a:endParaRPr lang="nl-BE"/>
          </a:p>
        </p:txBody>
      </p:sp>
    </p:spTree>
    <p:extLst>
      <p:ext uri="{BB962C8B-B14F-4D97-AF65-F5344CB8AC3E}">
        <p14:creationId xmlns:p14="http://schemas.microsoft.com/office/powerpoint/2010/main" val="1051313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255161-CEE8-2CFE-5AFE-0EBF3C133DE0}"/>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endParaRPr lang="nl-BE"/>
          </a:p>
        </p:txBody>
      </p:sp>
      <p:sp>
        <p:nvSpPr>
          <p:cNvPr id="3" name="Tijdelijke aanduiding voor inhoud 2">
            <a:extLst>
              <a:ext uri="{FF2B5EF4-FFF2-40B4-BE49-F238E27FC236}">
                <a16:creationId xmlns:a16="http://schemas.microsoft.com/office/drawing/2014/main" id="{C65FD3CF-56C8-4EED-1AE0-3F8351A603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tekst 3">
            <a:extLst>
              <a:ext uri="{FF2B5EF4-FFF2-40B4-BE49-F238E27FC236}">
                <a16:creationId xmlns:a16="http://schemas.microsoft.com/office/drawing/2014/main" id="{F28BD818-A856-D667-C228-F15047CF5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E985504D-565B-410F-F4C8-9686A99C507B}"/>
              </a:ext>
            </a:extLst>
          </p:cNvPr>
          <p:cNvSpPr>
            <a:spLocks noGrp="1"/>
          </p:cNvSpPr>
          <p:nvPr>
            <p:ph type="dt" sz="half" idx="10"/>
          </p:nvPr>
        </p:nvSpPr>
        <p:spPr/>
        <p:txBody>
          <a:bodyPr/>
          <a:lstStyle/>
          <a:p>
            <a:fld id="{0FA300A4-640A-F847-8D81-81685995B3AE}" type="datetime1">
              <a:rPr lang="nl-BE" smtClean="0"/>
              <a:t>3/06/2026</a:t>
            </a:fld>
            <a:endParaRPr lang="nl-BE"/>
          </a:p>
        </p:txBody>
      </p:sp>
      <p:sp>
        <p:nvSpPr>
          <p:cNvPr id="6" name="Tijdelijke aanduiding voor voettekst 5">
            <a:extLst>
              <a:ext uri="{FF2B5EF4-FFF2-40B4-BE49-F238E27FC236}">
                <a16:creationId xmlns:a16="http://schemas.microsoft.com/office/drawing/2014/main" id="{5E86FD3B-2CE3-4851-A9AD-E7C309236C4C}"/>
              </a:ext>
            </a:extLst>
          </p:cNvPr>
          <p:cNvSpPr>
            <a:spLocks noGrp="1"/>
          </p:cNvSpPr>
          <p:nvPr>
            <p:ph type="ftr" sz="quarter" idx="11"/>
          </p:nvPr>
        </p:nvSpPr>
        <p:spPr/>
        <p:txBody>
          <a:bodyPr/>
          <a:lstStyle/>
          <a:p>
            <a:endParaRPr lang="nl-BE"/>
          </a:p>
        </p:txBody>
      </p:sp>
      <p:sp>
        <p:nvSpPr>
          <p:cNvPr id="7" name="Tijdelijke aanduiding voor dianummer 6">
            <a:extLst>
              <a:ext uri="{FF2B5EF4-FFF2-40B4-BE49-F238E27FC236}">
                <a16:creationId xmlns:a16="http://schemas.microsoft.com/office/drawing/2014/main" id="{6B11040B-28D6-DF14-57AB-285B8C53E79B}"/>
              </a:ext>
            </a:extLst>
          </p:cNvPr>
          <p:cNvSpPr>
            <a:spLocks noGrp="1"/>
          </p:cNvSpPr>
          <p:nvPr>
            <p:ph type="sldNum" sz="quarter" idx="12"/>
          </p:nvPr>
        </p:nvSpPr>
        <p:spPr/>
        <p:txBody>
          <a:bodyPr/>
          <a:lstStyle/>
          <a:p>
            <a:fld id="{45E6605D-1E32-D542-B458-1FC57A046453}" type="slidenum">
              <a:rPr lang="nl-BE" smtClean="0"/>
              <a:t>‹nr.›</a:t>
            </a:fld>
            <a:endParaRPr lang="nl-BE"/>
          </a:p>
        </p:txBody>
      </p:sp>
    </p:spTree>
    <p:extLst>
      <p:ext uri="{BB962C8B-B14F-4D97-AF65-F5344CB8AC3E}">
        <p14:creationId xmlns:p14="http://schemas.microsoft.com/office/powerpoint/2010/main" val="3271952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0B2ACA0-13EF-9DBE-3F87-6FDC04C2FD7E}"/>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endParaRPr lang="nl-BE"/>
          </a:p>
        </p:txBody>
      </p:sp>
      <p:sp>
        <p:nvSpPr>
          <p:cNvPr id="3" name="Tijdelijke aanduiding voor afbeelding 2">
            <a:extLst>
              <a:ext uri="{FF2B5EF4-FFF2-40B4-BE49-F238E27FC236}">
                <a16:creationId xmlns:a16="http://schemas.microsoft.com/office/drawing/2014/main" id="{C8D44EBB-779B-3A75-45D2-B879B09E45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BE"/>
          </a:p>
        </p:txBody>
      </p:sp>
      <p:sp>
        <p:nvSpPr>
          <p:cNvPr id="4" name="Tijdelijke aanduiding voor tekst 3">
            <a:extLst>
              <a:ext uri="{FF2B5EF4-FFF2-40B4-BE49-F238E27FC236}">
                <a16:creationId xmlns:a16="http://schemas.microsoft.com/office/drawing/2014/main" id="{5D5DC391-308A-4B59-F046-D595240379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854E5878-B410-071C-7D8F-2E12350B9FBC}"/>
              </a:ext>
            </a:extLst>
          </p:cNvPr>
          <p:cNvSpPr>
            <a:spLocks noGrp="1"/>
          </p:cNvSpPr>
          <p:nvPr>
            <p:ph type="dt" sz="half" idx="10"/>
          </p:nvPr>
        </p:nvSpPr>
        <p:spPr/>
        <p:txBody>
          <a:bodyPr/>
          <a:lstStyle/>
          <a:p>
            <a:fld id="{E053B96D-75F6-7A4B-BDFE-512B0ADE1995}" type="datetime1">
              <a:rPr lang="nl-BE" smtClean="0"/>
              <a:t>3/06/2026</a:t>
            </a:fld>
            <a:endParaRPr lang="nl-BE"/>
          </a:p>
        </p:txBody>
      </p:sp>
      <p:sp>
        <p:nvSpPr>
          <p:cNvPr id="6" name="Tijdelijke aanduiding voor voettekst 5">
            <a:extLst>
              <a:ext uri="{FF2B5EF4-FFF2-40B4-BE49-F238E27FC236}">
                <a16:creationId xmlns:a16="http://schemas.microsoft.com/office/drawing/2014/main" id="{D6F2689D-88F8-1282-13B7-04DBE9619A3C}"/>
              </a:ext>
            </a:extLst>
          </p:cNvPr>
          <p:cNvSpPr>
            <a:spLocks noGrp="1"/>
          </p:cNvSpPr>
          <p:nvPr>
            <p:ph type="ftr" sz="quarter" idx="11"/>
          </p:nvPr>
        </p:nvSpPr>
        <p:spPr/>
        <p:txBody>
          <a:bodyPr/>
          <a:lstStyle/>
          <a:p>
            <a:endParaRPr lang="nl-BE"/>
          </a:p>
        </p:txBody>
      </p:sp>
      <p:sp>
        <p:nvSpPr>
          <p:cNvPr id="7" name="Tijdelijke aanduiding voor dianummer 6">
            <a:extLst>
              <a:ext uri="{FF2B5EF4-FFF2-40B4-BE49-F238E27FC236}">
                <a16:creationId xmlns:a16="http://schemas.microsoft.com/office/drawing/2014/main" id="{AFBD944E-AD0D-EBD8-4C73-E8EE4C50793E}"/>
              </a:ext>
            </a:extLst>
          </p:cNvPr>
          <p:cNvSpPr>
            <a:spLocks noGrp="1"/>
          </p:cNvSpPr>
          <p:nvPr>
            <p:ph type="sldNum" sz="quarter" idx="12"/>
          </p:nvPr>
        </p:nvSpPr>
        <p:spPr/>
        <p:txBody>
          <a:bodyPr/>
          <a:lstStyle/>
          <a:p>
            <a:fld id="{45E6605D-1E32-D542-B458-1FC57A046453}" type="slidenum">
              <a:rPr lang="nl-BE" smtClean="0"/>
              <a:t>‹nr.›</a:t>
            </a:fld>
            <a:endParaRPr lang="nl-BE"/>
          </a:p>
        </p:txBody>
      </p:sp>
    </p:spTree>
    <p:extLst>
      <p:ext uri="{BB962C8B-B14F-4D97-AF65-F5344CB8AC3E}">
        <p14:creationId xmlns:p14="http://schemas.microsoft.com/office/powerpoint/2010/main" val="3643765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6B9CAF2-A06B-9BB7-E610-368F8EB68739}"/>
              </a:ext>
            </a:extLst>
          </p:cNvPr>
          <p:cNvSpPr>
            <a:spLocks noGrp="1"/>
          </p:cNvSpPr>
          <p:nvPr>
            <p:ph type="title"/>
          </p:nvPr>
        </p:nvSpPr>
        <p:spPr/>
        <p:txBody>
          <a:bodyPr/>
          <a:lstStyle/>
          <a:p>
            <a:r>
              <a:rPr lang="nl-NL"/>
              <a:t>Klik om stijl te bewerken</a:t>
            </a:r>
            <a:endParaRPr lang="nl-BE"/>
          </a:p>
        </p:txBody>
      </p:sp>
      <p:sp>
        <p:nvSpPr>
          <p:cNvPr id="3" name="Tijdelijke aanduiding voor verticale tekst 2">
            <a:extLst>
              <a:ext uri="{FF2B5EF4-FFF2-40B4-BE49-F238E27FC236}">
                <a16:creationId xmlns:a16="http://schemas.microsoft.com/office/drawing/2014/main" id="{AFF4C3E8-097B-E18A-E191-D90E98566FA0}"/>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a:extLst>
              <a:ext uri="{FF2B5EF4-FFF2-40B4-BE49-F238E27FC236}">
                <a16:creationId xmlns:a16="http://schemas.microsoft.com/office/drawing/2014/main" id="{207F71DF-67C2-6294-BE14-2A31436FF226}"/>
              </a:ext>
            </a:extLst>
          </p:cNvPr>
          <p:cNvSpPr>
            <a:spLocks noGrp="1"/>
          </p:cNvSpPr>
          <p:nvPr>
            <p:ph type="dt" sz="half" idx="10"/>
          </p:nvPr>
        </p:nvSpPr>
        <p:spPr/>
        <p:txBody>
          <a:bodyPr/>
          <a:lstStyle/>
          <a:p>
            <a:fld id="{830923B0-3428-3847-8702-C371FE4353F8}" type="datetime1">
              <a:rPr lang="nl-BE" smtClean="0"/>
              <a:t>3/06/2026</a:t>
            </a:fld>
            <a:endParaRPr lang="nl-BE"/>
          </a:p>
        </p:txBody>
      </p:sp>
      <p:sp>
        <p:nvSpPr>
          <p:cNvPr id="5" name="Tijdelijke aanduiding voor voettekst 4">
            <a:extLst>
              <a:ext uri="{FF2B5EF4-FFF2-40B4-BE49-F238E27FC236}">
                <a16:creationId xmlns:a16="http://schemas.microsoft.com/office/drawing/2014/main" id="{7603EFA2-9FDD-0D70-7995-F003F2BCBA72}"/>
              </a:ext>
            </a:extLst>
          </p:cNvPr>
          <p:cNvSpPr>
            <a:spLocks noGrp="1"/>
          </p:cNvSpPr>
          <p:nvPr>
            <p:ph type="ftr" sz="quarter" idx="11"/>
          </p:nvPr>
        </p:nvSpPr>
        <p:spPr/>
        <p:txBody>
          <a:bodyPr/>
          <a:lstStyle/>
          <a:p>
            <a:endParaRPr lang="nl-BE"/>
          </a:p>
        </p:txBody>
      </p:sp>
      <p:sp>
        <p:nvSpPr>
          <p:cNvPr id="6" name="Tijdelijke aanduiding voor dianummer 5">
            <a:extLst>
              <a:ext uri="{FF2B5EF4-FFF2-40B4-BE49-F238E27FC236}">
                <a16:creationId xmlns:a16="http://schemas.microsoft.com/office/drawing/2014/main" id="{0D5AA0F0-6709-A135-F510-822A6B304071}"/>
              </a:ext>
            </a:extLst>
          </p:cNvPr>
          <p:cNvSpPr>
            <a:spLocks noGrp="1"/>
          </p:cNvSpPr>
          <p:nvPr>
            <p:ph type="sldNum" sz="quarter" idx="12"/>
          </p:nvPr>
        </p:nvSpPr>
        <p:spPr/>
        <p:txBody>
          <a:bodyPr/>
          <a:lstStyle/>
          <a:p>
            <a:fld id="{45E6605D-1E32-D542-B458-1FC57A046453}" type="slidenum">
              <a:rPr lang="nl-BE" smtClean="0"/>
              <a:t>‹nr.›</a:t>
            </a:fld>
            <a:endParaRPr lang="nl-BE"/>
          </a:p>
        </p:txBody>
      </p:sp>
    </p:spTree>
    <p:extLst>
      <p:ext uri="{BB962C8B-B14F-4D97-AF65-F5344CB8AC3E}">
        <p14:creationId xmlns:p14="http://schemas.microsoft.com/office/powerpoint/2010/main" val="1921853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9BC6BD5E-2780-EB45-EC44-4B0F106E2DD1}"/>
              </a:ext>
            </a:extLst>
          </p:cNvPr>
          <p:cNvSpPr>
            <a:spLocks noGrp="1"/>
          </p:cNvSpPr>
          <p:nvPr>
            <p:ph type="title" orient="vert"/>
          </p:nvPr>
        </p:nvSpPr>
        <p:spPr>
          <a:xfrm>
            <a:off x="8724900" y="365125"/>
            <a:ext cx="2628900" cy="5811838"/>
          </a:xfrm>
        </p:spPr>
        <p:txBody>
          <a:bodyPr vert="eaVert"/>
          <a:lstStyle/>
          <a:p>
            <a:r>
              <a:rPr lang="nl-NL"/>
              <a:t>Klik om stijl te bewerken</a:t>
            </a:r>
            <a:endParaRPr lang="nl-BE"/>
          </a:p>
        </p:txBody>
      </p:sp>
      <p:sp>
        <p:nvSpPr>
          <p:cNvPr id="3" name="Tijdelijke aanduiding voor verticale tekst 2">
            <a:extLst>
              <a:ext uri="{FF2B5EF4-FFF2-40B4-BE49-F238E27FC236}">
                <a16:creationId xmlns:a16="http://schemas.microsoft.com/office/drawing/2014/main" id="{CB559417-28B8-9A6F-3F6E-713CFBC35B53}"/>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a:extLst>
              <a:ext uri="{FF2B5EF4-FFF2-40B4-BE49-F238E27FC236}">
                <a16:creationId xmlns:a16="http://schemas.microsoft.com/office/drawing/2014/main" id="{E2EE7FCB-8297-77E1-3C9D-806C6D2FC76C}"/>
              </a:ext>
            </a:extLst>
          </p:cNvPr>
          <p:cNvSpPr>
            <a:spLocks noGrp="1"/>
          </p:cNvSpPr>
          <p:nvPr>
            <p:ph type="dt" sz="half" idx="10"/>
          </p:nvPr>
        </p:nvSpPr>
        <p:spPr/>
        <p:txBody>
          <a:bodyPr/>
          <a:lstStyle/>
          <a:p>
            <a:fld id="{EAC2E55B-EF1C-B14C-B087-66F3617B17D8}" type="datetime1">
              <a:rPr lang="nl-BE" smtClean="0"/>
              <a:t>3/06/2026</a:t>
            </a:fld>
            <a:endParaRPr lang="nl-BE"/>
          </a:p>
        </p:txBody>
      </p:sp>
      <p:sp>
        <p:nvSpPr>
          <p:cNvPr id="5" name="Tijdelijke aanduiding voor voettekst 4">
            <a:extLst>
              <a:ext uri="{FF2B5EF4-FFF2-40B4-BE49-F238E27FC236}">
                <a16:creationId xmlns:a16="http://schemas.microsoft.com/office/drawing/2014/main" id="{EB155870-2396-208E-38C6-E1CF78767B5C}"/>
              </a:ext>
            </a:extLst>
          </p:cNvPr>
          <p:cNvSpPr>
            <a:spLocks noGrp="1"/>
          </p:cNvSpPr>
          <p:nvPr>
            <p:ph type="ftr" sz="quarter" idx="11"/>
          </p:nvPr>
        </p:nvSpPr>
        <p:spPr/>
        <p:txBody>
          <a:bodyPr/>
          <a:lstStyle/>
          <a:p>
            <a:endParaRPr lang="nl-BE"/>
          </a:p>
        </p:txBody>
      </p:sp>
      <p:sp>
        <p:nvSpPr>
          <p:cNvPr id="6" name="Tijdelijke aanduiding voor dianummer 5">
            <a:extLst>
              <a:ext uri="{FF2B5EF4-FFF2-40B4-BE49-F238E27FC236}">
                <a16:creationId xmlns:a16="http://schemas.microsoft.com/office/drawing/2014/main" id="{B8503125-DDEF-C1A6-84FE-93E2C3427A8C}"/>
              </a:ext>
            </a:extLst>
          </p:cNvPr>
          <p:cNvSpPr>
            <a:spLocks noGrp="1"/>
          </p:cNvSpPr>
          <p:nvPr>
            <p:ph type="sldNum" sz="quarter" idx="12"/>
          </p:nvPr>
        </p:nvSpPr>
        <p:spPr/>
        <p:txBody>
          <a:bodyPr/>
          <a:lstStyle/>
          <a:p>
            <a:fld id="{45E6605D-1E32-D542-B458-1FC57A046453}" type="slidenum">
              <a:rPr lang="nl-BE" smtClean="0"/>
              <a:t>‹nr.›</a:t>
            </a:fld>
            <a:endParaRPr lang="nl-BE"/>
          </a:p>
        </p:txBody>
      </p:sp>
    </p:spTree>
    <p:extLst>
      <p:ext uri="{BB962C8B-B14F-4D97-AF65-F5344CB8AC3E}">
        <p14:creationId xmlns:p14="http://schemas.microsoft.com/office/powerpoint/2010/main" val="3615417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2AB528F9-78A2-95A1-AA09-9D40834BAD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endParaRPr lang="nl-BE"/>
          </a:p>
        </p:txBody>
      </p:sp>
      <p:sp>
        <p:nvSpPr>
          <p:cNvPr id="3" name="Tijdelijke aanduiding voor tekst 2">
            <a:extLst>
              <a:ext uri="{FF2B5EF4-FFF2-40B4-BE49-F238E27FC236}">
                <a16:creationId xmlns:a16="http://schemas.microsoft.com/office/drawing/2014/main" id="{F54E42FA-BEA5-6CE3-4E92-74DA35A866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a:extLst>
              <a:ext uri="{FF2B5EF4-FFF2-40B4-BE49-F238E27FC236}">
                <a16:creationId xmlns:a16="http://schemas.microsoft.com/office/drawing/2014/main" id="{B6502B2F-DE2E-291F-CC0D-8886103604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40A9CF-BC14-1947-A830-CD6B12D76E85}" type="datetime1">
              <a:rPr lang="nl-BE" smtClean="0"/>
              <a:t>3/06/2026</a:t>
            </a:fld>
            <a:endParaRPr lang="nl-BE"/>
          </a:p>
        </p:txBody>
      </p:sp>
      <p:sp>
        <p:nvSpPr>
          <p:cNvPr id="5" name="Tijdelijke aanduiding voor voettekst 4">
            <a:extLst>
              <a:ext uri="{FF2B5EF4-FFF2-40B4-BE49-F238E27FC236}">
                <a16:creationId xmlns:a16="http://schemas.microsoft.com/office/drawing/2014/main" id="{DA24A64C-976F-62E7-BE0A-E53D9B77DC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l-BE"/>
          </a:p>
        </p:txBody>
      </p:sp>
      <p:sp>
        <p:nvSpPr>
          <p:cNvPr id="6" name="Tijdelijke aanduiding voor dianummer 5">
            <a:extLst>
              <a:ext uri="{FF2B5EF4-FFF2-40B4-BE49-F238E27FC236}">
                <a16:creationId xmlns:a16="http://schemas.microsoft.com/office/drawing/2014/main" id="{5DA08C73-801F-0B5D-420A-B2BCC9E9AE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5E6605D-1E32-D542-B458-1FC57A046453}" type="slidenum">
              <a:rPr lang="nl-BE" smtClean="0"/>
              <a:t>‹nr.›</a:t>
            </a:fld>
            <a:endParaRPr lang="nl-BE"/>
          </a:p>
        </p:txBody>
      </p:sp>
    </p:spTree>
    <p:extLst>
      <p:ext uri="{BB962C8B-B14F-4D97-AF65-F5344CB8AC3E}">
        <p14:creationId xmlns:p14="http://schemas.microsoft.com/office/powerpoint/2010/main" val="149070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emf"/><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10.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0.png"/><Relationship Id="rId4" Type="http://schemas.openxmlformats.org/officeDocument/2006/relationships/image" Target="../media/image50.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s>
</file>

<file path=ppt/slides/_rels/slide18.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360.png"/><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hyperlink" Target="https://schwallergroup.github.io/ai4chem_course/"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hyperlink" Target="https://chemrxiv.org/doi/abs/10.26434/chemrxiv.10001986/v1" TargetMode="External"/><Relationship Id="rId4" Type="http://schemas.openxmlformats.org/officeDocument/2006/relationships/hyperlink" Target="https://pubs.rsc.org/en/content/articlehtml/2021/sc/d0sc06805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fgeronde rechthoek 2">
            <a:extLst>
              <a:ext uri="{FF2B5EF4-FFF2-40B4-BE49-F238E27FC236}">
                <a16:creationId xmlns:a16="http://schemas.microsoft.com/office/drawing/2014/main" id="{196FA6C4-7FDC-2D47-AC69-F5E0AF0FCA8A}"/>
              </a:ext>
            </a:extLst>
          </p:cNvPr>
          <p:cNvSpPr/>
          <p:nvPr/>
        </p:nvSpPr>
        <p:spPr>
          <a:xfrm>
            <a:off x="468114" y="4038822"/>
            <a:ext cx="11255769" cy="1718066"/>
          </a:xfrm>
          <a:prstGeom prst="roundRect">
            <a:avLst>
              <a:gd name="adj" fmla="val 6183"/>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5" name="Tekstvak 4">
            <a:extLst>
              <a:ext uri="{FF2B5EF4-FFF2-40B4-BE49-F238E27FC236}">
                <a16:creationId xmlns:a16="http://schemas.microsoft.com/office/drawing/2014/main" id="{554E6682-6DA6-8343-98BA-9A6C59C56C0B}"/>
              </a:ext>
            </a:extLst>
          </p:cNvPr>
          <p:cNvSpPr txBox="1"/>
          <p:nvPr/>
        </p:nvSpPr>
        <p:spPr>
          <a:xfrm>
            <a:off x="2128716" y="4467594"/>
            <a:ext cx="8120044" cy="646331"/>
          </a:xfrm>
          <a:prstGeom prst="rect">
            <a:avLst/>
          </a:prstGeom>
          <a:noFill/>
        </p:spPr>
        <p:txBody>
          <a:bodyPr wrap="none" rtlCol="0">
            <a:spAutoFit/>
          </a:bodyPr>
          <a:lstStyle/>
          <a:p>
            <a:pPr algn="ctr"/>
            <a:r>
              <a:rPr lang="nl-BE" sz="3600" b="1" dirty="0">
                <a:solidFill>
                  <a:schemeClr val="bg1"/>
                </a:solidFill>
              </a:rPr>
              <a:t>Introduction to Bayesian Optimization</a:t>
            </a:r>
          </a:p>
        </p:txBody>
      </p:sp>
      <p:sp>
        <p:nvSpPr>
          <p:cNvPr id="8" name="Google Shape;109;p16">
            <a:extLst>
              <a:ext uri="{FF2B5EF4-FFF2-40B4-BE49-F238E27FC236}">
                <a16:creationId xmlns:a16="http://schemas.microsoft.com/office/drawing/2014/main" id="{4FCF4222-CBA9-FB4B-A042-79CB36235877}"/>
              </a:ext>
            </a:extLst>
          </p:cNvPr>
          <p:cNvSpPr txBox="1">
            <a:spLocks noGrp="1"/>
          </p:cNvSpPr>
          <p:nvPr>
            <p:ph type="ftr" idx="11"/>
          </p:nvPr>
        </p:nvSpPr>
        <p:spPr>
          <a:xfrm>
            <a:off x="3332170" y="6191464"/>
            <a:ext cx="5713136" cy="369913"/>
          </a:xfrm>
          <a:prstGeom prst="rect">
            <a:avLst/>
          </a:prstGeom>
          <a:noFill/>
          <a:ln>
            <a:noFill/>
          </a:ln>
        </p:spPr>
        <p:txBody>
          <a:bodyPr spcFirstLastPara="1" wrap="square" lIns="91425" tIns="45700" rIns="91425" bIns="45700" anchor="ctr" anchorCtr="0">
            <a:noAutofit/>
          </a:bodyPr>
          <a:lstStyle/>
          <a:p>
            <a:r>
              <a:rPr lang="nl-BE" dirty="0">
                <a:solidFill>
                  <a:schemeClr val="tx1">
                    <a:lumMod val="50000"/>
                    <a:lumOff val="50000"/>
                  </a:schemeClr>
                </a:solidFill>
              </a:rPr>
              <a:t>THIJS STUYVER</a:t>
            </a:r>
          </a:p>
        </p:txBody>
      </p:sp>
      <p:pic>
        <p:nvPicPr>
          <p:cNvPr id="6" name="Afbeelding 5" descr="Afbeelding met tekst, illustratie, teken&#10;&#10;Automatisch gegenereerde beschrijving">
            <a:extLst>
              <a:ext uri="{FF2B5EF4-FFF2-40B4-BE49-F238E27FC236}">
                <a16:creationId xmlns:a16="http://schemas.microsoft.com/office/drawing/2014/main" id="{90CD18BA-A716-447F-F17A-D0E7B19DAF88}"/>
              </a:ext>
            </a:extLst>
          </p:cNvPr>
          <p:cNvPicPr>
            <a:picLocks noChangeAspect="1"/>
          </p:cNvPicPr>
          <p:nvPr/>
        </p:nvPicPr>
        <p:blipFill>
          <a:blip r:embed="rId3"/>
          <a:stretch>
            <a:fillRect/>
          </a:stretch>
        </p:blipFill>
        <p:spPr>
          <a:xfrm>
            <a:off x="1428062" y="5817270"/>
            <a:ext cx="2322673" cy="980684"/>
          </a:xfrm>
          <a:prstGeom prst="rect">
            <a:avLst/>
          </a:prstGeom>
        </p:spPr>
      </p:pic>
      <p:pic>
        <p:nvPicPr>
          <p:cNvPr id="9" name="Afbeelding 8" descr="Afbeelding met Graphics, Lettertype, cirkel, logo&#10;&#10;Automatisch gegenereerde beschrijving">
            <a:extLst>
              <a:ext uri="{FF2B5EF4-FFF2-40B4-BE49-F238E27FC236}">
                <a16:creationId xmlns:a16="http://schemas.microsoft.com/office/drawing/2014/main" id="{436483D4-F053-0D96-62F0-42DC485F76BD}"/>
              </a:ext>
            </a:extLst>
          </p:cNvPr>
          <p:cNvPicPr>
            <a:picLocks noChangeAspect="1"/>
          </p:cNvPicPr>
          <p:nvPr/>
        </p:nvPicPr>
        <p:blipFill>
          <a:blip r:embed="rId4"/>
          <a:stretch>
            <a:fillRect/>
          </a:stretch>
        </p:blipFill>
        <p:spPr>
          <a:xfrm>
            <a:off x="8822844" y="5855500"/>
            <a:ext cx="965233" cy="965233"/>
          </a:xfrm>
          <a:prstGeom prst="rect">
            <a:avLst/>
          </a:prstGeom>
        </p:spPr>
      </p:pic>
      <p:pic>
        <p:nvPicPr>
          <p:cNvPr id="10" name="Afbeelding 9" descr="Afbeelding met Graphics, Lettertype, logo, grafische vormgeving&#10;&#10;Automatisch gegenereerde beschrijving">
            <a:extLst>
              <a:ext uri="{FF2B5EF4-FFF2-40B4-BE49-F238E27FC236}">
                <a16:creationId xmlns:a16="http://schemas.microsoft.com/office/drawing/2014/main" id="{55BCB5BA-3CBD-F00F-245B-E6B2E85B4DB8}"/>
              </a:ext>
            </a:extLst>
          </p:cNvPr>
          <p:cNvPicPr>
            <a:picLocks noChangeAspect="1"/>
          </p:cNvPicPr>
          <p:nvPr/>
        </p:nvPicPr>
        <p:blipFill>
          <a:blip r:embed="rId5"/>
          <a:stretch>
            <a:fillRect/>
          </a:stretch>
        </p:blipFill>
        <p:spPr>
          <a:xfrm>
            <a:off x="10133046" y="5542697"/>
            <a:ext cx="1590837" cy="1590837"/>
          </a:xfrm>
          <a:prstGeom prst="rect">
            <a:avLst/>
          </a:prstGeom>
        </p:spPr>
      </p:pic>
      <p:pic>
        <p:nvPicPr>
          <p:cNvPr id="13" name="Afbeelding 12">
            <a:extLst>
              <a:ext uri="{FF2B5EF4-FFF2-40B4-BE49-F238E27FC236}">
                <a16:creationId xmlns:a16="http://schemas.microsoft.com/office/drawing/2014/main" id="{FEC50E70-2BCF-881D-856E-425B0A00954A}"/>
              </a:ext>
            </a:extLst>
          </p:cNvPr>
          <p:cNvPicPr>
            <a:picLocks noChangeAspect="1"/>
          </p:cNvPicPr>
          <p:nvPr/>
        </p:nvPicPr>
        <p:blipFill>
          <a:blip r:embed="rId6"/>
          <a:stretch>
            <a:fillRect/>
          </a:stretch>
        </p:blipFill>
        <p:spPr>
          <a:xfrm>
            <a:off x="2992398" y="200141"/>
            <a:ext cx="6558673" cy="3531593"/>
          </a:xfrm>
          <a:prstGeom prst="rect">
            <a:avLst/>
          </a:prstGeom>
        </p:spPr>
      </p:pic>
    </p:spTree>
    <p:extLst>
      <p:ext uri="{BB962C8B-B14F-4D97-AF65-F5344CB8AC3E}">
        <p14:creationId xmlns:p14="http://schemas.microsoft.com/office/powerpoint/2010/main" val="2235513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3C79C-D687-8B5E-A08C-4EE5A697565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05DC383-A101-0A31-E19C-221A9C3C248F}"/>
              </a:ext>
            </a:extLst>
          </p:cNvPr>
          <p:cNvSpPr>
            <a:spLocks noGrp="1"/>
          </p:cNvSpPr>
          <p:nvPr>
            <p:ph type="ctrTitle"/>
          </p:nvPr>
        </p:nvSpPr>
        <p:spPr>
          <a:xfrm>
            <a:off x="1524000" y="128450"/>
            <a:ext cx="9144000" cy="838958"/>
          </a:xfrm>
        </p:spPr>
        <p:txBody>
          <a:bodyPr>
            <a:normAutofit fontScale="90000"/>
          </a:bodyPr>
          <a:lstStyle/>
          <a:p>
            <a:r>
              <a:rPr lang="nl-BE" b="1" dirty="0">
                <a:solidFill>
                  <a:srgbClr val="002060"/>
                </a:solidFill>
              </a:rPr>
              <a:t>Contents</a:t>
            </a:r>
          </a:p>
        </p:txBody>
      </p:sp>
      <p:sp>
        <p:nvSpPr>
          <p:cNvPr id="3" name="Tekstvak 2">
            <a:extLst>
              <a:ext uri="{FF2B5EF4-FFF2-40B4-BE49-F238E27FC236}">
                <a16:creationId xmlns:a16="http://schemas.microsoft.com/office/drawing/2014/main" id="{3A09BCB8-0003-E256-BD9D-25DD02CC9887}"/>
              </a:ext>
            </a:extLst>
          </p:cNvPr>
          <p:cNvSpPr txBox="1"/>
          <p:nvPr/>
        </p:nvSpPr>
        <p:spPr>
          <a:xfrm>
            <a:off x="791817" y="1215055"/>
            <a:ext cx="10561983" cy="4893647"/>
          </a:xfrm>
          <a:prstGeom prst="rect">
            <a:avLst/>
          </a:prstGeom>
          <a:noFill/>
        </p:spPr>
        <p:txBody>
          <a:bodyPr wrap="square" rtlCol="0">
            <a:spAutoFit/>
          </a:bodyPr>
          <a:lstStyle/>
          <a:p>
            <a:pPr marL="342900" indent="-342900">
              <a:buFont typeface="Arial" panose="020B0604020202020204" pitchFamily="34" charset="0"/>
              <a:buChar char="•"/>
            </a:pPr>
            <a:r>
              <a:rPr lang="nl-BE" sz="2400" dirty="0"/>
              <a:t>Motivation</a:t>
            </a:r>
          </a:p>
          <a:p>
            <a:pPr marL="342900" indent="-342900">
              <a:buFont typeface="Arial" panose="020B0604020202020204" pitchFamily="34" charset="0"/>
              <a:buChar char="•"/>
            </a:pPr>
            <a:endParaRPr lang="nl-BE" sz="2400" dirty="0"/>
          </a:p>
          <a:p>
            <a:pPr marL="342900" indent="-342900">
              <a:buFont typeface="Arial" panose="020B0604020202020204" pitchFamily="34" charset="0"/>
              <a:buChar char="•"/>
            </a:pPr>
            <a:r>
              <a:rPr lang="nl-BE" sz="2400" dirty="0"/>
              <a:t>Gaussian distributions</a:t>
            </a:r>
          </a:p>
          <a:p>
            <a:pPr marL="342900" indent="-342900">
              <a:buFont typeface="Arial" panose="020B0604020202020204" pitchFamily="34" charset="0"/>
              <a:buChar char="•"/>
            </a:pPr>
            <a:endParaRPr lang="nl-BE" sz="2400" dirty="0"/>
          </a:p>
          <a:p>
            <a:pPr marL="342900" indent="-342900">
              <a:buFont typeface="Arial" panose="020B0604020202020204" pitchFamily="34" charset="0"/>
              <a:buChar char="•"/>
            </a:pPr>
            <a:r>
              <a:rPr lang="nl-BE" sz="2400" dirty="0"/>
              <a:t>Bayesian optimization</a:t>
            </a:r>
          </a:p>
          <a:p>
            <a:pPr marL="342900" indent="-342900">
              <a:buFont typeface="Arial" panose="020B0604020202020204" pitchFamily="34" charset="0"/>
              <a:buChar char="•"/>
            </a:pPr>
            <a:endParaRPr lang="nl-BE" sz="2400" dirty="0"/>
          </a:p>
          <a:p>
            <a:pPr marL="342900" indent="-342900">
              <a:buFont typeface="Arial" panose="020B0604020202020204" pitchFamily="34" charset="0"/>
              <a:buChar char="•"/>
            </a:pPr>
            <a:r>
              <a:rPr lang="nl-BE" sz="2400" dirty="0"/>
              <a:t>Gaussian processes &amp; Gaussian regression</a:t>
            </a:r>
          </a:p>
          <a:p>
            <a:pPr marL="342900" indent="-342900">
              <a:buFont typeface="Arial" panose="020B0604020202020204" pitchFamily="34" charset="0"/>
              <a:buChar char="•"/>
            </a:pPr>
            <a:endParaRPr lang="nl-BE" sz="2400" dirty="0"/>
          </a:p>
          <a:p>
            <a:pPr marL="342900" indent="-342900">
              <a:buFont typeface="Arial" panose="020B0604020202020204" pitchFamily="34" charset="0"/>
              <a:buChar char="•"/>
            </a:pPr>
            <a:r>
              <a:rPr lang="nl-BE" sz="2400" dirty="0"/>
              <a:t>Priors, Posteriors &amp; Acquisition functions</a:t>
            </a:r>
          </a:p>
          <a:p>
            <a:pPr marL="342900" indent="-342900">
              <a:buFont typeface="Arial" panose="020B0604020202020204" pitchFamily="34" charset="0"/>
              <a:buChar char="•"/>
            </a:pPr>
            <a:endParaRPr lang="nl-BE" sz="2400" dirty="0"/>
          </a:p>
          <a:p>
            <a:pPr marL="342900" indent="-342900">
              <a:buFont typeface="Arial" panose="020B0604020202020204" pitchFamily="34" charset="0"/>
              <a:buChar char="•"/>
            </a:pPr>
            <a:r>
              <a:rPr lang="nl-BE" sz="2400" dirty="0"/>
              <a:t>Applications</a:t>
            </a:r>
          </a:p>
          <a:p>
            <a:pPr marL="342900" indent="-342900">
              <a:buFont typeface="Arial" panose="020B0604020202020204" pitchFamily="34" charset="0"/>
              <a:buChar char="•"/>
            </a:pPr>
            <a:endParaRPr lang="nl-BE" sz="2400" dirty="0"/>
          </a:p>
          <a:p>
            <a:pPr marL="342900" indent="-342900">
              <a:buFont typeface="Arial" panose="020B0604020202020204" pitchFamily="34" charset="0"/>
              <a:buChar char="•"/>
            </a:pPr>
            <a:r>
              <a:rPr lang="nl-BE" sz="2400" dirty="0"/>
              <a:t>Leveraging hidden-space representations of chemical options</a:t>
            </a:r>
          </a:p>
        </p:txBody>
      </p:sp>
      <p:sp>
        <p:nvSpPr>
          <p:cNvPr id="4" name="Tijdelijke aanduiding voor dianummer 3">
            <a:extLst>
              <a:ext uri="{FF2B5EF4-FFF2-40B4-BE49-F238E27FC236}">
                <a16:creationId xmlns:a16="http://schemas.microsoft.com/office/drawing/2014/main" id="{A168F3C0-4EB9-1542-A6C7-E9963DC4A15A}"/>
              </a:ext>
            </a:extLst>
          </p:cNvPr>
          <p:cNvSpPr>
            <a:spLocks noGrp="1"/>
          </p:cNvSpPr>
          <p:nvPr>
            <p:ph type="sldNum" sz="quarter" idx="12"/>
          </p:nvPr>
        </p:nvSpPr>
        <p:spPr/>
        <p:txBody>
          <a:bodyPr/>
          <a:lstStyle/>
          <a:p>
            <a:fld id="{45E6605D-1E32-D542-B458-1FC57A046453}" type="slidenum">
              <a:rPr lang="nl-BE" smtClean="0"/>
              <a:t>2</a:t>
            </a:fld>
            <a:endParaRPr lang="nl-BE"/>
          </a:p>
        </p:txBody>
      </p:sp>
    </p:spTree>
    <p:extLst>
      <p:ext uri="{BB962C8B-B14F-4D97-AF65-F5344CB8AC3E}">
        <p14:creationId xmlns:p14="http://schemas.microsoft.com/office/powerpoint/2010/main" val="22086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5269E-BF15-B719-B8C4-FF3E8CB64D5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8782C1F-D5CE-8B8A-B853-09A9217EE31E}"/>
              </a:ext>
            </a:extLst>
          </p:cNvPr>
          <p:cNvSpPr>
            <a:spLocks noGrp="1"/>
          </p:cNvSpPr>
          <p:nvPr>
            <p:ph type="ctrTitle"/>
          </p:nvPr>
        </p:nvSpPr>
        <p:spPr>
          <a:xfrm>
            <a:off x="1524000" y="128450"/>
            <a:ext cx="9144000" cy="838958"/>
          </a:xfrm>
        </p:spPr>
        <p:txBody>
          <a:bodyPr>
            <a:normAutofit fontScale="90000"/>
          </a:bodyPr>
          <a:lstStyle/>
          <a:p>
            <a:r>
              <a:rPr lang="nl-BE" b="1" dirty="0">
                <a:solidFill>
                  <a:srgbClr val="002060"/>
                </a:solidFill>
              </a:rPr>
              <a:t>Why Bayesian Optimization?</a:t>
            </a:r>
          </a:p>
        </p:txBody>
      </p:sp>
      <p:sp>
        <p:nvSpPr>
          <p:cNvPr id="6" name="Tekstvak 5">
            <a:extLst>
              <a:ext uri="{FF2B5EF4-FFF2-40B4-BE49-F238E27FC236}">
                <a16:creationId xmlns:a16="http://schemas.microsoft.com/office/drawing/2014/main" id="{92F80F02-2C0C-1776-8377-54B5679E3CCE}"/>
              </a:ext>
            </a:extLst>
          </p:cNvPr>
          <p:cNvSpPr txBox="1"/>
          <p:nvPr/>
        </p:nvSpPr>
        <p:spPr>
          <a:xfrm>
            <a:off x="971254" y="4369949"/>
            <a:ext cx="10561983" cy="830997"/>
          </a:xfrm>
          <a:prstGeom prst="rect">
            <a:avLst/>
          </a:prstGeom>
          <a:noFill/>
        </p:spPr>
        <p:txBody>
          <a:bodyPr wrap="square" rtlCol="0">
            <a:spAutoFit/>
          </a:bodyPr>
          <a:lstStyle/>
          <a:p>
            <a:r>
              <a:rPr lang="nl-BE" sz="2400" dirty="0"/>
              <a:t>Traditional numerical optimization algorithms: Newton-Raphson, gradient descent, etc.</a:t>
            </a:r>
          </a:p>
        </p:txBody>
      </p:sp>
      <mc:AlternateContent xmlns:mc="http://schemas.openxmlformats.org/markup-compatibility/2006" xmlns:a14="http://schemas.microsoft.com/office/drawing/2010/main">
        <mc:Choice Requires="a14">
          <p:sp>
            <p:nvSpPr>
              <p:cNvPr id="7" name="Tekstvak 6">
                <a:extLst>
                  <a:ext uri="{FF2B5EF4-FFF2-40B4-BE49-F238E27FC236}">
                    <a16:creationId xmlns:a16="http://schemas.microsoft.com/office/drawing/2014/main" id="{C01C325B-F3BC-17E7-A730-FC5286AD5929}"/>
                  </a:ext>
                </a:extLst>
              </p:cNvPr>
              <p:cNvSpPr txBox="1"/>
              <p:nvPr/>
            </p:nvSpPr>
            <p:spPr>
              <a:xfrm>
                <a:off x="971261" y="1255328"/>
                <a:ext cx="10561983" cy="461665"/>
              </a:xfrm>
              <a:prstGeom prst="rect">
                <a:avLst/>
              </a:prstGeom>
              <a:noFill/>
            </p:spPr>
            <p:txBody>
              <a:bodyPr wrap="square" rtlCol="0">
                <a:spAutoFit/>
              </a:bodyPr>
              <a:lstStyle/>
              <a:p>
                <a:r>
                  <a:rPr lang="nl-BE" sz="2400" dirty="0"/>
                  <a:t>Optimization: finding the maximum/minimum of a function </a:t>
                </a:r>
                <a14:m>
                  <m:oMath xmlns:m="http://schemas.openxmlformats.org/officeDocument/2006/math">
                    <m:r>
                      <a:rPr lang="nl-BE" sz="2400" b="0" i="1" smtClean="0">
                        <a:latin typeface="Cambria Math" panose="02040503050406030204" pitchFamily="18" charset="0"/>
                      </a:rPr>
                      <m:t>𝑓</m:t>
                    </m:r>
                  </m:oMath>
                </a14:m>
                <a:r>
                  <a:rPr lang="nl-BE" sz="2400" dirty="0"/>
                  <a:t> </a:t>
                </a:r>
              </a:p>
            </p:txBody>
          </p:sp>
        </mc:Choice>
        <mc:Fallback xmlns="">
          <p:sp>
            <p:nvSpPr>
              <p:cNvPr id="7" name="Tekstvak 6">
                <a:extLst>
                  <a:ext uri="{FF2B5EF4-FFF2-40B4-BE49-F238E27FC236}">
                    <a16:creationId xmlns:a16="http://schemas.microsoft.com/office/drawing/2014/main" id="{C01C325B-F3BC-17E7-A730-FC5286AD5929}"/>
                  </a:ext>
                </a:extLst>
              </p:cNvPr>
              <p:cNvSpPr txBox="1">
                <a:spLocks noRot="1" noChangeAspect="1" noMove="1" noResize="1" noEditPoints="1" noAdjustHandles="1" noChangeArrowheads="1" noChangeShapeType="1" noTextEdit="1"/>
              </p:cNvSpPr>
              <p:nvPr/>
            </p:nvSpPr>
            <p:spPr>
              <a:xfrm>
                <a:off x="971261" y="1255328"/>
                <a:ext cx="10561983" cy="461665"/>
              </a:xfrm>
              <a:prstGeom prst="rect">
                <a:avLst/>
              </a:prstGeom>
              <a:blipFill>
                <a:blip r:embed="rId3"/>
                <a:stretch>
                  <a:fillRect l="-840" t="-7895" b="-28947"/>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8" name="Tekstvak 7">
                <a:extLst>
                  <a:ext uri="{FF2B5EF4-FFF2-40B4-BE49-F238E27FC236}">
                    <a16:creationId xmlns:a16="http://schemas.microsoft.com/office/drawing/2014/main" id="{8C5C8212-5010-7860-0E90-145C6559FE5A}"/>
                  </a:ext>
                </a:extLst>
              </p:cNvPr>
              <p:cNvSpPr txBox="1"/>
              <p:nvPr/>
            </p:nvSpPr>
            <p:spPr>
              <a:xfrm>
                <a:off x="4285678" y="1772673"/>
                <a:ext cx="292669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nl-BE" sz="2400" b="0" i="1" smtClean="0">
                          <a:latin typeface="Cambria Math" panose="02040503050406030204" pitchFamily="18" charset="0"/>
                        </a:rPr>
                        <m:t>𝑓</m:t>
                      </m:r>
                      <m:r>
                        <a:rPr lang="nl-BE" sz="2400" b="0" i="1" smtClean="0">
                          <a:latin typeface="Cambria Math" panose="02040503050406030204" pitchFamily="18" charset="0"/>
                        </a:rPr>
                        <m:t>: </m:t>
                      </m:r>
                      <m:sSub>
                        <m:sSubPr>
                          <m:ctrlPr>
                            <a:rPr lang="nl-BE" sz="2400" b="0" i="1" smtClean="0">
                              <a:latin typeface="Cambria Math" panose="02040503050406030204" pitchFamily="18" charset="0"/>
                            </a:rPr>
                          </m:ctrlPr>
                        </m:sSubPr>
                        <m:e>
                          <m:r>
                            <a:rPr lang="nl-BE" sz="2400" b="0" i="1" smtClean="0">
                              <a:latin typeface="Cambria Math" panose="02040503050406030204" pitchFamily="18" charset="0"/>
                            </a:rPr>
                            <m:t>(</m:t>
                          </m:r>
                          <m:r>
                            <a:rPr lang="nl-BE" sz="2400" b="0" i="1" smtClean="0">
                              <a:latin typeface="Cambria Math" panose="02040503050406030204" pitchFamily="18" charset="0"/>
                            </a:rPr>
                            <m:t>𝑥</m:t>
                          </m:r>
                        </m:e>
                        <m:sub>
                          <m:r>
                            <a:rPr lang="nl-BE" sz="2400" b="0" i="1" smtClean="0">
                              <a:latin typeface="Cambria Math" panose="02040503050406030204" pitchFamily="18" charset="0"/>
                            </a:rPr>
                            <m:t>1</m:t>
                          </m:r>
                        </m:sub>
                      </m:sSub>
                      <m:r>
                        <a:rPr lang="nl-BE" sz="2400" b="0" i="1" smtClean="0">
                          <a:latin typeface="Cambria Math" panose="02040503050406030204" pitchFamily="18" charset="0"/>
                        </a:rPr>
                        <m:t>,</m:t>
                      </m:r>
                      <m:sSub>
                        <m:sSubPr>
                          <m:ctrlPr>
                            <a:rPr lang="nl-BE" sz="2400" b="0" i="1" smtClean="0">
                              <a:latin typeface="Cambria Math" panose="02040503050406030204" pitchFamily="18" charset="0"/>
                            </a:rPr>
                          </m:ctrlPr>
                        </m:sSubPr>
                        <m:e>
                          <m:r>
                            <a:rPr lang="nl-BE" sz="2400" b="0" i="1" smtClean="0">
                              <a:latin typeface="Cambria Math" panose="02040503050406030204" pitchFamily="18" charset="0"/>
                            </a:rPr>
                            <m:t>𝑥</m:t>
                          </m:r>
                        </m:e>
                        <m:sub>
                          <m:r>
                            <a:rPr lang="nl-BE" sz="2400" b="0" i="1" smtClean="0">
                              <a:latin typeface="Cambria Math" panose="02040503050406030204" pitchFamily="18" charset="0"/>
                            </a:rPr>
                            <m:t>2</m:t>
                          </m:r>
                        </m:sub>
                      </m:sSub>
                      <m:r>
                        <a:rPr lang="nl-BE" sz="2400" b="0" i="1" smtClean="0">
                          <a:latin typeface="Cambria Math" panose="02040503050406030204" pitchFamily="18" charset="0"/>
                        </a:rPr>
                        <m:t>,…,</m:t>
                      </m:r>
                      <m:sSub>
                        <m:sSubPr>
                          <m:ctrlPr>
                            <a:rPr lang="nl-BE" sz="2400" b="0" i="1" smtClean="0">
                              <a:latin typeface="Cambria Math" panose="02040503050406030204" pitchFamily="18" charset="0"/>
                            </a:rPr>
                          </m:ctrlPr>
                        </m:sSubPr>
                        <m:e>
                          <m:r>
                            <a:rPr lang="nl-BE" sz="2400" b="0" i="1" smtClean="0">
                              <a:latin typeface="Cambria Math" panose="02040503050406030204" pitchFamily="18" charset="0"/>
                            </a:rPr>
                            <m:t>𝑥</m:t>
                          </m:r>
                        </m:e>
                        <m:sub>
                          <m:r>
                            <a:rPr lang="nl-BE" sz="2400" b="0" i="1" smtClean="0">
                              <a:latin typeface="Cambria Math" panose="02040503050406030204" pitchFamily="18" charset="0"/>
                            </a:rPr>
                            <m:t>𝑛</m:t>
                          </m:r>
                        </m:sub>
                      </m:sSub>
                      <m:r>
                        <a:rPr lang="nl-BE" sz="2400" b="0" i="1" smtClean="0">
                          <a:latin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𝑦</m:t>
                      </m:r>
                      <m:r>
                        <a:rPr lang="nl-BE" sz="2400" b="0" i="1" smtClean="0">
                          <a:latin typeface="Cambria Math" panose="02040503050406030204" pitchFamily="18" charset="0"/>
                        </a:rPr>
                        <m:t> </m:t>
                      </m:r>
                    </m:oMath>
                  </m:oMathPara>
                </a14:m>
                <a:endParaRPr lang="nl-BE" sz="2400" dirty="0"/>
              </a:p>
            </p:txBody>
          </p:sp>
        </mc:Choice>
        <mc:Fallback xmlns="">
          <p:sp>
            <p:nvSpPr>
              <p:cNvPr id="8" name="Tekstvak 7">
                <a:extLst>
                  <a:ext uri="{FF2B5EF4-FFF2-40B4-BE49-F238E27FC236}">
                    <a16:creationId xmlns:a16="http://schemas.microsoft.com/office/drawing/2014/main" id="{8C5C8212-5010-7860-0E90-145C6559FE5A}"/>
                  </a:ext>
                </a:extLst>
              </p:cNvPr>
              <p:cNvSpPr txBox="1">
                <a:spLocks noRot="1" noChangeAspect="1" noMove="1" noResize="1" noEditPoints="1" noAdjustHandles="1" noChangeArrowheads="1" noChangeShapeType="1" noTextEdit="1"/>
              </p:cNvSpPr>
              <p:nvPr/>
            </p:nvSpPr>
            <p:spPr>
              <a:xfrm>
                <a:off x="4285678" y="1772673"/>
                <a:ext cx="2926699" cy="369332"/>
              </a:xfrm>
              <a:prstGeom prst="rect">
                <a:avLst/>
              </a:prstGeom>
              <a:blipFill>
                <a:blip r:embed="rId4"/>
                <a:stretch>
                  <a:fillRect l="-3463" t="-10000" r="-3896" b="-36667"/>
                </a:stretch>
              </a:blipFill>
            </p:spPr>
            <p:txBody>
              <a:bodyPr/>
              <a:lstStyle/>
              <a:p>
                <a:r>
                  <a:rPr lang="nl-BE">
                    <a:noFill/>
                  </a:rPr>
                  <a:t> </a:t>
                </a:r>
              </a:p>
            </p:txBody>
          </p:sp>
        </mc:Fallback>
      </mc:AlternateContent>
      <p:sp>
        <p:nvSpPr>
          <p:cNvPr id="9" name="Tekstvak 8">
            <a:extLst>
              <a:ext uri="{FF2B5EF4-FFF2-40B4-BE49-F238E27FC236}">
                <a16:creationId xmlns:a16="http://schemas.microsoft.com/office/drawing/2014/main" id="{95AC829F-3AC1-3D06-6AA3-06B4CE2659E7}"/>
              </a:ext>
            </a:extLst>
          </p:cNvPr>
          <p:cNvSpPr txBox="1"/>
          <p:nvPr/>
        </p:nvSpPr>
        <p:spPr>
          <a:xfrm>
            <a:off x="971255" y="5366792"/>
            <a:ext cx="10561983" cy="1200329"/>
          </a:xfrm>
          <a:prstGeom prst="rect">
            <a:avLst/>
          </a:prstGeom>
          <a:noFill/>
        </p:spPr>
        <p:txBody>
          <a:bodyPr wrap="square" rtlCol="0">
            <a:spAutoFit/>
          </a:bodyPr>
          <a:lstStyle/>
          <a:p>
            <a:r>
              <a:rPr lang="nl-BE" sz="2400" dirty="0"/>
              <a:t>Bayesian optimization is a </a:t>
            </a:r>
            <a:r>
              <a:rPr lang="nl-BE" sz="2400" i="1" dirty="0"/>
              <a:t>heuristic</a:t>
            </a:r>
            <a:r>
              <a:rPr lang="nl-BE" sz="2400" dirty="0"/>
              <a:t> optimization approach that avoids making use of gradient information </a:t>
            </a:r>
            <a:r>
              <a:rPr lang="nl-BE" sz="2400" dirty="0">
                <a:sym typeface="Wingdings" pitchFamily="2" charset="2"/>
              </a:rPr>
              <a:t> suitable for </a:t>
            </a:r>
            <a:r>
              <a:rPr lang="nl-BE" sz="2400" b="1" dirty="0">
                <a:sym typeface="Wingdings" pitchFamily="2" charset="2"/>
              </a:rPr>
              <a:t>black-box functions </a:t>
            </a:r>
            <a:r>
              <a:rPr lang="nl-BE" sz="2400" dirty="0">
                <a:sym typeface="Wingdings" pitchFamily="2" charset="2"/>
              </a:rPr>
              <a:t>for which no gradient can be established</a:t>
            </a:r>
            <a:endParaRPr lang="nl-BE" sz="2400" dirty="0"/>
          </a:p>
        </p:txBody>
      </p:sp>
      <p:pic>
        <p:nvPicPr>
          <p:cNvPr id="1026" name="Picture 2" descr="The 2D test functions | Download Scientific Diagram">
            <a:extLst>
              <a:ext uri="{FF2B5EF4-FFF2-40B4-BE49-F238E27FC236}">
                <a16:creationId xmlns:a16="http://schemas.microsoft.com/office/drawing/2014/main" id="{A1E8CB28-48BD-AEA9-32FD-FD5A2E5623C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57681"/>
          <a:stretch/>
        </p:blipFill>
        <p:spPr bwMode="auto">
          <a:xfrm>
            <a:off x="3646142" y="2346334"/>
            <a:ext cx="4205770" cy="1928487"/>
          </a:xfrm>
          <a:prstGeom prst="rect">
            <a:avLst/>
          </a:prstGeom>
          <a:noFill/>
          <a:extLst>
            <a:ext uri="{909E8E84-426E-40DD-AFC4-6F175D3DCCD1}">
              <a14:hiddenFill xmlns:a14="http://schemas.microsoft.com/office/drawing/2010/main">
                <a:solidFill>
                  <a:srgbClr val="FFFFFF"/>
                </a:solidFill>
              </a14:hiddenFill>
            </a:ext>
          </a:extLst>
        </p:spPr>
      </p:pic>
      <p:sp>
        <p:nvSpPr>
          <p:cNvPr id="3" name="Tijdelijke aanduiding voor dianummer 2">
            <a:extLst>
              <a:ext uri="{FF2B5EF4-FFF2-40B4-BE49-F238E27FC236}">
                <a16:creationId xmlns:a16="http://schemas.microsoft.com/office/drawing/2014/main" id="{84EA9F2B-223B-C7C5-7218-1DD26B669712}"/>
              </a:ext>
            </a:extLst>
          </p:cNvPr>
          <p:cNvSpPr>
            <a:spLocks noGrp="1"/>
          </p:cNvSpPr>
          <p:nvPr>
            <p:ph type="sldNum" sz="quarter" idx="12"/>
          </p:nvPr>
        </p:nvSpPr>
        <p:spPr/>
        <p:txBody>
          <a:bodyPr/>
          <a:lstStyle/>
          <a:p>
            <a:fld id="{45E6605D-1E32-D542-B458-1FC57A046453}" type="slidenum">
              <a:rPr lang="nl-BE" smtClean="0"/>
              <a:t>3</a:t>
            </a:fld>
            <a:endParaRPr lang="nl-BE"/>
          </a:p>
        </p:txBody>
      </p:sp>
    </p:spTree>
    <p:extLst>
      <p:ext uri="{BB962C8B-B14F-4D97-AF65-F5344CB8AC3E}">
        <p14:creationId xmlns:p14="http://schemas.microsoft.com/office/powerpoint/2010/main" val="4286704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D72B8-A065-7F78-6128-93E4F40B40F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51A5864-2F79-ED9B-9D3F-9A8401E486B3}"/>
              </a:ext>
            </a:extLst>
          </p:cNvPr>
          <p:cNvSpPr>
            <a:spLocks noGrp="1"/>
          </p:cNvSpPr>
          <p:nvPr>
            <p:ph type="ctrTitle"/>
          </p:nvPr>
        </p:nvSpPr>
        <p:spPr>
          <a:xfrm>
            <a:off x="0" y="658537"/>
            <a:ext cx="11946835" cy="838958"/>
          </a:xfrm>
        </p:spPr>
        <p:txBody>
          <a:bodyPr>
            <a:normAutofit fontScale="90000"/>
          </a:bodyPr>
          <a:lstStyle/>
          <a:p>
            <a:r>
              <a:rPr lang="nl-BE" b="1" dirty="0">
                <a:solidFill>
                  <a:srgbClr val="002060"/>
                </a:solidFill>
              </a:rPr>
              <a:t>Preliminary concepts: Gaussian distribution</a:t>
            </a:r>
          </a:p>
        </p:txBody>
      </p:sp>
      <p:sp>
        <p:nvSpPr>
          <p:cNvPr id="3" name="Tekstvak 2">
            <a:extLst>
              <a:ext uri="{FF2B5EF4-FFF2-40B4-BE49-F238E27FC236}">
                <a16:creationId xmlns:a16="http://schemas.microsoft.com/office/drawing/2014/main" id="{90212C2B-CFAC-9EC0-2F61-25DDDD01EE73}"/>
              </a:ext>
            </a:extLst>
          </p:cNvPr>
          <p:cNvSpPr txBox="1"/>
          <p:nvPr/>
        </p:nvSpPr>
        <p:spPr>
          <a:xfrm>
            <a:off x="692425" y="1653253"/>
            <a:ext cx="10561983" cy="461665"/>
          </a:xfrm>
          <a:prstGeom prst="rect">
            <a:avLst/>
          </a:prstGeom>
          <a:noFill/>
        </p:spPr>
        <p:txBody>
          <a:bodyPr wrap="square" rtlCol="0">
            <a:spAutoFit/>
          </a:bodyPr>
          <a:lstStyle/>
          <a:p>
            <a:r>
              <a:rPr lang="nl-BE" sz="2400" dirty="0"/>
              <a:t>Gaussian distribution = normal distribution</a:t>
            </a:r>
          </a:p>
        </p:txBody>
      </p:sp>
      <p:sp>
        <p:nvSpPr>
          <p:cNvPr id="4" name="Tekstvak 3">
            <a:extLst>
              <a:ext uri="{FF2B5EF4-FFF2-40B4-BE49-F238E27FC236}">
                <a16:creationId xmlns:a16="http://schemas.microsoft.com/office/drawing/2014/main" id="{113FDEC4-E8EC-2FB3-EC08-38A326E3860A}"/>
              </a:ext>
            </a:extLst>
          </p:cNvPr>
          <p:cNvSpPr txBox="1"/>
          <p:nvPr/>
        </p:nvSpPr>
        <p:spPr>
          <a:xfrm>
            <a:off x="692425" y="2352465"/>
            <a:ext cx="10561983" cy="830997"/>
          </a:xfrm>
          <a:prstGeom prst="rect">
            <a:avLst/>
          </a:prstGeom>
          <a:noFill/>
        </p:spPr>
        <p:txBody>
          <a:bodyPr wrap="square" rtlCol="0">
            <a:spAutoFit/>
          </a:bodyPr>
          <a:lstStyle/>
          <a:p>
            <a:r>
              <a:rPr lang="nl-BE" sz="2400" dirty="0"/>
              <a:t>A distribution is normal when its probability density function has the following shape:</a:t>
            </a:r>
          </a:p>
        </p:txBody>
      </p:sp>
      <p:pic>
        <p:nvPicPr>
          <p:cNvPr id="3074" name="Picture 2" descr="undefined">
            <a:extLst>
              <a:ext uri="{FF2B5EF4-FFF2-40B4-BE49-F238E27FC236}">
                <a16:creationId xmlns:a16="http://schemas.microsoft.com/office/drawing/2014/main" id="{1078B5EB-5329-23EF-67C5-2A0EA2A16F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4923" y="2893469"/>
            <a:ext cx="4292324" cy="274302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kstvak 4">
                <a:extLst>
                  <a:ext uri="{FF2B5EF4-FFF2-40B4-BE49-F238E27FC236}">
                    <a16:creationId xmlns:a16="http://schemas.microsoft.com/office/drawing/2014/main" id="{453531A2-8327-ACF2-D14D-3D34539FFB61}"/>
                  </a:ext>
                </a:extLst>
              </p:cNvPr>
              <p:cNvSpPr txBox="1"/>
              <p:nvPr/>
            </p:nvSpPr>
            <p:spPr>
              <a:xfrm>
                <a:off x="1685299" y="3726221"/>
                <a:ext cx="3262752" cy="8265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nl-BE" sz="2400" b="0" i="1" smtClean="0">
                          <a:latin typeface="Cambria Math" panose="02040503050406030204" pitchFamily="18" charset="0"/>
                        </a:rPr>
                        <m:t>𝑓</m:t>
                      </m:r>
                      <m:d>
                        <m:dPr>
                          <m:ctrlPr>
                            <a:rPr lang="nl-BE" sz="2400" b="0" i="1" smtClean="0">
                              <a:latin typeface="Cambria Math" panose="02040503050406030204" pitchFamily="18" charset="0"/>
                            </a:rPr>
                          </m:ctrlPr>
                        </m:dPr>
                        <m:e>
                          <m:r>
                            <a:rPr lang="nl-BE" sz="2400" b="0" i="1" smtClean="0">
                              <a:latin typeface="Cambria Math" panose="02040503050406030204" pitchFamily="18" charset="0"/>
                            </a:rPr>
                            <m:t>𝑥</m:t>
                          </m:r>
                        </m:e>
                      </m:d>
                      <m:r>
                        <a:rPr lang="nl-BE" sz="2400" b="0" i="1" smtClean="0">
                          <a:latin typeface="Cambria Math" panose="02040503050406030204" pitchFamily="18" charset="0"/>
                        </a:rPr>
                        <m:t>= </m:t>
                      </m:r>
                      <m:f>
                        <m:fPr>
                          <m:ctrlPr>
                            <a:rPr lang="nl-BE" sz="2400" b="0" i="1" smtClean="0">
                              <a:latin typeface="Cambria Math" panose="02040503050406030204" pitchFamily="18" charset="0"/>
                            </a:rPr>
                          </m:ctrlPr>
                        </m:fPr>
                        <m:num>
                          <m:r>
                            <a:rPr lang="nl-BE" sz="2400" b="0" i="1" smtClean="0">
                              <a:latin typeface="Cambria Math" panose="02040503050406030204" pitchFamily="18" charset="0"/>
                            </a:rPr>
                            <m:t>1</m:t>
                          </m:r>
                        </m:num>
                        <m:den>
                          <m:rad>
                            <m:radPr>
                              <m:degHide m:val="on"/>
                              <m:ctrlPr>
                                <a:rPr lang="nl-BE" sz="2400" b="0" i="1" smtClean="0">
                                  <a:latin typeface="Cambria Math" panose="02040503050406030204" pitchFamily="18" charset="0"/>
                                </a:rPr>
                              </m:ctrlPr>
                            </m:radPr>
                            <m:deg/>
                            <m:e>
                              <m:r>
                                <a:rPr lang="nl-BE" sz="2400" b="0" i="1" smtClean="0">
                                  <a:latin typeface="Cambria Math" panose="02040503050406030204" pitchFamily="18" charset="0"/>
                                </a:rPr>
                                <m:t>2</m:t>
                              </m:r>
                              <m:r>
                                <a:rPr lang="nl-BE" sz="2400" b="0" i="1" smtClean="0">
                                  <a:latin typeface="Cambria Math" panose="02040503050406030204" pitchFamily="18" charset="0"/>
                                  <a:ea typeface="Cambria Math" panose="02040503050406030204" pitchFamily="18" charset="0"/>
                                </a:rPr>
                                <m:t>𝜋</m:t>
                              </m:r>
                              <m:sSup>
                                <m:sSupPr>
                                  <m:ctrlPr>
                                    <a:rPr lang="nl-BE" sz="2400" b="0" i="1" smtClean="0">
                                      <a:latin typeface="Cambria Math" panose="02040503050406030204" pitchFamily="18" charset="0"/>
                                      <a:ea typeface="Cambria Math" panose="02040503050406030204" pitchFamily="18" charset="0"/>
                                    </a:rPr>
                                  </m:ctrlPr>
                                </m:sSupPr>
                                <m:e>
                                  <m:r>
                                    <a:rPr lang="nl-BE" sz="2400" b="0" i="1" smtClean="0">
                                      <a:latin typeface="Cambria Math" panose="02040503050406030204" pitchFamily="18" charset="0"/>
                                      <a:ea typeface="Cambria Math" panose="02040503050406030204" pitchFamily="18" charset="0"/>
                                    </a:rPr>
                                    <m:t>𝜎</m:t>
                                  </m:r>
                                </m:e>
                                <m:sup>
                                  <m:r>
                                    <a:rPr lang="nl-BE" sz="2400" b="0" i="1" smtClean="0">
                                      <a:latin typeface="Cambria Math" panose="02040503050406030204" pitchFamily="18" charset="0"/>
                                      <a:ea typeface="Cambria Math" panose="02040503050406030204" pitchFamily="18" charset="0"/>
                                    </a:rPr>
                                    <m:t>2</m:t>
                                  </m:r>
                                </m:sup>
                              </m:sSup>
                            </m:e>
                          </m:rad>
                        </m:den>
                      </m:f>
                      <m:r>
                        <a:rPr lang="nl-BE" sz="2400" b="0" i="1" smtClean="0">
                          <a:latin typeface="Cambria Math" panose="02040503050406030204" pitchFamily="18" charset="0"/>
                        </a:rPr>
                        <m:t> </m:t>
                      </m:r>
                      <m:sSup>
                        <m:sSupPr>
                          <m:ctrlPr>
                            <a:rPr lang="nl-BE" sz="2400" b="0" i="1" smtClean="0">
                              <a:latin typeface="Cambria Math" panose="02040503050406030204" pitchFamily="18" charset="0"/>
                            </a:rPr>
                          </m:ctrlPr>
                        </m:sSupPr>
                        <m:e>
                          <m:r>
                            <a:rPr lang="nl-BE" sz="2400" b="0" i="1" smtClean="0">
                              <a:latin typeface="Cambria Math" panose="02040503050406030204" pitchFamily="18" charset="0"/>
                            </a:rPr>
                            <m:t>𝑒</m:t>
                          </m:r>
                        </m:e>
                        <m:sup>
                          <m:r>
                            <a:rPr lang="nl-BE" sz="2400" b="0" i="1" smtClean="0">
                              <a:latin typeface="Cambria Math" panose="02040503050406030204" pitchFamily="18" charset="0"/>
                            </a:rPr>
                            <m:t>−</m:t>
                          </m:r>
                          <m:f>
                            <m:fPr>
                              <m:ctrlPr>
                                <a:rPr lang="nl-BE" sz="2400" b="0" i="1" smtClean="0">
                                  <a:latin typeface="Cambria Math" panose="02040503050406030204" pitchFamily="18" charset="0"/>
                                </a:rPr>
                              </m:ctrlPr>
                            </m:fPr>
                            <m:num>
                              <m:sSup>
                                <m:sSupPr>
                                  <m:ctrlPr>
                                    <a:rPr lang="nl-BE" sz="2400" b="0" i="1" smtClean="0">
                                      <a:latin typeface="Cambria Math" panose="02040503050406030204" pitchFamily="18" charset="0"/>
                                    </a:rPr>
                                  </m:ctrlPr>
                                </m:sSupPr>
                                <m:e>
                                  <m:r>
                                    <a:rPr lang="nl-BE" sz="2400" b="0" i="1" smtClean="0">
                                      <a:latin typeface="Cambria Math" panose="02040503050406030204" pitchFamily="18" charset="0"/>
                                    </a:rPr>
                                    <m:t>(</m:t>
                                  </m:r>
                                  <m:r>
                                    <a:rPr lang="nl-BE" sz="2400" b="0" i="1" smtClean="0">
                                      <a:latin typeface="Cambria Math" panose="02040503050406030204" pitchFamily="18" charset="0"/>
                                    </a:rPr>
                                    <m:t>𝑥</m:t>
                                  </m:r>
                                  <m:r>
                                    <a:rPr lang="nl-BE" sz="2400" b="0" i="1" smtClean="0">
                                      <a:latin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𝜇</m:t>
                                  </m:r>
                                  <m:r>
                                    <a:rPr lang="nl-BE" sz="2400" b="0" i="1" smtClean="0">
                                      <a:latin typeface="Cambria Math" panose="02040503050406030204" pitchFamily="18" charset="0"/>
                                    </a:rPr>
                                    <m:t>)</m:t>
                                  </m:r>
                                </m:e>
                                <m:sup>
                                  <m:r>
                                    <a:rPr lang="nl-BE" sz="2400" b="0" i="1" smtClean="0">
                                      <a:latin typeface="Cambria Math" panose="02040503050406030204" pitchFamily="18" charset="0"/>
                                    </a:rPr>
                                    <m:t>2</m:t>
                                  </m:r>
                                </m:sup>
                              </m:sSup>
                            </m:num>
                            <m:den>
                              <m:r>
                                <a:rPr lang="nl-BE" sz="2400" b="0" i="1" smtClean="0">
                                  <a:latin typeface="Cambria Math" panose="02040503050406030204" pitchFamily="18" charset="0"/>
                                </a:rPr>
                                <m:t>2</m:t>
                              </m:r>
                              <m:sSup>
                                <m:sSupPr>
                                  <m:ctrlPr>
                                    <a:rPr lang="nl-BE" sz="2400" b="0" i="1" smtClean="0">
                                      <a:latin typeface="Cambria Math" panose="02040503050406030204" pitchFamily="18" charset="0"/>
                                    </a:rPr>
                                  </m:ctrlPr>
                                </m:sSupPr>
                                <m:e>
                                  <m:r>
                                    <a:rPr lang="nl-BE" sz="2400" b="0" i="1" smtClean="0">
                                      <a:latin typeface="Cambria Math" panose="02040503050406030204" pitchFamily="18" charset="0"/>
                                      <a:ea typeface="Cambria Math" panose="02040503050406030204" pitchFamily="18" charset="0"/>
                                    </a:rPr>
                                    <m:t>𝜎</m:t>
                                  </m:r>
                                </m:e>
                                <m:sup>
                                  <m:r>
                                    <a:rPr lang="nl-BE" sz="2400" b="0" i="1" smtClean="0">
                                      <a:latin typeface="Cambria Math" panose="02040503050406030204" pitchFamily="18" charset="0"/>
                                    </a:rPr>
                                    <m:t>2</m:t>
                                  </m:r>
                                </m:sup>
                              </m:sSup>
                            </m:den>
                          </m:f>
                        </m:sup>
                      </m:sSup>
                    </m:oMath>
                  </m:oMathPara>
                </a14:m>
                <a:endParaRPr lang="nl-BE" sz="2400" dirty="0"/>
              </a:p>
            </p:txBody>
          </p:sp>
        </mc:Choice>
        <mc:Fallback xmlns="">
          <p:sp>
            <p:nvSpPr>
              <p:cNvPr id="5" name="Tekstvak 4">
                <a:extLst>
                  <a:ext uri="{FF2B5EF4-FFF2-40B4-BE49-F238E27FC236}">
                    <a16:creationId xmlns:a16="http://schemas.microsoft.com/office/drawing/2014/main" id="{453531A2-8327-ACF2-D14D-3D34539FFB61}"/>
                  </a:ext>
                </a:extLst>
              </p:cNvPr>
              <p:cNvSpPr txBox="1">
                <a:spLocks noRot="1" noChangeAspect="1" noMove="1" noResize="1" noEditPoints="1" noAdjustHandles="1" noChangeArrowheads="1" noChangeShapeType="1" noTextEdit="1"/>
              </p:cNvSpPr>
              <p:nvPr/>
            </p:nvSpPr>
            <p:spPr>
              <a:xfrm>
                <a:off x="1685299" y="3726221"/>
                <a:ext cx="3262752" cy="826508"/>
              </a:xfrm>
              <a:prstGeom prst="rect">
                <a:avLst/>
              </a:prstGeom>
              <a:blipFill>
                <a:blip r:embed="rId4"/>
                <a:stretch>
                  <a:fillRect l="-2713" b="-10606"/>
                </a:stretch>
              </a:blipFill>
            </p:spPr>
            <p:txBody>
              <a:bodyPr/>
              <a:lstStyle/>
              <a:p>
                <a:r>
                  <a:rPr lang="nl-BE">
                    <a:noFill/>
                  </a:rPr>
                  <a:t> </a:t>
                </a:r>
              </a:p>
            </p:txBody>
          </p:sp>
        </mc:Fallback>
      </mc:AlternateContent>
      <p:sp>
        <p:nvSpPr>
          <p:cNvPr id="10" name="Tekstvak 9">
            <a:extLst>
              <a:ext uri="{FF2B5EF4-FFF2-40B4-BE49-F238E27FC236}">
                <a16:creationId xmlns:a16="http://schemas.microsoft.com/office/drawing/2014/main" id="{9605E9FA-9646-CFE6-777B-F74291092946}"/>
              </a:ext>
            </a:extLst>
          </p:cNvPr>
          <p:cNvSpPr txBox="1"/>
          <p:nvPr/>
        </p:nvSpPr>
        <p:spPr>
          <a:xfrm>
            <a:off x="692424" y="5834103"/>
            <a:ext cx="10561983" cy="461665"/>
          </a:xfrm>
          <a:prstGeom prst="rect">
            <a:avLst/>
          </a:prstGeom>
          <a:noFill/>
        </p:spPr>
        <p:txBody>
          <a:bodyPr wrap="square" rtlCol="0">
            <a:spAutoFit/>
          </a:bodyPr>
          <a:lstStyle/>
          <a:p>
            <a:r>
              <a:rPr lang="nl-BE" sz="2400" dirty="0"/>
              <a:t>When a variable X is normaly distributed, we write:</a:t>
            </a:r>
          </a:p>
        </p:txBody>
      </p:sp>
      <mc:AlternateContent xmlns:mc="http://schemas.openxmlformats.org/markup-compatibility/2006" xmlns:a14="http://schemas.microsoft.com/office/drawing/2010/main">
        <mc:Choice Requires="a14">
          <p:sp>
            <p:nvSpPr>
              <p:cNvPr id="11" name="Tekstvak 10">
                <a:extLst>
                  <a:ext uri="{FF2B5EF4-FFF2-40B4-BE49-F238E27FC236}">
                    <a16:creationId xmlns:a16="http://schemas.microsoft.com/office/drawing/2014/main" id="{FDBEE020-7B09-6ECF-1EF3-D82EF69F2593}"/>
                  </a:ext>
                </a:extLst>
              </p:cNvPr>
              <p:cNvSpPr txBox="1"/>
              <p:nvPr/>
            </p:nvSpPr>
            <p:spPr>
              <a:xfrm>
                <a:off x="7631671" y="5880269"/>
                <a:ext cx="169552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nl-BE" sz="2400" b="0" i="1" smtClean="0">
                          <a:latin typeface="Cambria Math" panose="02040503050406030204" pitchFamily="18" charset="0"/>
                        </a:rPr>
                        <m:t>𝑋</m:t>
                      </m:r>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rPr>
                        <m:t> </m:t>
                      </m:r>
                      <m:r>
                        <a:rPr lang="nl-BE" sz="2400" b="0" i="1" smtClean="0">
                          <a:latin typeface="Cambria Math" panose="02040503050406030204" pitchFamily="18" charset="0"/>
                        </a:rPr>
                        <m:t>𝑁</m:t>
                      </m:r>
                      <m:r>
                        <a:rPr lang="nl-BE" sz="2400" b="0" i="1" smtClean="0">
                          <a:latin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𝜇</m:t>
                      </m:r>
                      <m:r>
                        <a:rPr lang="nl-BE" sz="2400" b="0" i="1" smtClean="0">
                          <a:latin typeface="Cambria Math" panose="02040503050406030204" pitchFamily="18" charset="0"/>
                          <a:ea typeface="Cambria Math" panose="02040503050406030204" pitchFamily="18" charset="0"/>
                        </a:rPr>
                        <m:t>;</m:t>
                      </m:r>
                      <m:sSup>
                        <m:sSupPr>
                          <m:ctrlPr>
                            <a:rPr lang="nl-BE" sz="2400" b="0" i="1" smtClean="0">
                              <a:latin typeface="Cambria Math" panose="02040503050406030204" pitchFamily="18" charset="0"/>
                              <a:ea typeface="Cambria Math" panose="02040503050406030204" pitchFamily="18" charset="0"/>
                            </a:rPr>
                          </m:ctrlPr>
                        </m:sSupPr>
                        <m:e>
                          <m:r>
                            <a:rPr lang="nl-BE" sz="2400" b="0" i="1" smtClean="0">
                              <a:latin typeface="Cambria Math" panose="02040503050406030204" pitchFamily="18" charset="0"/>
                              <a:ea typeface="Cambria Math" panose="02040503050406030204" pitchFamily="18" charset="0"/>
                            </a:rPr>
                            <m:t>𝜎</m:t>
                          </m:r>
                        </m:e>
                        <m:sup>
                          <m:r>
                            <a:rPr lang="nl-BE" sz="2400" b="0" i="1" smtClean="0">
                              <a:latin typeface="Cambria Math" panose="02040503050406030204" pitchFamily="18" charset="0"/>
                              <a:ea typeface="Cambria Math" panose="02040503050406030204" pitchFamily="18" charset="0"/>
                            </a:rPr>
                            <m:t>2</m:t>
                          </m:r>
                        </m:sup>
                      </m:sSup>
                      <m:r>
                        <a:rPr lang="nl-BE" sz="2400" b="0" i="1" smtClean="0">
                          <a:latin typeface="Cambria Math" panose="02040503050406030204" pitchFamily="18" charset="0"/>
                          <a:ea typeface="Cambria Math" panose="02040503050406030204" pitchFamily="18" charset="0"/>
                        </a:rPr>
                        <m:t>)</m:t>
                      </m:r>
                    </m:oMath>
                  </m:oMathPara>
                </a14:m>
                <a:endParaRPr lang="nl-BE" sz="2400" dirty="0"/>
              </a:p>
            </p:txBody>
          </p:sp>
        </mc:Choice>
        <mc:Fallback xmlns="">
          <p:sp>
            <p:nvSpPr>
              <p:cNvPr id="11" name="Tekstvak 10">
                <a:extLst>
                  <a:ext uri="{FF2B5EF4-FFF2-40B4-BE49-F238E27FC236}">
                    <a16:creationId xmlns:a16="http://schemas.microsoft.com/office/drawing/2014/main" id="{FDBEE020-7B09-6ECF-1EF3-D82EF69F2593}"/>
                  </a:ext>
                </a:extLst>
              </p:cNvPr>
              <p:cNvSpPr txBox="1">
                <a:spLocks noRot="1" noChangeAspect="1" noMove="1" noResize="1" noEditPoints="1" noAdjustHandles="1" noChangeArrowheads="1" noChangeShapeType="1" noTextEdit="1"/>
              </p:cNvSpPr>
              <p:nvPr/>
            </p:nvSpPr>
            <p:spPr>
              <a:xfrm>
                <a:off x="7631671" y="5880269"/>
                <a:ext cx="1695529" cy="369332"/>
              </a:xfrm>
              <a:prstGeom prst="rect">
                <a:avLst/>
              </a:prstGeom>
              <a:blipFill>
                <a:blip r:embed="rId5"/>
                <a:stretch>
                  <a:fillRect l="-3704" t="-10000" r="-5926" b="-33333"/>
                </a:stretch>
              </a:blipFill>
            </p:spPr>
            <p:txBody>
              <a:bodyPr/>
              <a:lstStyle/>
              <a:p>
                <a:r>
                  <a:rPr lang="nl-BE">
                    <a:noFill/>
                  </a:rPr>
                  <a:t> </a:t>
                </a:r>
              </a:p>
            </p:txBody>
          </p:sp>
        </mc:Fallback>
      </mc:AlternateContent>
      <p:sp>
        <p:nvSpPr>
          <p:cNvPr id="6" name="Tijdelijke aanduiding voor dianummer 5">
            <a:extLst>
              <a:ext uri="{FF2B5EF4-FFF2-40B4-BE49-F238E27FC236}">
                <a16:creationId xmlns:a16="http://schemas.microsoft.com/office/drawing/2014/main" id="{556619B3-2197-6EAB-BBD0-D3881A93F1AF}"/>
              </a:ext>
            </a:extLst>
          </p:cNvPr>
          <p:cNvSpPr>
            <a:spLocks noGrp="1"/>
          </p:cNvSpPr>
          <p:nvPr>
            <p:ph type="sldNum" sz="quarter" idx="12"/>
          </p:nvPr>
        </p:nvSpPr>
        <p:spPr/>
        <p:txBody>
          <a:bodyPr/>
          <a:lstStyle/>
          <a:p>
            <a:fld id="{45E6605D-1E32-D542-B458-1FC57A046453}" type="slidenum">
              <a:rPr lang="nl-BE" smtClean="0"/>
              <a:t>4</a:t>
            </a:fld>
            <a:endParaRPr lang="nl-BE"/>
          </a:p>
        </p:txBody>
      </p:sp>
    </p:spTree>
    <p:extLst>
      <p:ext uri="{BB962C8B-B14F-4D97-AF65-F5344CB8AC3E}">
        <p14:creationId xmlns:p14="http://schemas.microsoft.com/office/powerpoint/2010/main" val="3719886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07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10"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AF479-EDDA-9775-6598-53A6200ED20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3311762-FB1F-D59D-24EC-02022AAB2AEC}"/>
              </a:ext>
            </a:extLst>
          </p:cNvPr>
          <p:cNvSpPr>
            <a:spLocks noGrp="1"/>
          </p:cNvSpPr>
          <p:nvPr>
            <p:ph type="ctrTitle"/>
          </p:nvPr>
        </p:nvSpPr>
        <p:spPr>
          <a:xfrm>
            <a:off x="0" y="658537"/>
            <a:ext cx="11946835" cy="838958"/>
          </a:xfrm>
        </p:spPr>
        <p:txBody>
          <a:bodyPr>
            <a:normAutofit fontScale="90000"/>
          </a:bodyPr>
          <a:lstStyle/>
          <a:p>
            <a:r>
              <a:rPr lang="nl-BE" b="1" dirty="0">
                <a:solidFill>
                  <a:srgbClr val="002060"/>
                </a:solidFill>
              </a:rPr>
              <a:t>Preliminary concepts: multivariate Gaussian distribution</a:t>
            </a:r>
          </a:p>
        </p:txBody>
      </p:sp>
      <p:sp>
        <p:nvSpPr>
          <p:cNvPr id="3" name="Tekstvak 2">
            <a:extLst>
              <a:ext uri="{FF2B5EF4-FFF2-40B4-BE49-F238E27FC236}">
                <a16:creationId xmlns:a16="http://schemas.microsoft.com/office/drawing/2014/main" id="{9924C415-65ED-41D5-B985-E655C3C2D63F}"/>
              </a:ext>
            </a:extLst>
          </p:cNvPr>
          <p:cNvSpPr txBox="1"/>
          <p:nvPr/>
        </p:nvSpPr>
        <p:spPr>
          <a:xfrm>
            <a:off x="692424" y="1529206"/>
            <a:ext cx="10561983" cy="1200329"/>
          </a:xfrm>
          <a:prstGeom prst="rect">
            <a:avLst/>
          </a:prstGeom>
          <a:noFill/>
        </p:spPr>
        <p:txBody>
          <a:bodyPr wrap="square" rtlCol="0">
            <a:spAutoFit/>
          </a:bodyPr>
          <a:lstStyle/>
          <a:p>
            <a:r>
              <a:rPr lang="nl-BE" sz="2400" dirty="0"/>
              <a:t>A multivariate Gaussian distribution is a generalization of the 1D normal distribution to multiple dimensions </a:t>
            </a:r>
            <a:r>
              <a:rPr lang="nl-BE" sz="2400" dirty="0">
                <a:sym typeface="Wingdings" pitchFamily="2" charset="2"/>
              </a:rPr>
              <a:t> we go from a normally distributed variable X to a normally distributed vector </a:t>
            </a:r>
            <a:r>
              <a:rPr lang="nl-BE" sz="2400" b="1" dirty="0">
                <a:sym typeface="Wingdings" pitchFamily="2" charset="2"/>
              </a:rPr>
              <a:t>X</a:t>
            </a:r>
            <a:r>
              <a:rPr lang="nl-BE" sz="2400" dirty="0">
                <a:sym typeface="Wingdings" pitchFamily="2" charset="2"/>
              </a:rPr>
              <a:t>: </a:t>
            </a:r>
            <a:endParaRPr lang="nl-BE" sz="2400" b="1" dirty="0"/>
          </a:p>
        </p:txBody>
      </p:sp>
      <p:sp>
        <p:nvSpPr>
          <p:cNvPr id="4" name="Tekstvak 3">
            <a:extLst>
              <a:ext uri="{FF2B5EF4-FFF2-40B4-BE49-F238E27FC236}">
                <a16:creationId xmlns:a16="http://schemas.microsoft.com/office/drawing/2014/main" id="{070F0DEA-7760-0198-510F-5F95CE31949D}"/>
              </a:ext>
            </a:extLst>
          </p:cNvPr>
          <p:cNvSpPr txBox="1"/>
          <p:nvPr/>
        </p:nvSpPr>
        <p:spPr>
          <a:xfrm>
            <a:off x="692424" y="3222913"/>
            <a:ext cx="10561983" cy="830997"/>
          </a:xfrm>
          <a:prstGeom prst="rect">
            <a:avLst/>
          </a:prstGeom>
          <a:noFill/>
        </p:spPr>
        <p:txBody>
          <a:bodyPr wrap="square" rtlCol="0">
            <a:spAutoFit/>
          </a:bodyPr>
          <a:lstStyle/>
          <a:p>
            <a:r>
              <a:rPr lang="nl-BE" sz="2400" dirty="0"/>
              <a:t>Every component of </a:t>
            </a:r>
            <a:r>
              <a:rPr lang="nl-BE" sz="2400" b="1" dirty="0">
                <a:sym typeface="Wingdings" pitchFamily="2" charset="2"/>
              </a:rPr>
              <a:t>X</a:t>
            </a:r>
            <a:r>
              <a:rPr lang="nl-BE" sz="2400" dirty="0"/>
              <a:t>, needs to be a normally distributed variable, and individual components can (or cannot) be correlated (strongly)</a:t>
            </a:r>
          </a:p>
        </p:txBody>
      </p:sp>
      <p:pic>
        <p:nvPicPr>
          <p:cNvPr id="5122" name="Picture 2" descr="Chapter 14: Anomaly Detection Part 2: Multivariate Gaussian Distribution –  ML Study Notes">
            <a:extLst>
              <a:ext uri="{FF2B5EF4-FFF2-40B4-BE49-F238E27FC236}">
                <a16:creationId xmlns:a16="http://schemas.microsoft.com/office/drawing/2014/main" id="{CDCCABE9-1407-5996-4B4E-999F68AE94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0151" y="4053911"/>
            <a:ext cx="4932276" cy="270825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Tekstvak 6">
                <a:extLst>
                  <a:ext uri="{FF2B5EF4-FFF2-40B4-BE49-F238E27FC236}">
                    <a16:creationId xmlns:a16="http://schemas.microsoft.com/office/drawing/2014/main" id="{388E5D0D-A9E5-B9B9-0B30-3401B5F4572D}"/>
                  </a:ext>
                </a:extLst>
              </p:cNvPr>
              <p:cNvSpPr txBox="1"/>
              <p:nvPr/>
            </p:nvSpPr>
            <p:spPr>
              <a:xfrm>
                <a:off x="2513216" y="2761247"/>
                <a:ext cx="609738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nl-BE" sz="2400" b="1" i="1" smtClean="0">
                          <a:latin typeface="Cambria Math" panose="02040503050406030204" pitchFamily="18" charset="0"/>
                        </a:rPr>
                        <m:t>𝑿</m:t>
                      </m:r>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rPr>
                        <m:t> </m:t>
                      </m:r>
                      <m:r>
                        <a:rPr lang="nl-BE" sz="2400" b="0" i="1" smtClean="0">
                          <a:latin typeface="Cambria Math" panose="02040503050406030204" pitchFamily="18" charset="0"/>
                        </a:rPr>
                        <m:t>𝑁</m:t>
                      </m:r>
                      <m:d>
                        <m:dPr>
                          <m:ctrlPr>
                            <a:rPr lang="nl-BE" sz="2400" b="0" i="1" smtClean="0">
                              <a:latin typeface="Cambria Math" panose="02040503050406030204" pitchFamily="18" charset="0"/>
                            </a:rPr>
                          </m:ctrlPr>
                        </m:dPr>
                        <m:e>
                          <m:r>
                            <a:rPr lang="nl-BE" sz="2400" b="1" i="1" smtClean="0">
                              <a:latin typeface="Cambria Math" panose="02040503050406030204" pitchFamily="18" charset="0"/>
                              <a:ea typeface="Cambria Math" panose="02040503050406030204" pitchFamily="18" charset="0"/>
                            </a:rPr>
                            <m:t>𝝁</m:t>
                          </m:r>
                          <m:r>
                            <a:rPr lang="nl-BE" sz="2400" b="0" i="1" smtClean="0">
                              <a:latin typeface="Cambria Math" panose="02040503050406030204" pitchFamily="18" charset="0"/>
                              <a:ea typeface="Cambria Math" panose="02040503050406030204" pitchFamily="18" charset="0"/>
                            </a:rPr>
                            <m:t>;</m:t>
                          </m:r>
                          <m:sSup>
                            <m:sSupPr>
                              <m:ctrlPr>
                                <a:rPr lang="nl-BE" sz="2400" b="0" i="1" smtClean="0">
                                  <a:latin typeface="Cambria Math" panose="02040503050406030204" pitchFamily="18" charset="0"/>
                                  <a:ea typeface="Cambria Math" panose="02040503050406030204" pitchFamily="18" charset="0"/>
                                </a:rPr>
                              </m:ctrlPr>
                            </m:sSupPr>
                            <m:e>
                              <m:r>
                                <a:rPr lang="el-GR" sz="2400" b="1" i="1" smtClean="0">
                                  <a:latin typeface="Cambria Math" panose="02040503050406030204" pitchFamily="18" charset="0"/>
                                  <a:ea typeface="Cambria Math" panose="02040503050406030204" pitchFamily="18" charset="0"/>
                                </a:rPr>
                                <m:t>𝜮</m:t>
                              </m:r>
                            </m:e>
                            <m:sup>
                              <m:r>
                                <a:rPr lang="nl-BE" sz="2400" b="0" i="1" smtClean="0">
                                  <a:latin typeface="Cambria Math" panose="02040503050406030204" pitchFamily="18" charset="0"/>
                                  <a:ea typeface="Cambria Math" panose="02040503050406030204" pitchFamily="18" charset="0"/>
                                </a:rPr>
                                <m:t>2</m:t>
                              </m:r>
                            </m:sup>
                          </m:sSup>
                        </m:e>
                      </m:d>
                      <m:r>
                        <a:rPr lang="nl-BE" sz="2400" b="0" i="1" smtClean="0">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𝝁</m:t>
                      </m:r>
                      <m:r>
                        <a:rPr lang="nl-BE" sz="2400" b="1" i="1" smtClean="0">
                          <a:latin typeface="Cambria Math" panose="02040503050406030204" pitchFamily="18" charset="0"/>
                          <a:ea typeface="Cambria Math" panose="02040503050406030204" pitchFamily="18" charset="0"/>
                        </a:rPr>
                        <m:t>∈</m:t>
                      </m:r>
                      <m:sSup>
                        <m:sSupPr>
                          <m:ctrlPr>
                            <a:rPr lang="nl-BE" sz="2400" b="1" i="1" smtClean="0">
                              <a:latin typeface="Cambria Math" panose="02040503050406030204" pitchFamily="18" charset="0"/>
                              <a:ea typeface="Cambria Math" panose="02040503050406030204" pitchFamily="18" charset="0"/>
                            </a:rPr>
                          </m:ctrlPr>
                        </m:sSupPr>
                        <m:e>
                          <m:r>
                            <a:rPr lang="nl-BE" sz="2400" b="1" i="1" smtClean="0">
                              <a:latin typeface="Cambria Math" panose="02040503050406030204" pitchFamily="18" charset="0"/>
                              <a:ea typeface="Cambria Math" panose="02040503050406030204" pitchFamily="18" charset="0"/>
                            </a:rPr>
                            <m:t>ℝ</m:t>
                          </m:r>
                        </m:e>
                        <m:sup>
                          <m:r>
                            <a:rPr lang="nl-BE" sz="2400" b="1" i="1" smtClean="0">
                              <a:latin typeface="Cambria Math" panose="02040503050406030204" pitchFamily="18" charset="0"/>
                              <a:ea typeface="Cambria Math" panose="02040503050406030204" pitchFamily="18" charset="0"/>
                            </a:rPr>
                            <m:t>𝒏</m:t>
                          </m:r>
                        </m:sup>
                      </m:sSup>
                      <m:r>
                        <a:rPr lang="nl-BE" sz="2400" b="1" i="1" smtClean="0">
                          <a:latin typeface="Cambria Math" panose="02040503050406030204" pitchFamily="18" charset="0"/>
                          <a:ea typeface="Cambria Math" panose="02040503050406030204" pitchFamily="18" charset="0"/>
                        </a:rPr>
                        <m:t> &amp; </m:t>
                      </m:r>
                      <m:r>
                        <a:rPr lang="el-GR" sz="2400" b="1" i="1">
                          <a:latin typeface="Cambria Math" panose="02040503050406030204" pitchFamily="18" charset="0"/>
                          <a:ea typeface="Cambria Math" panose="02040503050406030204" pitchFamily="18" charset="0"/>
                        </a:rPr>
                        <m:t>𝜮</m:t>
                      </m:r>
                      <m:r>
                        <a:rPr lang="nl-BE" sz="2400" b="1" i="1" smtClean="0">
                          <a:latin typeface="Cambria Math" panose="02040503050406030204" pitchFamily="18" charset="0"/>
                          <a:ea typeface="Cambria Math" panose="02040503050406030204" pitchFamily="18" charset="0"/>
                        </a:rPr>
                        <m:t>∈</m:t>
                      </m:r>
                      <m:sSup>
                        <m:sSupPr>
                          <m:ctrlPr>
                            <a:rPr lang="nl-BE" sz="2400" b="1" i="1" smtClean="0">
                              <a:latin typeface="Cambria Math" panose="02040503050406030204" pitchFamily="18" charset="0"/>
                              <a:ea typeface="Cambria Math" panose="02040503050406030204" pitchFamily="18" charset="0"/>
                            </a:rPr>
                          </m:ctrlPr>
                        </m:sSupPr>
                        <m:e>
                          <m:r>
                            <a:rPr lang="nl-BE" sz="2400" b="1" i="1" smtClean="0">
                              <a:latin typeface="Cambria Math" panose="02040503050406030204" pitchFamily="18" charset="0"/>
                              <a:ea typeface="Cambria Math" panose="02040503050406030204" pitchFamily="18" charset="0"/>
                            </a:rPr>
                            <m:t>ℝ</m:t>
                          </m:r>
                        </m:e>
                        <m:sup>
                          <m:r>
                            <a:rPr lang="nl-BE" sz="2400" b="1" i="1" smtClean="0">
                              <a:latin typeface="Cambria Math" panose="02040503050406030204" pitchFamily="18" charset="0"/>
                              <a:ea typeface="Cambria Math" panose="02040503050406030204" pitchFamily="18" charset="0"/>
                            </a:rPr>
                            <m:t>𝒏</m:t>
                          </m:r>
                          <m:r>
                            <a:rPr lang="nl-BE" sz="2400" b="1" i="1" smtClean="0">
                              <a:latin typeface="Cambria Math" panose="02040503050406030204" pitchFamily="18" charset="0"/>
                              <a:ea typeface="Cambria Math" panose="02040503050406030204" pitchFamily="18" charset="0"/>
                            </a:rPr>
                            <m:t> </m:t>
                          </m:r>
                          <m:r>
                            <a:rPr lang="nl-BE" sz="2400" b="1" i="1" smtClean="0">
                              <a:latin typeface="Cambria Math" panose="02040503050406030204" pitchFamily="18" charset="0"/>
                              <a:ea typeface="Cambria Math" panose="02040503050406030204" pitchFamily="18" charset="0"/>
                            </a:rPr>
                            <m:t>𝒙</m:t>
                          </m:r>
                          <m:r>
                            <a:rPr lang="nl-BE" sz="2400" b="1" i="1" smtClean="0">
                              <a:latin typeface="Cambria Math" panose="02040503050406030204" pitchFamily="18" charset="0"/>
                              <a:ea typeface="Cambria Math" panose="02040503050406030204" pitchFamily="18" charset="0"/>
                            </a:rPr>
                            <m:t> </m:t>
                          </m:r>
                          <m:r>
                            <a:rPr lang="nl-BE" sz="2400" b="1" i="1" smtClean="0">
                              <a:latin typeface="Cambria Math" panose="02040503050406030204" pitchFamily="18" charset="0"/>
                              <a:ea typeface="Cambria Math" panose="02040503050406030204" pitchFamily="18" charset="0"/>
                            </a:rPr>
                            <m:t>𝒏</m:t>
                          </m:r>
                        </m:sup>
                      </m:sSup>
                    </m:oMath>
                  </m:oMathPara>
                </a14:m>
                <a:endParaRPr lang="nl-BE" sz="2400" dirty="0"/>
              </a:p>
            </p:txBody>
          </p:sp>
        </mc:Choice>
        <mc:Fallback xmlns="">
          <p:sp>
            <p:nvSpPr>
              <p:cNvPr id="7" name="Tekstvak 6">
                <a:extLst>
                  <a:ext uri="{FF2B5EF4-FFF2-40B4-BE49-F238E27FC236}">
                    <a16:creationId xmlns:a16="http://schemas.microsoft.com/office/drawing/2014/main" id="{388E5D0D-A9E5-B9B9-0B30-3401B5F4572D}"/>
                  </a:ext>
                </a:extLst>
              </p:cNvPr>
              <p:cNvSpPr txBox="1">
                <a:spLocks noRot="1" noChangeAspect="1" noMove="1" noResize="1" noEditPoints="1" noAdjustHandles="1" noChangeArrowheads="1" noChangeShapeType="1" noTextEdit="1"/>
              </p:cNvSpPr>
              <p:nvPr/>
            </p:nvSpPr>
            <p:spPr>
              <a:xfrm>
                <a:off x="2513216" y="2761247"/>
                <a:ext cx="6097384" cy="461665"/>
              </a:xfrm>
              <a:prstGeom prst="rect">
                <a:avLst/>
              </a:prstGeom>
              <a:blipFill>
                <a:blip r:embed="rId4"/>
                <a:stretch>
                  <a:fillRect t="-5405" b="-18919"/>
                </a:stretch>
              </a:blipFill>
            </p:spPr>
            <p:txBody>
              <a:bodyPr/>
              <a:lstStyle/>
              <a:p>
                <a:r>
                  <a:rPr lang="nl-BE">
                    <a:noFill/>
                  </a:rPr>
                  <a:t> </a:t>
                </a:r>
              </a:p>
            </p:txBody>
          </p:sp>
        </mc:Fallback>
      </mc:AlternateContent>
      <p:sp>
        <p:nvSpPr>
          <p:cNvPr id="5" name="Tijdelijke aanduiding voor dianummer 4">
            <a:extLst>
              <a:ext uri="{FF2B5EF4-FFF2-40B4-BE49-F238E27FC236}">
                <a16:creationId xmlns:a16="http://schemas.microsoft.com/office/drawing/2014/main" id="{46CC731C-0210-5047-0044-E79AF4E9A463}"/>
              </a:ext>
            </a:extLst>
          </p:cNvPr>
          <p:cNvSpPr>
            <a:spLocks noGrp="1"/>
          </p:cNvSpPr>
          <p:nvPr>
            <p:ph type="sldNum" sz="quarter" idx="12"/>
          </p:nvPr>
        </p:nvSpPr>
        <p:spPr/>
        <p:txBody>
          <a:bodyPr/>
          <a:lstStyle/>
          <a:p>
            <a:fld id="{45E6605D-1E32-D542-B458-1FC57A046453}" type="slidenum">
              <a:rPr lang="nl-BE" smtClean="0"/>
              <a:t>5</a:t>
            </a:fld>
            <a:endParaRPr lang="nl-BE"/>
          </a:p>
        </p:txBody>
      </p:sp>
    </p:spTree>
    <p:extLst>
      <p:ext uri="{BB962C8B-B14F-4D97-AF65-F5344CB8AC3E}">
        <p14:creationId xmlns:p14="http://schemas.microsoft.com/office/powerpoint/2010/main" val="3359861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DF4F6-FB35-D34B-0BBB-B21B2D4E46B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37657D1-BC31-CB35-8B0F-7ABA9016010F}"/>
              </a:ext>
            </a:extLst>
          </p:cNvPr>
          <p:cNvSpPr>
            <a:spLocks noGrp="1"/>
          </p:cNvSpPr>
          <p:nvPr>
            <p:ph type="ctrTitle"/>
          </p:nvPr>
        </p:nvSpPr>
        <p:spPr>
          <a:xfrm>
            <a:off x="709317" y="198099"/>
            <a:ext cx="10900952" cy="838958"/>
          </a:xfrm>
        </p:spPr>
        <p:txBody>
          <a:bodyPr>
            <a:normAutofit fontScale="90000"/>
          </a:bodyPr>
          <a:lstStyle/>
          <a:p>
            <a:r>
              <a:rPr lang="nl-BE" b="1" dirty="0">
                <a:solidFill>
                  <a:srgbClr val="002060"/>
                </a:solidFill>
              </a:rPr>
              <a:t>Bayesian Optimization in a nutshell</a:t>
            </a:r>
          </a:p>
        </p:txBody>
      </p:sp>
      <mc:AlternateContent xmlns:mc="http://schemas.openxmlformats.org/markup-compatibility/2006" xmlns:a14="http://schemas.microsoft.com/office/drawing/2010/main">
        <mc:Choice Requires="a14">
          <p:sp>
            <p:nvSpPr>
              <p:cNvPr id="6" name="Tekstvak 5">
                <a:extLst>
                  <a:ext uri="{FF2B5EF4-FFF2-40B4-BE49-F238E27FC236}">
                    <a16:creationId xmlns:a16="http://schemas.microsoft.com/office/drawing/2014/main" id="{CF5B7990-0F48-C8FB-D0FE-9E5EF1F9F482}"/>
                  </a:ext>
                </a:extLst>
              </p:cNvPr>
              <p:cNvSpPr txBox="1"/>
              <p:nvPr/>
            </p:nvSpPr>
            <p:spPr>
              <a:xfrm>
                <a:off x="971258" y="2318636"/>
                <a:ext cx="10561983" cy="830997"/>
              </a:xfrm>
              <a:prstGeom prst="rect">
                <a:avLst/>
              </a:prstGeom>
              <a:noFill/>
            </p:spPr>
            <p:txBody>
              <a:bodyPr wrap="square" rtlCol="0">
                <a:spAutoFit/>
              </a:bodyPr>
              <a:lstStyle/>
              <a:p>
                <a:r>
                  <a:rPr lang="nl-BE" sz="2400" dirty="0"/>
                  <a:t>Instead of finding the best </a:t>
                </a:r>
                <a:r>
                  <a:rPr lang="nl-BE" sz="2400" b="1" dirty="0"/>
                  <a:t>x</a:t>
                </a:r>
                <a:r>
                  <a:rPr lang="nl-BE" sz="2400" dirty="0"/>
                  <a:t> given </a:t>
                </a:r>
                <a14:m>
                  <m:oMath xmlns:m="http://schemas.openxmlformats.org/officeDocument/2006/math">
                    <m:r>
                      <a:rPr lang="nl-BE" sz="2400" b="0" i="1" smtClean="0">
                        <a:latin typeface="Cambria Math" panose="02040503050406030204" pitchFamily="18" charset="0"/>
                      </a:rPr>
                      <m:t>𝑓</m:t>
                    </m:r>
                  </m:oMath>
                </a14:m>
                <a:r>
                  <a:rPr lang="nl-BE" sz="2400" dirty="0"/>
                  <a:t>, we try to figure out the best model of </a:t>
                </a:r>
                <a14:m>
                  <m:oMath xmlns:m="http://schemas.openxmlformats.org/officeDocument/2006/math">
                    <m:r>
                      <a:rPr lang="nl-BE" sz="2400" b="0" i="1" smtClean="0">
                        <a:latin typeface="Cambria Math" panose="02040503050406030204" pitchFamily="18" charset="0"/>
                      </a:rPr>
                      <m:t>𝑓</m:t>
                    </m:r>
                  </m:oMath>
                </a14:m>
                <a:r>
                  <a:rPr lang="nl-BE" sz="2400" dirty="0"/>
                  <a:t> given its evaluation at the previously observed points {</a:t>
                </a:r>
                <a:r>
                  <a:rPr lang="nl-BE" sz="2400" b="1" dirty="0"/>
                  <a:t>x</a:t>
                </a:r>
                <a:r>
                  <a:rPr lang="nl-BE" sz="2400" baseline="-25000" dirty="0"/>
                  <a:t>1</a:t>
                </a:r>
                <a:r>
                  <a:rPr lang="nl-BE" sz="2400" dirty="0"/>
                  <a:t>,</a:t>
                </a:r>
                <a:r>
                  <a:rPr lang="nl-BE" sz="2400" b="1" dirty="0"/>
                  <a:t> x</a:t>
                </a:r>
                <a:r>
                  <a:rPr lang="nl-BE" sz="2400" baseline="-25000" dirty="0"/>
                  <a:t>2</a:t>
                </a:r>
                <a:r>
                  <a:rPr lang="nl-BE" sz="2400" dirty="0"/>
                  <a:t>, …, </a:t>
                </a:r>
                <a:r>
                  <a:rPr lang="nl-BE" sz="2400" b="1" dirty="0"/>
                  <a:t>x</a:t>
                </a:r>
                <a:r>
                  <a:rPr lang="nl-BE" sz="2400" baseline="-25000" dirty="0"/>
                  <a:t>n</a:t>
                </a:r>
                <a:r>
                  <a:rPr lang="nl-BE" sz="2400" dirty="0"/>
                  <a:t>}</a:t>
                </a:r>
              </a:p>
            </p:txBody>
          </p:sp>
        </mc:Choice>
        <mc:Fallback xmlns="">
          <p:sp>
            <p:nvSpPr>
              <p:cNvPr id="6" name="Tekstvak 5">
                <a:extLst>
                  <a:ext uri="{FF2B5EF4-FFF2-40B4-BE49-F238E27FC236}">
                    <a16:creationId xmlns:a16="http://schemas.microsoft.com/office/drawing/2014/main" id="{CF5B7990-0F48-C8FB-D0FE-9E5EF1F9F482}"/>
                  </a:ext>
                </a:extLst>
              </p:cNvPr>
              <p:cNvSpPr txBox="1">
                <a:spLocks noRot="1" noChangeAspect="1" noMove="1" noResize="1" noEditPoints="1" noAdjustHandles="1" noChangeArrowheads="1" noChangeShapeType="1" noTextEdit="1"/>
              </p:cNvSpPr>
              <p:nvPr/>
            </p:nvSpPr>
            <p:spPr>
              <a:xfrm>
                <a:off x="971258" y="2318636"/>
                <a:ext cx="10561983" cy="830997"/>
              </a:xfrm>
              <a:prstGeom prst="rect">
                <a:avLst/>
              </a:prstGeom>
              <a:blipFill>
                <a:blip r:embed="rId3"/>
                <a:stretch>
                  <a:fillRect l="-840" t="-5970" b="-14925"/>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7" name="Tekstvak 6">
                <a:extLst>
                  <a:ext uri="{FF2B5EF4-FFF2-40B4-BE49-F238E27FC236}">
                    <a16:creationId xmlns:a16="http://schemas.microsoft.com/office/drawing/2014/main" id="{E5361A81-1F0C-8E22-6026-9885FAD20242}"/>
                  </a:ext>
                </a:extLst>
              </p:cNvPr>
              <p:cNvSpPr txBox="1"/>
              <p:nvPr/>
            </p:nvSpPr>
            <p:spPr>
              <a:xfrm>
                <a:off x="971261" y="1255328"/>
                <a:ext cx="10561983" cy="830997"/>
              </a:xfrm>
              <a:prstGeom prst="rect">
                <a:avLst/>
              </a:prstGeom>
              <a:noFill/>
            </p:spPr>
            <p:txBody>
              <a:bodyPr wrap="square" rtlCol="0">
                <a:spAutoFit/>
              </a:bodyPr>
              <a:lstStyle/>
              <a:p>
                <a:r>
                  <a:rPr lang="nl-BE" sz="2400" dirty="0"/>
                  <a:t>In BO, we assume we can evaluate the function </a:t>
                </a:r>
                <a14:m>
                  <m:oMath xmlns:m="http://schemas.openxmlformats.org/officeDocument/2006/math">
                    <m:r>
                      <a:rPr lang="nl-BE" sz="2400" b="0" i="1" smtClean="0">
                        <a:latin typeface="Cambria Math" panose="02040503050406030204" pitchFamily="18" charset="0"/>
                      </a:rPr>
                      <m:t>𝑓</m:t>
                    </m:r>
                  </m:oMath>
                </a14:m>
                <a:r>
                  <a:rPr lang="nl-BE" sz="2400" dirty="0"/>
                  <a:t> (NOT its gradient or Hessian) at any point </a:t>
                </a:r>
                <a:r>
                  <a:rPr lang="nl-BE" sz="2400" b="1" dirty="0"/>
                  <a:t>x</a:t>
                </a:r>
                <a:r>
                  <a:rPr lang="nl-BE" sz="2400" dirty="0"/>
                  <a:t>, i.e., given </a:t>
                </a:r>
                <a:r>
                  <a:rPr lang="nl-BE" sz="2400" b="1" dirty="0"/>
                  <a:t>x</a:t>
                </a:r>
                <a:r>
                  <a:rPr lang="nl-BE" sz="2400" dirty="0"/>
                  <a:t>, we can obtain </a:t>
                </a:r>
                <a14:m>
                  <m:oMath xmlns:m="http://schemas.openxmlformats.org/officeDocument/2006/math">
                    <m:r>
                      <a:rPr lang="nl-BE" sz="2400" b="0" i="1" smtClean="0">
                        <a:latin typeface="Cambria Math" panose="02040503050406030204" pitchFamily="18" charset="0"/>
                      </a:rPr>
                      <m:t>𝑓</m:t>
                    </m:r>
                  </m:oMath>
                </a14:m>
                <a:r>
                  <a:rPr lang="nl-BE" sz="2400" dirty="0"/>
                  <a:t>(</a:t>
                </a:r>
                <a:r>
                  <a:rPr lang="nl-BE" sz="2400" b="1" dirty="0"/>
                  <a:t>x</a:t>
                </a:r>
                <a:r>
                  <a:rPr lang="nl-BE" sz="2400" dirty="0"/>
                  <a:t>)</a:t>
                </a:r>
              </a:p>
            </p:txBody>
          </p:sp>
        </mc:Choice>
        <mc:Fallback xmlns="">
          <p:sp>
            <p:nvSpPr>
              <p:cNvPr id="7" name="Tekstvak 6">
                <a:extLst>
                  <a:ext uri="{FF2B5EF4-FFF2-40B4-BE49-F238E27FC236}">
                    <a16:creationId xmlns:a16="http://schemas.microsoft.com/office/drawing/2014/main" id="{E5361A81-1F0C-8E22-6026-9885FAD20242}"/>
                  </a:ext>
                </a:extLst>
              </p:cNvPr>
              <p:cNvSpPr txBox="1">
                <a:spLocks noRot="1" noChangeAspect="1" noMove="1" noResize="1" noEditPoints="1" noAdjustHandles="1" noChangeArrowheads="1" noChangeShapeType="1" noTextEdit="1"/>
              </p:cNvSpPr>
              <p:nvPr/>
            </p:nvSpPr>
            <p:spPr>
              <a:xfrm>
                <a:off x="971261" y="1255328"/>
                <a:ext cx="10561983" cy="830997"/>
              </a:xfrm>
              <a:prstGeom prst="rect">
                <a:avLst/>
              </a:prstGeom>
              <a:blipFill>
                <a:blip r:embed="rId4"/>
                <a:stretch>
                  <a:fillRect l="-840" t="-4478" b="-16418"/>
                </a:stretch>
              </a:blipFill>
            </p:spPr>
            <p:txBody>
              <a:bodyPr/>
              <a:lstStyle/>
              <a:p>
                <a:r>
                  <a:rPr lang="nl-BE">
                    <a:noFill/>
                  </a:rPr>
                  <a:t> </a:t>
                </a:r>
              </a:p>
            </p:txBody>
          </p:sp>
        </mc:Fallback>
      </mc:AlternateContent>
      <p:grpSp>
        <p:nvGrpSpPr>
          <p:cNvPr id="13" name="Groep 12">
            <a:extLst>
              <a:ext uri="{FF2B5EF4-FFF2-40B4-BE49-F238E27FC236}">
                <a16:creationId xmlns:a16="http://schemas.microsoft.com/office/drawing/2014/main" id="{BF335260-A521-7F0F-E511-289D15F45CF7}"/>
              </a:ext>
            </a:extLst>
          </p:cNvPr>
          <p:cNvGrpSpPr/>
          <p:nvPr/>
        </p:nvGrpSpPr>
        <p:grpSpPr>
          <a:xfrm>
            <a:off x="3392831" y="3264428"/>
            <a:ext cx="5406337" cy="3306489"/>
            <a:chOff x="3291473" y="3198167"/>
            <a:chExt cx="5406337" cy="3306489"/>
          </a:xfrm>
        </p:grpSpPr>
        <p:cxnSp>
          <p:nvCxnSpPr>
            <p:cNvPr id="4" name="Rechte verbindingslijn met pijl 3">
              <a:extLst>
                <a:ext uri="{FF2B5EF4-FFF2-40B4-BE49-F238E27FC236}">
                  <a16:creationId xmlns:a16="http://schemas.microsoft.com/office/drawing/2014/main" id="{2B5D3A0F-FEE2-2E33-1CB9-D8074B10DE43}"/>
                </a:ext>
              </a:extLst>
            </p:cNvPr>
            <p:cNvCxnSpPr/>
            <p:nvPr/>
          </p:nvCxnSpPr>
          <p:spPr>
            <a:xfrm>
              <a:off x="3520644" y="6042991"/>
              <a:ext cx="507558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 name="Rechte verbindingslijn met pijl 4">
              <a:extLst>
                <a:ext uri="{FF2B5EF4-FFF2-40B4-BE49-F238E27FC236}">
                  <a16:creationId xmlns:a16="http://schemas.microsoft.com/office/drawing/2014/main" id="{C6463716-88EE-90B9-0186-79C3DB17FAED}"/>
                </a:ext>
              </a:extLst>
            </p:cNvPr>
            <p:cNvCxnSpPr>
              <a:cxnSpLocks/>
            </p:cNvCxnSpPr>
            <p:nvPr/>
          </p:nvCxnSpPr>
          <p:spPr>
            <a:xfrm flipV="1">
              <a:off x="3673044" y="3313043"/>
              <a:ext cx="0" cy="288234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 name="Tekstvak 10">
              <a:extLst>
                <a:ext uri="{FF2B5EF4-FFF2-40B4-BE49-F238E27FC236}">
                  <a16:creationId xmlns:a16="http://schemas.microsoft.com/office/drawing/2014/main" id="{48A8605F-B9F8-E8FB-FCE6-7E3F8AFAE8C3}"/>
                </a:ext>
              </a:extLst>
            </p:cNvPr>
            <p:cNvSpPr txBox="1"/>
            <p:nvPr/>
          </p:nvSpPr>
          <p:spPr>
            <a:xfrm>
              <a:off x="3291473" y="3198167"/>
              <a:ext cx="324128" cy="461665"/>
            </a:xfrm>
            <a:prstGeom prst="rect">
              <a:avLst/>
            </a:prstGeom>
            <a:noFill/>
          </p:spPr>
          <p:txBody>
            <a:bodyPr wrap="none" rtlCol="0">
              <a:spAutoFit/>
            </a:bodyPr>
            <a:lstStyle/>
            <a:p>
              <a:r>
                <a:rPr lang="nl-BE" sz="2400" dirty="0"/>
                <a:t>y</a:t>
              </a:r>
            </a:p>
          </p:txBody>
        </p:sp>
        <p:sp>
          <p:nvSpPr>
            <p:cNvPr id="12" name="Tekstvak 11">
              <a:extLst>
                <a:ext uri="{FF2B5EF4-FFF2-40B4-BE49-F238E27FC236}">
                  <a16:creationId xmlns:a16="http://schemas.microsoft.com/office/drawing/2014/main" id="{9F4FFD62-AA9F-4FCB-CCD5-9954263134F9}"/>
                </a:ext>
              </a:extLst>
            </p:cNvPr>
            <p:cNvSpPr txBox="1"/>
            <p:nvPr/>
          </p:nvSpPr>
          <p:spPr>
            <a:xfrm>
              <a:off x="8373682" y="6042991"/>
              <a:ext cx="324128" cy="461665"/>
            </a:xfrm>
            <a:prstGeom prst="rect">
              <a:avLst/>
            </a:prstGeom>
            <a:noFill/>
          </p:spPr>
          <p:txBody>
            <a:bodyPr wrap="none" rtlCol="0">
              <a:spAutoFit/>
            </a:bodyPr>
            <a:lstStyle/>
            <a:p>
              <a:r>
                <a:rPr lang="nl-BE" sz="2400" dirty="0"/>
                <a:t>x</a:t>
              </a:r>
            </a:p>
          </p:txBody>
        </p:sp>
      </p:grpSp>
      <p:grpSp>
        <p:nvGrpSpPr>
          <p:cNvPr id="23" name="Groep 22">
            <a:extLst>
              <a:ext uri="{FF2B5EF4-FFF2-40B4-BE49-F238E27FC236}">
                <a16:creationId xmlns:a16="http://schemas.microsoft.com/office/drawing/2014/main" id="{835A856E-6A69-0BF7-2ED4-9F5A4D0C73EB}"/>
              </a:ext>
            </a:extLst>
          </p:cNvPr>
          <p:cNvGrpSpPr/>
          <p:nvPr/>
        </p:nvGrpSpPr>
        <p:grpSpPr>
          <a:xfrm>
            <a:off x="4638261" y="3982636"/>
            <a:ext cx="3625565" cy="1396732"/>
            <a:chOff x="4638261" y="3982636"/>
            <a:chExt cx="3625565" cy="1396732"/>
          </a:xfrm>
        </p:grpSpPr>
        <p:sp>
          <p:nvSpPr>
            <p:cNvPr id="14" name="Ovaal 13">
              <a:extLst>
                <a:ext uri="{FF2B5EF4-FFF2-40B4-BE49-F238E27FC236}">
                  <a16:creationId xmlns:a16="http://schemas.microsoft.com/office/drawing/2014/main" id="{7F560CD1-6F0C-FBE7-B591-5206B33A8224}"/>
                </a:ext>
              </a:extLst>
            </p:cNvPr>
            <p:cNvSpPr/>
            <p:nvPr/>
          </p:nvSpPr>
          <p:spPr>
            <a:xfrm>
              <a:off x="4638261" y="4469484"/>
              <a:ext cx="180000" cy="18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5" name="Ovaal 14">
              <a:extLst>
                <a:ext uri="{FF2B5EF4-FFF2-40B4-BE49-F238E27FC236}">
                  <a16:creationId xmlns:a16="http://schemas.microsoft.com/office/drawing/2014/main" id="{6C37559D-4AB0-CFDE-BAA2-838762478904}"/>
                </a:ext>
              </a:extLst>
            </p:cNvPr>
            <p:cNvSpPr/>
            <p:nvPr/>
          </p:nvSpPr>
          <p:spPr>
            <a:xfrm>
              <a:off x="6096000" y="3982636"/>
              <a:ext cx="180000" cy="18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6" name="Ovaal 15">
              <a:extLst>
                <a:ext uri="{FF2B5EF4-FFF2-40B4-BE49-F238E27FC236}">
                  <a16:creationId xmlns:a16="http://schemas.microsoft.com/office/drawing/2014/main" id="{1913021E-DE02-0E5A-F3E7-54C15603426C}"/>
                </a:ext>
              </a:extLst>
            </p:cNvPr>
            <p:cNvSpPr/>
            <p:nvPr/>
          </p:nvSpPr>
          <p:spPr>
            <a:xfrm>
              <a:off x="7215809" y="5199368"/>
              <a:ext cx="180000" cy="18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7" name="Ovaal 16">
              <a:extLst>
                <a:ext uri="{FF2B5EF4-FFF2-40B4-BE49-F238E27FC236}">
                  <a16:creationId xmlns:a16="http://schemas.microsoft.com/office/drawing/2014/main" id="{4411FEB9-B4D8-EC81-BB03-1B09DCD9A3E5}"/>
                </a:ext>
              </a:extLst>
            </p:cNvPr>
            <p:cNvSpPr/>
            <p:nvPr/>
          </p:nvSpPr>
          <p:spPr>
            <a:xfrm>
              <a:off x="8083826" y="4567861"/>
              <a:ext cx="180000" cy="18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grpSp>
      <p:sp>
        <p:nvSpPr>
          <p:cNvPr id="22" name="Vrije vorm 21">
            <a:extLst>
              <a:ext uri="{FF2B5EF4-FFF2-40B4-BE49-F238E27FC236}">
                <a16:creationId xmlns:a16="http://schemas.microsoft.com/office/drawing/2014/main" id="{7790AF5A-6340-7025-421D-E0408AD723E7}"/>
              </a:ext>
            </a:extLst>
          </p:cNvPr>
          <p:cNvSpPr/>
          <p:nvPr/>
        </p:nvSpPr>
        <p:spPr>
          <a:xfrm>
            <a:off x="3831846" y="4032941"/>
            <a:ext cx="5208105" cy="1272294"/>
          </a:xfrm>
          <a:custGeom>
            <a:avLst/>
            <a:gdLst>
              <a:gd name="connsiteX0" fmla="*/ 0 w 5208105"/>
              <a:gd name="connsiteY0" fmla="*/ 135065 h 1272294"/>
              <a:gd name="connsiteX1" fmla="*/ 927652 w 5208105"/>
              <a:gd name="connsiteY1" fmla="*/ 532630 h 1272294"/>
              <a:gd name="connsiteX2" fmla="*/ 2345635 w 5208105"/>
              <a:gd name="connsiteY2" fmla="*/ 15795 h 1272294"/>
              <a:gd name="connsiteX3" fmla="*/ 3458818 w 5208105"/>
              <a:gd name="connsiteY3" fmla="*/ 1261500 h 1272294"/>
              <a:gd name="connsiteX4" fmla="*/ 4320209 w 5208105"/>
              <a:gd name="connsiteY4" fmla="*/ 612143 h 1272294"/>
              <a:gd name="connsiteX5" fmla="*/ 5208105 w 5208105"/>
              <a:gd name="connsiteY5" fmla="*/ 466369 h 1272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08105" h="1272294">
                <a:moveTo>
                  <a:pt x="0" y="135065"/>
                </a:moveTo>
                <a:cubicBezTo>
                  <a:pt x="268356" y="343786"/>
                  <a:pt x="536713" y="552508"/>
                  <a:pt x="927652" y="532630"/>
                </a:cubicBezTo>
                <a:cubicBezTo>
                  <a:pt x="1318591" y="512752"/>
                  <a:pt x="1923774" y="-105683"/>
                  <a:pt x="2345635" y="15795"/>
                </a:cubicBezTo>
                <a:cubicBezTo>
                  <a:pt x="2767496" y="137273"/>
                  <a:pt x="3129722" y="1162109"/>
                  <a:pt x="3458818" y="1261500"/>
                </a:cubicBezTo>
                <a:cubicBezTo>
                  <a:pt x="3787914" y="1360891"/>
                  <a:pt x="4028661" y="744665"/>
                  <a:pt x="4320209" y="612143"/>
                </a:cubicBezTo>
                <a:cubicBezTo>
                  <a:pt x="4611757" y="479621"/>
                  <a:pt x="4967357" y="539256"/>
                  <a:pt x="5208105" y="466369"/>
                </a:cubicBezTo>
              </a:path>
            </a:pathLst>
          </a:cu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6" name="Vrije vorm 25">
            <a:extLst>
              <a:ext uri="{FF2B5EF4-FFF2-40B4-BE49-F238E27FC236}">
                <a16:creationId xmlns:a16="http://schemas.microsoft.com/office/drawing/2014/main" id="{5FD720A4-C8E5-DE9C-13FC-112B02787B8A}"/>
              </a:ext>
            </a:extLst>
          </p:cNvPr>
          <p:cNvSpPr/>
          <p:nvPr/>
        </p:nvSpPr>
        <p:spPr>
          <a:xfrm>
            <a:off x="4002157" y="3644348"/>
            <a:ext cx="5141843" cy="1700345"/>
          </a:xfrm>
          <a:custGeom>
            <a:avLst/>
            <a:gdLst>
              <a:gd name="connsiteX0" fmla="*/ 0 w 5141843"/>
              <a:gd name="connsiteY0" fmla="*/ 0 h 1700345"/>
              <a:gd name="connsiteX1" fmla="*/ 715617 w 5141843"/>
              <a:gd name="connsiteY1" fmla="*/ 914400 h 1700345"/>
              <a:gd name="connsiteX2" fmla="*/ 1444486 w 5141843"/>
              <a:gd name="connsiteY2" fmla="*/ 1510748 h 1700345"/>
              <a:gd name="connsiteX3" fmla="*/ 2173356 w 5141843"/>
              <a:gd name="connsiteY3" fmla="*/ 410817 h 1700345"/>
              <a:gd name="connsiteX4" fmla="*/ 2570921 w 5141843"/>
              <a:gd name="connsiteY4" fmla="*/ 92765 h 1700345"/>
              <a:gd name="connsiteX5" fmla="*/ 3286539 w 5141843"/>
              <a:gd name="connsiteY5" fmla="*/ 1669774 h 1700345"/>
              <a:gd name="connsiteX6" fmla="*/ 4174434 w 5141843"/>
              <a:gd name="connsiteY6" fmla="*/ 1060174 h 1700345"/>
              <a:gd name="connsiteX7" fmla="*/ 4863547 w 5141843"/>
              <a:gd name="connsiteY7" fmla="*/ 145774 h 1700345"/>
              <a:gd name="connsiteX8" fmla="*/ 5141843 w 5141843"/>
              <a:gd name="connsiteY8" fmla="*/ 185530 h 1700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1843" h="1700345">
                <a:moveTo>
                  <a:pt x="0" y="0"/>
                </a:moveTo>
                <a:cubicBezTo>
                  <a:pt x="237435" y="331304"/>
                  <a:pt x="474870" y="662609"/>
                  <a:pt x="715617" y="914400"/>
                </a:cubicBezTo>
                <a:cubicBezTo>
                  <a:pt x="956364" y="1166191"/>
                  <a:pt x="1201530" y="1594679"/>
                  <a:pt x="1444486" y="1510748"/>
                </a:cubicBezTo>
                <a:cubicBezTo>
                  <a:pt x="1687443" y="1426818"/>
                  <a:pt x="1985617" y="647147"/>
                  <a:pt x="2173356" y="410817"/>
                </a:cubicBezTo>
                <a:cubicBezTo>
                  <a:pt x="2361095" y="174487"/>
                  <a:pt x="2385390" y="-117061"/>
                  <a:pt x="2570921" y="92765"/>
                </a:cubicBezTo>
                <a:cubicBezTo>
                  <a:pt x="2756452" y="302591"/>
                  <a:pt x="3019287" y="1508539"/>
                  <a:pt x="3286539" y="1669774"/>
                </a:cubicBezTo>
                <a:cubicBezTo>
                  <a:pt x="3553791" y="1831009"/>
                  <a:pt x="3911599" y="1314174"/>
                  <a:pt x="4174434" y="1060174"/>
                </a:cubicBezTo>
                <a:cubicBezTo>
                  <a:pt x="4437269" y="806174"/>
                  <a:pt x="4702312" y="291548"/>
                  <a:pt x="4863547" y="145774"/>
                </a:cubicBezTo>
                <a:cubicBezTo>
                  <a:pt x="5024782" y="0"/>
                  <a:pt x="5141843" y="185530"/>
                  <a:pt x="5141843" y="185530"/>
                </a:cubicBezTo>
              </a:path>
            </a:pathLst>
          </a:custGeom>
          <a:ln w="38100"/>
        </p:spPr>
        <p:style>
          <a:lnRef idx="1">
            <a:schemeClr val="accent5"/>
          </a:lnRef>
          <a:fillRef idx="0">
            <a:schemeClr val="accent5"/>
          </a:fillRef>
          <a:effectRef idx="0">
            <a:schemeClr val="accent5"/>
          </a:effectRef>
          <a:fontRef idx="minor">
            <a:schemeClr val="tx1"/>
          </a:fontRef>
        </p:style>
        <p:txBody>
          <a:bodyPr rtlCol="0" anchor="ctr"/>
          <a:lstStyle/>
          <a:p>
            <a:pPr algn="ctr"/>
            <a:endParaRPr lang="nl-BE"/>
          </a:p>
        </p:txBody>
      </p:sp>
      <p:sp>
        <p:nvSpPr>
          <p:cNvPr id="27" name="Vrije vorm 26">
            <a:extLst>
              <a:ext uri="{FF2B5EF4-FFF2-40B4-BE49-F238E27FC236}">
                <a16:creationId xmlns:a16="http://schemas.microsoft.com/office/drawing/2014/main" id="{13890CFB-6C9F-3842-B9A3-813DFEB1C13F}"/>
              </a:ext>
            </a:extLst>
          </p:cNvPr>
          <p:cNvSpPr/>
          <p:nvPr/>
        </p:nvSpPr>
        <p:spPr>
          <a:xfrm>
            <a:off x="3909391" y="3497029"/>
            <a:ext cx="5221357" cy="2225893"/>
          </a:xfrm>
          <a:custGeom>
            <a:avLst/>
            <a:gdLst>
              <a:gd name="connsiteX0" fmla="*/ 0 w 5221357"/>
              <a:gd name="connsiteY0" fmla="*/ 1883354 h 2225893"/>
              <a:gd name="connsiteX1" fmla="*/ 834887 w 5221357"/>
              <a:gd name="connsiteY1" fmla="*/ 1048467 h 2225893"/>
              <a:gd name="connsiteX2" fmla="*/ 1457739 w 5221357"/>
              <a:gd name="connsiteY2" fmla="*/ 14797 h 2225893"/>
              <a:gd name="connsiteX3" fmla="*/ 2279374 w 5221357"/>
              <a:gd name="connsiteY3" fmla="*/ 558136 h 2225893"/>
              <a:gd name="connsiteX4" fmla="*/ 2862470 w 5221357"/>
              <a:gd name="connsiteY4" fmla="*/ 2161649 h 2225893"/>
              <a:gd name="connsiteX5" fmla="*/ 3392557 w 5221357"/>
              <a:gd name="connsiteY5" fmla="*/ 1777336 h 2225893"/>
              <a:gd name="connsiteX6" fmla="*/ 3843131 w 5221357"/>
              <a:gd name="connsiteY6" fmla="*/ 558136 h 2225893"/>
              <a:gd name="connsiteX7" fmla="*/ 4267200 w 5221357"/>
              <a:gd name="connsiteY7" fmla="*/ 1141232 h 2225893"/>
              <a:gd name="connsiteX8" fmla="*/ 4929809 w 5221357"/>
              <a:gd name="connsiteY8" fmla="*/ 2095388 h 2225893"/>
              <a:gd name="connsiteX9" fmla="*/ 5221357 w 5221357"/>
              <a:gd name="connsiteY9" fmla="*/ 1896606 h 2225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21357" h="2225893">
                <a:moveTo>
                  <a:pt x="0" y="1883354"/>
                </a:moveTo>
                <a:cubicBezTo>
                  <a:pt x="295965" y="1621623"/>
                  <a:pt x="591931" y="1359893"/>
                  <a:pt x="834887" y="1048467"/>
                </a:cubicBezTo>
                <a:cubicBezTo>
                  <a:pt x="1077844" y="737041"/>
                  <a:pt x="1216991" y="96519"/>
                  <a:pt x="1457739" y="14797"/>
                </a:cubicBezTo>
                <a:cubicBezTo>
                  <a:pt x="1698487" y="-66925"/>
                  <a:pt x="2045252" y="200327"/>
                  <a:pt x="2279374" y="558136"/>
                </a:cubicBezTo>
                <a:cubicBezTo>
                  <a:pt x="2513496" y="915945"/>
                  <a:pt x="2676940" y="1958449"/>
                  <a:pt x="2862470" y="2161649"/>
                </a:cubicBezTo>
                <a:cubicBezTo>
                  <a:pt x="3048001" y="2364849"/>
                  <a:pt x="3229114" y="2044588"/>
                  <a:pt x="3392557" y="1777336"/>
                </a:cubicBezTo>
                <a:cubicBezTo>
                  <a:pt x="3556000" y="1510084"/>
                  <a:pt x="3697357" y="664153"/>
                  <a:pt x="3843131" y="558136"/>
                </a:cubicBezTo>
                <a:cubicBezTo>
                  <a:pt x="3988905" y="452119"/>
                  <a:pt x="4086087" y="885023"/>
                  <a:pt x="4267200" y="1141232"/>
                </a:cubicBezTo>
                <a:cubicBezTo>
                  <a:pt x="4448313" y="1397441"/>
                  <a:pt x="4770783" y="1969492"/>
                  <a:pt x="4929809" y="2095388"/>
                </a:cubicBezTo>
                <a:cubicBezTo>
                  <a:pt x="5088835" y="2221284"/>
                  <a:pt x="5155096" y="2058945"/>
                  <a:pt x="5221357" y="1896606"/>
                </a:cubicBezTo>
              </a:path>
            </a:pathLst>
          </a:custGeom>
          <a:ln w="38100"/>
        </p:spPr>
        <p:style>
          <a:lnRef idx="1">
            <a:schemeClr val="accent6"/>
          </a:lnRef>
          <a:fillRef idx="0">
            <a:schemeClr val="accent6"/>
          </a:fillRef>
          <a:effectRef idx="0">
            <a:schemeClr val="accent6"/>
          </a:effectRef>
          <a:fontRef idx="minor">
            <a:schemeClr val="tx1"/>
          </a:fontRef>
        </p:style>
        <p:txBody>
          <a:bodyPr rtlCol="0" anchor="ctr"/>
          <a:lstStyle/>
          <a:p>
            <a:pPr algn="ctr"/>
            <a:endParaRPr lang="nl-BE"/>
          </a:p>
        </p:txBody>
      </p:sp>
      <p:sp>
        <p:nvSpPr>
          <p:cNvPr id="3" name="Tijdelijke aanduiding voor dianummer 2">
            <a:extLst>
              <a:ext uri="{FF2B5EF4-FFF2-40B4-BE49-F238E27FC236}">
                <a16:creationId xmlns:a16="http://schemas.microsoft.com/office/drawing/2014/main" id="{939DC6B9-495D-6FAF-45AF-854E536DF4ED}"/>
              </a:ext>
            </a:extLst>
          </p:cNvPr>
          <p:cNvSpPr>
            <a:spLocks noGrp="1"/>
          </p:cNvSpPr>
          <p:nvPr>
            <p:ph type="sldNum" sz="quarter" idx="12"/>
          </p:nvPr>
        </p:nvSpPr>
        <p:spPr/>
        <p:txBody>
          <a:bodyPr/>
          <a:lstStyle/>
          <a:p>
            <a:fld id="{45E6605D-1E32-D542-B458-1FC57A046453}" type="slidenum">
              <a:rPr lang="nl-BE" smtClean="0"/>
              <a:t>6</a:t>
            </a:fld>
            <a:endParaRPr lang="nl-BE"/>
          </a:p>
        </p:txBody>
      </p:sp>
    </p:spTree>
    <p:extLst>
      <p:ext uri="{BB962C8B-B14F-4D97-AF65-F5344CB8AC3E}">
        <p14:creationId xmlns:p14="http://schemas.microsoft.com/office/powerpoint/2010/main" val="1049299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22" grpId="0" animBg="1"/>
      <p:bldP spid="26" grpId="0" animBg="1"/>
      <p:bldP spid="2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ECF84-176D-D81A-223B-F3465A84C39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0520340-DEBF-21AB-0105-6425818BF0D4}"/>
              </a:ext>
            </a:extLst>
          </p:cNvPr>
          <p:cNvSpPr>
            <a:spLocks noGrp="1"/>
          </p:cNvSpPr>
          <p:nvPr>
            <p:ph type="ctrTitle"/>
          </p:nvPr>
        </p:nvSpPr>
        <p:spPr>
          <a:xfrm>
            <a:off x="629587" y="184059"/>
            <a:ext cx="11047751" cy="838958"/>
          </a:xfrm>
        </p:spPr>
        <p:txBody>
          <a:bodyPr>
            <a:normAutofit fontScale="90000"/>
          </a:bodyPr>
          <a:lstStyle/>
          <a:p>
            <a:r>
              <a:rPr lang="nl-BE" b="1" dirty="0">
                <a:solidFill>
                  <a:srgbClr val="002060"/>
                </a:solidFill>
              </a:rPr>
              <a:t>Bayesian Optimization in a nutshell</a:t>
            </a:r>
          </a:p>
        </p:txBody>
      </p:sp>
      <mc:AlternateContent xmlns:mc="http://schemas.openxmlformats.org/markup-compatibility/2006" xmlns:a14="http://schemas.microsoft.com/office/drawing/2010/main">
        <mc:Choice Requires="a14">
          <p:sp>
            <p:nvSpPr>
              <p:cNvPr id="6" name="Tekstvak 5">
                <a:extLst>
                  <a:ext uri="{FF2B5EF4-FFF2-40B4-BE49-F238E27FC236}">
                    <a16:creationId xmlns:a16="http://schemas.microsoft.com/office/drawing/2014/main" id="{EA3AAD2E-8861-C175-24DD-1A82913693B5}"/>
                  </a:ext>
                </a:extLst>
              </p:cNvPr>
              <p:cNvSpPr txBox="1"/>
              <p:nvPr/>
            </p:nvSpPr>
            <p:spPr>
              <a:xfrm>
                <a:off x="971258" y="2318636"/>
                <a:ext cx="10561983" cy="830997"/>
              </a:xfrm>
              <a:prstGeom prst="rect">
                <a:avLst/>
              </a:prstGeom>
              <a:noFill/>
            </p:spPr>
            <p:txBody>
              <a:bodyPr wrap="square" rtlCol="0">
                <a:spAutoFit/>
              </a:bodyPr>
              <a:lstStyle/>
              <a:p>
                <a:r>
                  <a:rPr lang="nl-BE" sz="2400" dirty="0"/>
                  <a:t>Instead of finding the best </a:t>
                </a:r>
                <a:r>
                  <a:rPr lang="nl-BE" sz="2400" b="1" dirty="0"/>
                  <a:t>x</a:t>
                </a:r>
                <a:r>
                  <a:rPr lang="nl-BE" sz="2400" dirty="0"/>
                  <a:t> given </a:t>
                </a:r>
                <a14:m>
                  <m:oMath xmlns:m="http://schemas.openxmlformats.org/officeDocument/2006/math">
                    <m:r>
                      <a:rPr lang="nl-BE" sz="2400" b="0" i="1" smtClean="0">
                        <a:latin typeface="Cambria Math" panose="02040503050406030204" pitchFamily="18" charset="0"/>
                      </a:rPr>
                      <m:t>𝑓</m:t>
                    </m:r>
                  </m:oMath>
                </a14:m>
                <a:r>
                  <a:rPr lang="nl-BE" sz="2400" dirty="0"/>
                  <a:t>, we try to figure out the best model of </a:t>
                </a:r>
                <a14:m>
                  <m:oMath xmlns:m="http://schemas.openxmlformats.org/officeDocument/2006/math">
                    <m:r>
                      <a:rPr lang="nl-BE" sz="2400" b="0" i="1" smtClean="0">
                        <a:latin typeface="Cambria Math" panose="02040503050406030204" pitchFamily="18" charset="0"/>
                      </a:rPr>
                      <m:t>𝑓</m:t>
                    </m:r>
                  </m:oMath>
                </a14:m>
                <a:r>
                  <a:rPr lang="nl-BE" sz="2400" dirty="0"/>
                  <a:t> given its evaluation at the previously observed points {</a:t>
                </a:r>
                <a:r>
                  <a:rPr lang="nl-BE" sz="2400" b="1" dirty="0"/>
                  <a:t>x</a:t>
                </a:r>
                <a:r>
                  <a:rPr lang="nl-BE" sz="2400" baseline="-25000" dirty="0"/>
                  <a:t>1</a:t>
                </a:r>
                <a:r>
                  <a:rPr lang="nl-BE" sz="2400" dirty="0"/>
                  <a:t>,</a:t>
                </a:r>
                <a:r>
                  <a:rPr lang="nl-BE" sz="2400" b="1" dirty="0"/>
                  <a:t> x</a:t>
                </a:r>
                <a:r>
                  <a:rPr lang="nl-BE" sz="2400" baseline="-25000" dirty="0"/>
                  <a:t>2</a:t>
                </a:r>
                <a:r>
                  <a:rPr lang="nl-BE" sz="2400" dirty="0"/>
                  <a:t>, …, </a:t>
                </a:r>
                <a:r>
                  <a:rPr lang="nl-BE" sz="2400" b="1" dirty="0"/>
                  <a:t>x</a:t>
                </a:r>
                <a:r>
                  <a:rPr lang="nl-BE" sz="2400" baseline="-25000" dirty="0"/>
                  <a:t>n</a:t>
                </a:r>
                <a:r>
                  <a:rPr lang="nl-BE" sz="2400" dirty="0"/>
                  <a:t>}</a:t>
                </a:r>
              </a:p>
            </p:txBody>
          </p:sp>
        </mc:Choice>
        <mc:Fallback xmlns="">
          <p:sp>
            <p:nvSpPr>
              <p:cNvPr id="6" name="Tekstvak 5">
                <a:extLst>
                  <a:ext uri="{FF2B5EF4-FFF2-40B4-BE49-F238E27FC236}">
                    <a16:creationId xmlns:a16="http://schemas.microsoft.com/office/drawing/2014/main" id="{EA3AAD2E-8861-C175-24DD-1A82913693B5}"/>
                  </a:ext>
                </a:extLst>
              </p:cNvPr>
              <p:cNvSpPr txBox="1">
                <a:spLocks noRot="1" noChangeAspect="1" noMove="1" noResize="1" noEditPoints="1" noAdjustHandles="1" noChangeArrowheads="1" noChangeShapeType="1" noTextEdit="1"/>
              </p:cNvSpPr>
              <p:nvPr/>
            </p:nvSpPr>
            <p:spPr>
              <a:xfrm>
                <a:off x="971258" y="2318636"/>
                <a:ext cx="10561983" cy="830997"/>
              </a:xfrm>
              <a:prstGeom prst="rect">
                <a:avLst/>
              </a:prstGeom>
              <a:blipFill>
                <a:blip r:embed="rId3"/>
                <a:stretch>
                  <a:fillRect l="-840" t="-5970" b="-14925"/>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7" name="Tekstvak 6">
                <a:extLst>
                  <a:ext uri="{FF2B5EF4-FFF2-40B4-BE49-F238E27FC236}">
                    <a16:creationId xmlns:a16="http://schemas.microsoft.com/office/drawing/2014/main" id="{7740EC00-7C49-DA1C-F7C0-97E55ABB03CC}"/>
                  </a:ext>
                </a:extLst>
              </p:cNvPr>
              <p:cNvSpPr txBox="1"/>
              <p:nvPr/>
            </p:nvSpPr>
            <p:spPr>
              <a:xfrm>
                <a:off x="971261" y="1255328"/>
                <a:ext cx="10561983" cy="830997"/>
              </a:xfrm>
              <a:prstGeom prst="rect">
                <a:avLst/>
              </a:prstGeom>
              <a:noFill/>
            </p:spPr>
            <p:txBody>
              <a:bodyPr wrap="square" rtlCol="0">
                <a:spAutoFit/>
              </a:bodyPr>
              <a:lstStyle/>
              <a:p>
                <a:r>
                  <a:rPr lang="nl-BE" sz="2400" dirty="0"/>
                  <a:t>In BO, we assume we can evaluate the function </a:t>
                </a:r>
                <a14:m>
                  <m:oMath xmlns:m="http://schemas.openxmlformats.org/officeDocument/2006/math">
                    <m:r>
                      <a:rPr lang="nl-BE" sz="2400" b="0" i="1" smtClean="0">
                        <a:latin typeface="Cambria Math" panose="02040503050406030204" pitchFamily="18" charset="0"/>
                      </a:rPr>
                      <m:t>𝑓</m:t>
                    </m:r>
                  </m:oMath>
                </a14:m>
                <a:r>
                  <a:rPr lang="nl-BE" sz="2400" dirty="0"/>
                  <a:t> (NOT the gradient or Hessian) at any point </a:t>
                </a:r>
                <a:r>
                  <a:rPr lang="nl-BE" sz="2400" b="1" dirty="0"/>
                  <a:t>x</a:t>
                </a:r>
                <a:r>
                  <a:rPr lang="nl-BE" sz="2400" dirty="0"/>
                  <a:t>, i.e., given </a:t>
                </a:r>
                <a:r>
                  <a:rPr lang="nl-BE" sz="2400" b="1" dirty="0"/>
                  <a:t>x</a:t>
                </a:r>
                <a:r>
                  <a:rPr lang="nl-BE" sz="2400" dirty="0"/>
                  <a:t>, we can obtain </a:t>
                </a:r>
                <a14:m>
                  <m:oMath xmlns:m="http://schemas.openxmlformats.org/officeDocument/2006/math">
                    <m:r>
                      <a:rPr lang="nl-BE" sz="2400" b="0" i="1" smtClean="0">
                        <a:latin typeface="Cambria Math" panose="02040503050406030204" pitchFamily="18" charset="0"/>
                      </a:rPr>
                      <m:t>𝑓</m:t>
                    </m:r>
                  </m:oMath>
                </a14:m>
                <a:r>
                  <a:rPr lang="nl-BE" sz="2400" dirty="0"/>
                  <a:t>(</a:t>
                </a:r>
                <a:r>
                  <a:rPr lang="nl-BE" sz="2400" b="1" dirty="0"/>
                  <a:t>x</a:t>
                </a:r>
                <a:r>
                  <a:rPr lang="nl-BE" sz="2400" dirty="0"/>
                  <a:t>)</a:t>
                </a:r>
              </a:p>
            </p:txBody>
          </p:sp>
        </mc:Choice>
        <mc:Fallback xmlns="">
          <p:sp>
            <p:nvSpPr>
              <p:cNvPr id="7" name="Tekstvak 6">
                <a:extLst>
                  <a:ext uri="{FF2B5EF4-FFF2-40B4-BE49-F238E27FC236}">
                    <a16:creationId xmlns:a16="http://schemas.microsoft.com/office/drawing/2014/main" id="{7740EC00-7C49-DA1C-F7C0-97E55ABB03CC}"/>
                  </a:ext>
                </a:extLst>
              </p:cNvPr>
              <p:cNvSpPr txBox="1">
                <a:spLocks noRot="1" noChangeAspect="1" noMove="1" noResize="1" noEditPoints="1" noAdjustHandles="1" noChangeArrowheads="1" noChangeShapeType="1" noTextEdit="1"/>
              </p:cNvSpPr>
              <p:nvPr/>
            </p:nvSpPr>
            <p:spPr>
              <a:xfrm>
                <a:off x="971261" y="1255328"/>
                <a:ext cx="10561983" cy="830997"/>
              </a:xfrm>
              <a:prstGeom prst="rect">
                <a:avLst/>
              </a:prstGeom>
              <a:blipFill>
                <a:blip r:embed="rId4"/>
                <a:stretch>
                  <a:fillRect l="-840" t="-4478" r="-840" b="-16418"/>
                </a:stretch>
              </a:blipFill>
            </p:spPr>
            <p:txBody>
              <a:bodyPr/>
              <a:lstStyle/>
              <a:p>
                <a:r>
                  <a:rPr lang="nl-BE">
                    <a:noFill/>
                  </a:rPr>
                  <a:t> </a:t>
                </a:r>
              </a:p>
            </p:txBody>
          </p:sp>
        </mc:Fallback>
      </mc:AlternateContent>
      <p:grpSp>
        <p:nvGrpSpPr>
          <p:cNvPr id="13" name="Groep 12">
            <a:extLst>
              <a:ext uri="{FF2B5EF4-FFF2-40B4-BE49-F238E27FC236}">
                <a16:creationId xmlns:a16="http://schemas.microsoft.com/office/drawing/2014/main" id="{1D140687-5EB3-1A41-4427-DA0DC49DF46B}"/>
              </a:ext>
            </a:extLst>
          </p:cNvPr>
          <p:cNvGrpSpPr/>
          <p:nvPr/>
        </p:nvGrpSpPr>
        <p:grpSpPr>
          <a:xfrm>
            <a:off x="3392831" y="3264428"/>
            <a:ext cx="5406337" cy="3306489"/>
            <a:chOff x="3291473" y="3198167"/>
            <a:chExt cx="5406337" cy="3306489"/>
          </a:xfrm>
        </p:grpSpPr>
        <p:cxnSp>
          <p:nvCxnSpPr>
            <p:cNvPr id="4" name="Rechte verbindingslijn met pijl 3">
              <a:extLst>
                <a:ext uri="{FF2B5EF4-FFF2-40B4-BE49-F238E27FC236}">
                  <a16:creationId xmlns:a16="http://schemas.microsoft.com/office/drawing/2014/main" id="{5F2C085A-7A69-B6D1-B874-9987E84BB05E}"/>
                </a:ext>
              </a:extLst>
            </p:cNvPr>
            <p:cNvCxnSpPr/>
            <p:nvPr/>
          </p:nvCxnSpPr>
          <p:spPr>
            <a:xfrm>
              <a:off x="3520644" y="6042991"/>
              <a:ext cx="507558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 name="Rechte verbindingslijn met pijl 4">
              <a:extLst>
                <a:ext uri="{FF2B5EF4-FFF2-40B4-BE49-F238E27FC236}">
                  <a16:creationId xmlns:a16="http://schemas.microsoft.com/office/drawing/2014/main" id="{162D78ED-D778-18E8-0B87-67BAFAB2022D}"/>
                </a:ext>
              </a:extLst>
            </p:cNvPr>
            <p:cNvCxnSpPr>
              <a:cxnSpLocks/>
            </p:cNvCxnSpPr>
            <p:nvPr/>
          </p:nvCxnSpPr>
          <p:spPr>
            <a:xfrm flipV="1">
              <a:off x="3673044" y="3313043"/>
              <a:ext cx="0" cy="288234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 name="Tekstvak 10">
              <a:extLst>
                <a:ext uri="{FF2B5EF4-FFF2-40B4-BE49-F238E27FC236}">
                  <a16:creationId xmlns:a16="http://schemas.microsoft.com/office/drawing/2014/main" id="{C6FEB8F9-9439-308C-7E5C-9B89EC632DE7}"/>
                </a:ext>
              </a:extLst>
            </p:cNvPr>
            <p:cNvSpPr txBox="1"/>
            <p:nvPr/>
          </p:nvSpPr>
          <p:spPr>
            <a:xfrm>
              <a:off x="3291473" y="3198167"/>
              <a:ext cx="324128" cy="461665"/>
            </a:xfrm>
            <a:prstGeom prst="rect">
              <a:avLst/>
            </a:prstGeom>
            <a:noFill/>
          </p:spPr>
          <p:txBody>
            <a:bodyPr wrap="none" rtlCol="0">
              <a:spAutoFit/>
            </a:bodyPr>
            <a:lstStyle/>
            <a:p>
              <a:r>
                <a:rPr lang="nl-BE" sz="2400" dirty="0"/>
                <a:t>y</a:t>
              </a:r>
            </a:p>
          </p:txBody>
        </p:sp>
        <p:sp>
          <p:nvSpPr>
            <p:cNvPr id="12" name="Tekstvak 11">
              <a:extLst>
                <a:ext uri="{FF2B5EF4-FFF2-40B4-BE49-F238E27FC236}">
                  <a16:creationId xmlns:a16="http://schemas.microsoft.com/office/drawing/2014/main" id="{5D2C60E8-7EEF-7040-92C0-9445ADDF49DE}"/>
                </a:ext>
              </a:extLst>
            </p:cNvPr>
            <p:cNvSpPr txBox="1"/>
            <p:nvPr/>
          </p:nvSpPr>
          <p:spPr>
            <a:xfrm>
              <a:off x="8373682" y="6042991"/>
              <a:ext cx="324128" cy="461665"/>
            </a:xfrm>
            <a:prstGeom prst="rect">
              <a:avLst/>
            </a:prstGeom>
            <a:noFill/>
          </p:spPr>
          <p:txBody>
            <a:bodyPr wrap="none" rtlCol="0">
              <a:spAutoFit/>
            </a:bodyPr>
            <a:lstStyle/>
            <a:p>
              <a:r>
                <a:rPr lang="nl-BE" sz="2400" dirty="0"/>
                <a:t>x</a:t>
              </a:r>
            </a:p>
          </p:txBody>
        </p:sp>
      </p:grpSp>
      <p:grpSp>
        <p:nvGrpSpPr>
          <p:cNvPr id="23" name="Groep 22">
            <a:extLst>
              <a:ext uri="{FF2B5EF4-FFF2-40B4-BE49-F238E27FC236}">
                <a16:creationId xmlns:a16="http://schemas.microsoft.com/office/drawing/2014/main" id="{F14DCB6D-AC38-3A69-7413-DF7D0BED1B9B}"/>
              </a:ext>
            </a:extLst>
          </p:cNvPr>
          <p:cNvGrpSpPr/>
          <p:nvPr/>
        </p:nvGrpSpPr>
        <p:grpSpPr>
          <a:xfrm>
            <a:off x="4638261" y="3982636"/>
            <a:ext cx="3625565" cy="1396732"/>
            <a:chOff x="4638261" y="3982636"/>
            <a:chExt cx="3625565" cy="1396732"/>
          </a:xfrm>
        </p:grpSpPr>
        <p:sp>
          <p:nvSpPr>
            <p:cNvPr id="14" name="Ovaal 13">
              <a:extLst>
                <a:ext uri="{FF2B5EF4-FFF2-40B4-BE49-F238E27FC236}">
                  <a16:creationId xmlns:a16="http://schemas.microsoft.com/office/drawing/2014/main" id="{6E7CFEB6-BE64-E6E7-FD9B-3E22CE4ED7A7}"/>
                </a:ext>
              </a:extLst>
            </p:cNvPr>
            <p:cNvSpPr/>
            <p:nvPr/>
          </p:nvSpPr>
          <p:spPr>
            <a:xfrm>
              <a:off x="4638261" y="4469484"/>
              <a:ext cx="180000" cy="18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5" name="Ovaal 14">
              <a:extLst>
                <a:ext uri="{FF2B5EF4-FFF2-40B4-BE49-F238E27FC236}">
                  <a16:creationId xmlns:a16="http://schemas.microsoft.com/office/drawing/2014/main" id="{B81DBDD8-4DC0-9A20-B55A-7135B886B45A}"/>
                </a:ext>
              </a:extLst>
            </p:cNvPr>
            <p:cNvSpPr/>
            <p:nvPr/>
          </p:nvSpPr>
          <p:spPr>
            <a:xfrm>
              <a:off x="6096000" y="3982636"/>
              <a:ext cx="180000" cy="18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6" name="Ovaal 15">
              <a:extLst>
                <a:ext uri="{FF2B5EF4-FFF2-40B4-BE49-F238E27FC236}">
                  <a16:creationId xmlns:a16="http://schemas.microsoft.com/office/drawing/2014/main" id="{E26264BD-20BC-F072-9CD3-963EA21A122A}"/>
                </a:ext>
              </a:extLst>
            </p:cNvPr>
            <p:cNvSpPr/>
            <p:nvPr/>
          </p:nvSpPr>
          <p:spPr>
            <a:xfrm>
              <a:off x="7215809" y="5199368"/>
              <a:ext cx="180000" cy="18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7" name="Ovaal 16">
              <a:extLst>
                <a:ext uri="{FF2B5EF4-FFF2-40B4-BE49-F238E27FC236}">
                  <a16:creationId xmlns:a16="http://schemas.microsoft.com/office/drawing/2014/main" id="{F9FE15DE-C266-56E9-B729-F4FD8CE8011A}"/>
                </a:ext>
              </a:extLst>
            </p:cNvPr>
            <p:cNvSpPr/>
            <p:nvPr/>
          </p:nvSpPr>
          <p:spPr>
            <a:xfrm>
              <a:off x="8083826" y="4567861"/>
              <a:ext cx="180000" cy="18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grpSp>
      <p:sp>
        <p:nvSpPr>
          <p:cNvPr id="22" name="Vrije vorm 21">
            <a:extLst>
              <a:ext uri="{FF2B5EF4-FFF2-40B4-BE49-F238E27FC236}">
                <a16:creationId xmlns:a16="http://schemas.microsoft.com/office/drawing/2014/main" id="{CF4CC293-F322-225B-BE69-43DF28C87B00}"/>
              </a:ext>
            </a:extLst>
          </p:cNvPr>
          <p:cNvSpPr/>
          <p:nvPr/>
        </p:nvSpPr>
        <p:spPr>
          <a:xfrm>
            <a:off x="3831846" y="4032941"/>
            <a:ext cx="5208105" cy="1272294"/>
          </a:xfrm>
          <a:custGeom>
            <a:avLst/>
            <a:gdLst>
              <a:gd name="connsiteX0" fmla="*/ 0 w 5208105"/>
              <a:gd name="connsiteY0" fmla="*/ 135065 h 1272294"/>
              <a:gd name="connsiteX1" fmla="*/ 927652 w 5208105"/>
              <a:gd name="connsiteY1" fmla="*/ 532630 h 1272294"/>
              <a:gd name="connsiteX2" fmla="*/ 2345635 w 5208105"/>
              <a:gd name="connsiteY2" fmla="*/ 15795 h 1272294"/>
              <a:gd name="connsiteX3" fmla="*/ 3458818 w 5208105"/>
              <a:gd name="connsiteY3" fmla="*/ 1261500 h 1272294"/>
              <a:gd name="connsiteX4" fmla="*/ 4320209 w 5208105"/>
              <a:gd name="connsiteY4" fmla="*/ 612143 h 1272294"/>
              <a:gd name="connsiteX5" fmla="*/ 5208105 w 5208105"/>
              <a:gd name="connsiteY5" fmla="*/ 466369 h 1272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08105" h="1272294">
                <a:moveTo>
                  <a:pt x="0" y="135065"/>
                </a:moveTo>
                <a:cubicBezTo>
                  <a:pt x="268356" y="343786"/>
                  <a:pt x="536713" y="552508"/>
                  <a:pt x="927652" y="532630"/>
                </a:cubicBezTo>
                <a:cubicBezTo>
                  <a:pt x="1318591" y="512752"/>
                  <a:pt x="1923774" y="-105683"/>
                  <a:pt x="2345635" y="15795"/>
                </a:cubicBezTo>
                <a:cubicBezTo>
                  <a:pt x="2767496" y="137273"/>
                  <a:pt x="3129722" y="1162109"/>
                  <a:pt x="3458818" y="1261500"/>
                </a:cubicBezTo>
                <a:cubicBezTo>
                  <a:pt x="3787914" y="1360891"/>
                  <a:pt x="4028661" y="744665"/>
                  <a:pt x="4320209" y="612143"/>
                </a:cubicBezTo>
                <a:cubicBezTo>
                  <a:pt x="4611757" y="479621"/>
                  <a:pt x="4967357" y="539256"/>
                  <a:pt x="5208105" y="466369"/>
                </a:cubicBezTo>
              </a:path>
            </a:pathLst>
          </a:cu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6" name="Vrije vorm 25">
            <a:extLst>
              <a:ext uri="{FF2B5EF4-FFF2-40B4-BE49-F238E27FC236}">
                <a16:creationId xmlns:a16="http://schemas.microsoft.com/office/drawing/2014/main" id="{9923CAE4-2FA3-A0AD-C3B2-6E40987785E5}"/>
              </a:ext>
            </a:extLst>
          </p:cNvPr>
          <p:cNvSpPr/>
          <p:nvPr/>
        </p:nvSpPr>
        <p:spPr>
          <a:xfrm>
            <a:off x="4002157" y="3644348"/>
            <a:ext cx="5141843" cy="1700345"/>
          </a:xfrm>
          <a:custGeom>
            <a:avLst/>
            <a:gdLst>
              <a:gd name="connsiteX0" fmla="*/ 0 w 5141843"/>
              <a:gd name="connsiteY0" fmla="*/ 0 h 1700345"/>
              <a:gd name="connsiteX1" fmla="*/ 715617 w 5141843"/>
              <a:gd name="connsiteY1" fmla="*/ 914400 h 1700345"/>
              <a:gd name="connsiteX2" fmla="*/ 1444486 w 5141843"/>
              <a:gd name="connsiteY2" fmla="*/ 1510748 h 1700345"/>
              <a:gd name="connsiteX3" fmla="*/ 2173356 w 5141843"/>
              <a:gd name="connsiteY3" fmla="*/ 410817 h 1700345"/>
              <a:gd name="connsiteX4" fmla="*/ 2570921 w 5141843"/>
              <a:gd name="connsiteY4" fmla="*/ 92765 h 1700345"/>
              <a:gd name="connsiteX5" fmla="*/ 3286539 w 5141843"/>
              <a:gd name="connsiteY5" fmla="*/ 1669774 h 1700345"/>
              <a:gd name="connsiteX6" fmla="*/ 4174434 w 5141843"/>
              <a:gd name="connsiteY6" fmla="*/ 1060174 h 1700345"/>
              <a:gd name="connsiteX7" fmla="*/ 4863547 w 5141843"/>
              <a:gd name="connsiteY7" fmla="*/ 145774 h 1700345"/>
              <a:gd name="connsiteX8" fmla="*/ 5141843 w 5141843"/>
              <a:gd name="connsiteY8" fmla="*/ 185530 h 1700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1843" h="1700345">
                <a:moveTo>
                  <a:pt x="0" y="0"/>
                </a:moveTo>
                <a:cubicBezTo>
                  <a:pt x="237435" y="331304"/>
                  <a:pt x="474870" y="662609"/>
                  <a:pt x="715617" y="914400"/>
                </a:cubicBezTo>
                <a:cubicBezTo>
                  <a:pt x="956364" y="1166191"/>
                  <a:pt x="1201530" y="1594679"/>
                  <a:pt x="1444486" y="1510748"/>
                </a:cubicBezTo>
                <a:cubicBezTo>
                  <a:pt x="1687443" y="1426818"/>
                  <a:pt x="1985617" y="647147"/>
                  <a:pt x="2173356" y="410817"/>
                </a:cubicBezTo>
                <a:cubicBezTo>
                  <a:pt x="2361095" y="174487"/>
                  <a:pt x="2385390" y="-117061"/>
                  <a:pt x="2570921" y="92765"/>
                </a:cubicBezTo>
                <a:cubicBezTo>
                  <a:pt x="2756452" y="302591"/>
                  <a:pt x="3019287" y="1508539"/>
                  <a:pt x="3286539" y="1669774"/>
                </a:cubicBezTo>
                <a:cubicBezTo>
                  <a:pt x="3553791" y="1831009"/>
                  <a:pt x="3911599" y="1314174"/>
                  <a:pt x="4174434" y="1060174"/>
                </a:cubicBezTo>
                <a:cubicBezTo>
                  <a:pt x="4437269" y="806174"/>
                  <a:pt x="4702312" y="291548"/>
                  <a:pt x="4863547" y="145774"/>
                </a:cubicBezTo>
                <a:cubicBezTo>
                  <a:pt x="5024782" y="0"/>
                  <a:pt x="5141843" y="185530"/>
                  <a:pt x="5141843" y="185530"/>
                </a:cubicBezTo>
              </a:path>
            </a:pathLst>
          </a:custGeom>
          <a:ln w="38100"/>
          <a:effectLst>
            <a:glow rad="228600">
              <a:schemeClr val="accent5">
                <a:satMod val="175000"/>
                <a:alpha val="40000"/>
              </a:schemeClr>
            </a:glow>
          </a:effectLst>
        </p:spPr>
        <p:style>
          <a:lnRef idx="1">
            <a:schemeClr val="accent5"/>
          </a:lnRef>
          <a:fillRef idx="0">
            <a:schemeClr val="accent5"/>
          </a:fillRef>
          <a:effectRef idx="0">
            <a:schemeClr val="accent5"/>
          </a:effectRef>
          <a:fontRef idx="minor">
            <a:schemeClr val="tx1"/>
          </a:fontRef>
        </p:style>
        <p:txBody>
          <a:bodyPr rtlCol="0" anchor="ctr"/>
          <a:lstStyle/>
          <a:p>
            <a:pPr algn="ctr"/>
            <a:endParaRPr lang="nl-BE"/>
          </a:p>
        </p:txBody>
      </p:sp>
      <p:sp>
        <p:nvSpPr>
          <p:cNvPr id="27" name="Vrije vorm 26">
            <a:extLst>
              <a:ext uri="{FF2B5EF4-FFF2-40B4-BE49-F238E27FC236}">
                <a16:creationId xmlns:a16="http://schemas.microsoft.com/office/drawing/2014/main" id="{C1D5DE33-E974-601A-D367-5B0D0A5B41B8}"/>
              </a:ext>
            </a:extLst>
          </p:cNvPr>
          <p:cNvSpPr/>
          <p:nvPr/>
        </p:nvSpPr>
        <p:spPr>
          <a:xfrm>
            <a:off x="3909391" y="3497029"/>
            <a:ext cx="5221357" cy="2225893"/>
          </a:xfrm>
          <a:custGeom>
            <a:avLst/>
            <a:gdLst>
              <a:gd name="connsiteX0" fmla="*/ 0 w 5221357"/>
              <a:gd name="connsiteY0" fmla="*/ 1883354 h 2225893"/>
              <a:gd name="connsiteX1" fmla="*/ 834887 w 5221357"/>
              <a:gd name="connsiteY1" fmla="*/ 1048467 h 2225893"/>
              <a:gd name="connsiteX2" fmla="*/ 1457739 w 5221357"/>
              <a:gd name="connsiteY2" fmla="*/ 14797 h 2225893"/>
              <a:gd name="connsiteX3" fmla="*/ 2279374 w 5221357"/>
              <a:gd name="connsiteY3" fmla="*/ 558136 h 2225893"/>
              <a:gd name="connsiteX4" fmla="*/ 2862470 w 5221357"/>
              <a:gd name="connsiteY4" fmla="*/ 2161649 h 2225893"/>
              <a:gd name="connsiteX5" fmla="*/ 3392557 w 5221357"/>
              <a:gd name="connsiteY5" fmla="*/ 1777336 h 2225893"/>
              <a:gd name="connsiteX6" fmla="*/ 3843131 w 5221357"/>
              <a:gd name="connsiteY6" fmla="*/ 558136 h 2225893"/>
              <a:gd name="connsiteX7" fmla="*/ 4267200 w 5221357"/>
              <a:gd name="connsiteY7" fmla="*/ 1141232 h 2225893"/>
              <a:gd name="connsiteX8" fmla="*/ 4929809 w 5221357"/>
              <a:gd name="connsiteY8" fmla="*/ 2095388 h 2225893"/>
              <a:gd name="connsiteX9" fmla="*/ 5221357 w 5221357"/>
              <a:gd name="connsiteY9" fmla="*/ 1896606 h 2225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21357" h="2225893">
                <a:moveTo>
                  <a:pt x="0" y="1883354"/>
                </a:moveTo>
                <a:cubicBezTo>
                  <a:pt x="295965" y="1621623"/>
                  <a:pt x="591931" y="1359893"/>
                  <a:pt x="834887" y="1048467"/>
                </a:cubicBezTo>
                <a:cubicBezTo>
                  <a:pt x="1077844" y="737041"/>
                  <a:pt x="1216991" y="96519"/>
                  <a:pt x="1457739" y="14797"/>
                </a:cubicBezTo>
                <a:cubicBezTo>
                  <a:pt x="1698487" y="-66925"/>
                  <a:pt x="2045252" y="200327"/>
                  <a:pt x="2279374" y="558136"/>
                </a:cubicBezTo>
                <a:cubicBezTo>
                  <a:pt x="2513496" y="915945"/>
                  <a:pt x="2676940" y="1958449"/>
                  <a:pt x="2862470" y="2161649"/>
                </a:cubicBezTo>
                <a:cubicBezTo>
                  <a:pt x="3048001" y="2364849"/>
                  <a:pt x="3229114" y="2044588"/>
                  <a:pt x="3392557" y="1777336"/>
                </a:cubicBezTo>
                <a:cubicBezTo>
                  <a:pt x="3556000" y="1510084"/>
                  <a:pt x="3697357" y="664153"/>
                  <a:pt x="3843131" y="558136"/>
                </a:cubicBezTo>
                <a:cubicBezTo>
                  <a:pt x="3988905" y="452119"/>
                  <a:pt x="4086087" y="885023"/>
                  <a:pt x="4267200" y="1141232"/>
                </a:cubicBezTo>
                <a:cubicBezTo>
                  <a:pt x="4448313" y="1397441"/>
                  <a:pt x="4770783" y="1969492"/>
                  <a:pt x="4929809" y="2095388"/>
                </a:cubicBezTo>
                <a:cubicBezTo>
                  <a:pt x="5088835" y="2221284"/>
                  <a:pt x="5155096" y="2058945"/>
                  <a:pt x="5221357" y="1896606"/>
                </a:cubicBezTo>
              </a:path>
            </a:pathLst>
          </a:custGeom>
          <a:ln w="38100"/>
        </p:spPr>
        <p:style>
          <a:lnRef idx="1">
            <a:schemeClr val="accent6"/>
          </a:lnRef>
          <a:fillRef idx="0">
            <a:schemeClr val="accent6"/>
          </a:fillRef>
          <a:effectRef idx="0">
            <a:schemeClr val="accent6"/>
          </a:effectRef>
          <a:fontRef idx="minor">
            <a:schemeClr val="tx1"/>
          </a:fontRef>
        </p:style>
        <p:txBody>
          <a:bodyPr rtlCol="0" anchor="ctr"/>
          <a:lstStyle/>
          <a:p>
            <a:pPr algn="ctr"/>
            <a:endParaRPr lang="nl-BE"/>
          </a:p>
        </p:txBody>
      </p:sp>
      <p:sp>
        <p:nvSpPr>
          <p:cNvPr id="9" name="Ovaal 8">
            <a:extLst>
              <a:ext uri="{FF2B5EF4-FFF2-40B4-BE49-F238E27FC236}">
                <a16:creationId xmlns:a16="http://schemas.microsoft.com/office/drawing/2014/main" id="{7EBF316F-9405-54EA-163F-AAFF7A164F50}"/>
              </a:ext>
            </a:extLst>
          </p:cNvPr>
          <p:cNvSpPr/>
          <p:nvPr/>
        </p:nvSpPr>
        <p:spPr>
          <a:xfrm>
            <a:off x="5207158" y="5031523"/>
            <a:ext cx="288000" cy="288000"/>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3" name="Vrije vorm 2">
            <a:extLst>
              <a:ext uri="{FF2B5EF4-FFF2-40B4-BE49-F238E27FC236}">
                <a16:creationId xmlns:a16="http://schemas.microsoft.com/office/drawing/2014/main" id="{5B12BF68-67E0-46D6-8DCD-27BF078A8E27}"/>
              </a:ext>
            </a:extLst>
          </p:cNvPr>
          <p:cNvSpPr/>
          <p:nvPr/>
        </p:nvSpPr>
        <p:spPr>
          <a:xfrm>
            <a:off x="4002157" y="3679023"/>
            <a:ext cx="5141843" cy="1700345"/>
          </a:xfrm>
          <a:custGeom>
            <a:avLst/>
            <a:gdLst>
              <a:gd name="connsiteX0" fmla="*/ 0 w 5141843"/>
              <a:gd name="connsiteY0" fmla="*/ 0 h 1700345"/>
              <a:gd name="connsiteX1" fmla="*/ 715617 w 5141843"/>
              <a:gd name="connsiteY1" fmla="*/ 914400 h 1700345"/>
              <a:gd name="connsiteX2" fmla="*/ 1444486 w 5141843"/>
              <a:gd name="connsiteY2" fmla="*/ 1510748 h 1700345"/>
              <a:gd name="connsiteX3" fmla="*/ 2173356 w 5141843"/>
              <a:gd name="connsiteY3" fmla="*/ 410817 h 1700345"/>
              <a:gd name="connsiteX4" fmla="*/ 2570921 w 5141843"/>
              <a:gd name="connsiteY4" fmla="*/ 92765 h 1700345"/>
              <a:gd name="connsiteX5" fmla="*/ 3286539 w 5141843"/>
              <a:gd name="connsiteY5" fmla="*/ 1669774 h 1700345"/>
              <a:gd name="connsiteX6" fmla="*/ 4174434 w 5141843"/>
              <a:gd name="connsiteY6" fmla="*/ 1060174 h 1700345"/>
              <a:gd name="connsiteX7" fmla="*/ 4863547 w 5141843"/>
              <a:gd name="connsiteY7" fmla="*/ 145774 h 1700345"/>
              <a:gd name="connsiteX8" fmla="*/ 5141843 w 5141843"/>
              <a:gd name="connsiteY8" fmla="*/ 185530 h 1700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1843" h="1700345">
                <a:moveTo>
                  <a:pt x="0" y="0"/>
                </a:moveTo>
                <a:cubicBezTo>
                  <a:pt x="237435" y="331304"/>
                  <a:pt x="474870" y="662609"/>
                  <a:pt x="715617" y="914400"/>
                </a:cubicBezTo>
                <a:cubicBezTo>
                  <a:pt x="956364" y="1166191"/>
                  <a:pt x="1201530" y="1594679"/>
                  <a:pt x="1444486" y="1510748"/>
                </a:cubicBezTo>
                <a:cubicBezTo>
                  <a:pt x="1687443" y="1426818"/>
                  <a:pt x="1985617" y="647147"/>
                  <a:pt x="2173356" y="410817"/>
                </a:cubicBezTo>
                <a:cubicBezTo>
                  <a:pt x="2361095" y="174487"/>
                  <a:pt x="2385390" y="-117061"/>
                  <a:pt x="2570921" y="92765"/>
                </a:cubicBezTo>
                <a:cubicBezTo>
                  <a:pt x="2756452" y="302591"/>
                  <a:pt x="3019287" y="1508539"/>
                  <a:pt x="3286539" y="1669774"/>
                </a:cubicBezTo>
                <a:cubicBezTo>
                  <a:pt x="3553791" y="1831009"/>
                  <a:pt x="3911599" y="1314174"/>
                  <a:pt x="4174434" y="1060174"/>
                </a:cubicBezTo>
                <a:cubicBezTo>
                  <a:pt x="4437269" y="806174"/>
                  <a:pt x="4702312" y="291548"/>
                  <a:pt x="4863547" y="145774"/>
                </a:cubicBezTo>
                <a:cubicBezTo>
                  <a:pt x="5024782" y="0"/>
                  <a:pt x="5141843" y="185530"/>
                  <a:pt x="5141843" y="185530"/>
                </a:cubicBezTo>
              </a:path>
            </a:pathLst>
          </a:custGeom>
          <a:ln w="38100"/>
        </p:spPr>
        <p:style>
          <a:lnRef idx="1">
            <a:schemeClr val="accent5"/>
          </a:lnRef>
          <a:fillRef idx="0">
            <a:schemeClr val="accent5"/>
          </a:fillRef>
          <a:effectRef idx="0">
            <a:schemeClr val="accent5"/>
          </a:effectRef>
          <a:fontRef idx="minor">
            <a:schemeClr val="tx1"/>
          </a:fontRef>
        </p:style>
        <p:txBody>
          <a:bodyPr rtlCol="0" anchor="ctr"/>
          <a:lstStyle/>
          <a:p>
            <a:pPr algn="ctr"/>
            <a:endParaRPr lang="nl-BE"/>
          </a:p>
        </p:txBody>
      </p:sp>
      <p:sp>
        <p:nvSpPr>
          <p:cNvPr id="8" name="Tijdelijke aanduiding voor dianummer 7">
            <a:extLst>
              <a:ext uri="{FF2B5EF4-FFF2-40B4-BE49-F238E27FC236}">
                <a16:creationId xmlns:a16="http://schemas.microsoft.com/office/drawing/2014/main" id="{D99D36D8-169C-3869-E385-1348FED3C0AB}"/>
              </a:ext>
            </a:extLst>
          </p:cNvPr>
          <p:cNvSpPr>
            <a:spLocks noGrp="1"/>
          </p:cNvSpPr>
          <p:nvPr>
            <p:ph type="sldNum" sz="quarter" idx="12"/>
          </p:nvPr>
        </p:nvSpPr>
        <p:spPr/>
        <p:txBody>
          <a:bodyPr/>
          <a:lstStyle/>
          <a:p>
            <a:fld id="{45E6605D-1E32-D542-B458-1FC57A046453}" type="slidenum">
              <a:rPr lang="nl-BE" smtClean="0"/>
              <a:t>7</a:t>
            </a:fld>
            <a:endParaRPr lang="nl-BE"/>
          </a:p>
        </p:txBody>
      </p:sp>
    </p:spTree>
    <p:extLst>
      <p:ext uri="{BB962C8B-B14F-4D97-AF65-F5344CB8AC3E}">
        <p14:creationId xmlns:p14="http://schemas.microsoft.com/office/powerpoint/2010/main" val="3098708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EB95A-FAA8-4C80-6E6C-0AE3ADC2813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5C9F890-B6F6-4FA9-0561-F4F6381C2236}"/>
              </a:ext>
            </a:extLst>
          </p:cNvPr>
          <p:cNvSpPr>
            <a:spLocks noGrp="1"/>
          </p:cNvSpPr>
          <p:nvPr>
            <p:ph type="ctrTitle"/>
          </p:nvPr>
        </p:nvSpPr>
        <p:spPr>
          <a:xfrm>
            <a:off x="320537" y="184059"/>
            <a:ext cx="11416761" cy="838958"/>
          </a:xfrm>
        </p:spPr>
        <p:txBody>
          <a:bodyPr>
            <a:normAutofit fontScale="90000"/>
          </a:bodyPr>
          <a:lstStyle/>
          <a:p>
            <a:r>
              <a:rPr lang="nl-BE" b="1" dirty="0">
                <a:solidFill>
                  <a:srgbClr val="002060"/>
                </a:solidFill>
              </a:rPr>
              <a:t>Bayesian Optimization in a nutshell</a:t>
            </a:r>
          </a:p>
        </p:txBody>
      </p:sp>
      <mc:AlternateContent xmlns:mc="http://schemas.openxmlformats.org/markup-compatibility/2006" xmlns:a14="http://schemas.microsoft.com/office/drawing/2010/main">
        <mc:Choice Requires="a14">
          <p:sp>
            <p:nvSpPr>
              <p:cNvPr id="7" name="Tekstvak 6">
                <a:extLst>
                  <a:ext uri="{FF2B5EF4-FFF2-40B4-BE49-F238E27FC236}">
                    <a16:creationId xmlns:a16="http://schemas.microsoft.com/office/drawing/2014/main" id="{00EFFD32-B3DF-0DEB-86CA-8CC0347ACAA7}"/>
                  </a:ext>
                </a:extLst>
              </p:cNvPr>
              <p:cNvSpPr txBox="1"/>
              <p:nvPr/>
            </p:nvSpPr>
            <p:spPr>
              <a:xfrm>
                <a:off x="320537" y="911297"/>
                <a:ext cx="10561983" cy="1200329"/>
              </a:xfrm>
              <a:prstGeom prst="rect">
                <a:avLst/>
              </a:prstGeom>
              <a:noFill/>
            </p:spPr>
            <p:txBody>
              <a:bodyPr wrap="square" rtlCol="0">
                <a:spAutoFit/>
              </a:bodyPr>
              <a:lstStyle/>
              <a:p>
                <a:r>
                  <a:rPr lang="nl-BE" sz="2400" dirty="0"/>
                  <a:t>In practice, a prior, i.e., a distribution of possible functions given the known data points, will be defined through the most “probable function” </a:t>
                </a:r>
                <a14:m>
                  <m:oMath xmlns:m="http://schemas.openxmlformats.org/officeDocument/2006/math">
                    <m:r>
                      <a:rPr lang="nl-BE" sz="2400" b="0" i="1" smtClean="0">
                        <a:latin typeface="Cambria Math" panose="02040503050406030204" pitchFamily="18" charset="0"/>
                        <a:ea typeface="Cambria Math" panose="02040503050406030204" pitchFamily="18" charset="0"/>
                      </a:rPr>
                      <m:t>𝜇</m:t>
                    </m:r>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𝑥</m:t>
                    </m:r>
                    <m:r>
                      <a:rPr lang="nl-BE" sz="2400" b="0" i="1" smtClean="0">
                        <a:latin typeface="Cambria Math" panose="02040503050406030204" pitchFamily="18" charset="0"/>
                        <a:ea typeface="Cambria Math" panose="02040503050406030204" pitchFamily="18" charset="0"/>
                      </a:rPr>
                      <m:t>)</m:t>
                    </m:r>
                  </m:oMath>
                </a14:m>
                <a:r>
                  <a:rPr lang="nl-BE" sz="2400" dirty="0"/>
                  <a:t>, and a confidence interval around it at every point of </a:t>
                </a:r>
                <a14:m>
                  <m:oMath xmlns:m="http://schemas.openxmlformats.org/officeDocument/2006/math">
                    <m:r>
                      <a:rPr lang="nl-BE" sz="2400" b="0" i="1" smtClean="0">
                        <a:latin typeface="Cambria Math" panose="02040503050406030204" pitchFamily="18" charset="0"/>
                        <a:ea typeface="Cambria Math" panose="02040503050406030204" pitchFamily="18" charset="0"/>
                      </a:rPr>
                      <m:t>𝑥</m:t>
                    </m:r>
                  </m:oMath>
                </a14:m>
                <a:endParaRPr lang="nl-BE" sz="2400" dirty="0"/>
              </a:p>
            </p:txBody>
          </p:sp>
        </mc:Choice>
        <mc:Fallback xmlns="">
          <p:sp>
            <p:nvSpPr>
              <p:cNvPr id="7" name="Tekstvak 6">
                <a:extLst>
                  <a:ext uri="{FF2B5EF4-FFF2-40B4-BE49-F238E27FC236}">
                    <a16:creationId xmlns:a16="http://schemas.microsoft.com/office/drawing/2014/main" id="{00EFFD32-B3DF-0DEB-86CA-8CC0347ACAA7}"/>
                  </a:ext>
                </a:extLst>
              </p:cNvPr>
              <p:cNvSpPr txBox="1">
                <a:spLocks noRot="1" noChangeAspect="1" noMove="1" noResize="1" noEditPoints="1" noAdjustHandles="1" noChangeArrowheads="1" noChangeShapeType="1" noTextEdit="1"/>
              </p:cNvSpPr>
              <p:nvPr/>
            </p:nvSpPr>
            <p:spPr>
              <a:xfrm>
                <a:off x="320537" y="911297"/>
                <a:ext cx="10561983" cy="1200329"/>
              </a:xfrm>
              <a:prstGeom prst="rect">
                <a:avLst/>
              </a:prstGeom>
              <a:blipFill>
                <a:blip r:embed="rId3"/>
                <a:stretch>
                  <a:fillRect l="-962" t="-4167" b="-11458"/>
                </a:stretch>
              </a:blipFill>
            </p:spPr>
            <p:txBody>
              <a:bodyPr/>
              <a:lstStyle/>
              <a:p>
                <a:r>
                  <a:rPr lang="nl-BE">
                    <a:noFill/>
                  </a:rPr>
                  <a:t> </a:t>
                </a:r>
              </a:p>
            </p:txBody>
          </p:sp>
        </mc:Fallback>
      </mc:AlternateContent>
      <p:sp>
        <p:nvSpPr>
          <p:cNvPr id="8" name="Tekstvak 7">
            <a:extLst>
              <a:ext uri="{FF2B5EF4-FFF2-40B4-BE49-F238E27FC236}">
                <a16:creationId xmlns:a16="http://schemas.microsoft.com/office/drawing/2014/main" id="{5A7E113F-ABF0-1B30-BBE5-29ADE9E6DBB3}"/>
              </a:ext>
            </a:extLst>
          </p:cNvPr>
          <p:cNvSpPr txBox="1"/>
          <p:nvPr/>
        </p:nvSpPr>
        <p:spPr>
          <a:xfrm>
            <a:off x="456908" y="5940851"/>
            <a:ext cx="10425612" cy="830997"/>
          </a:xfrm>
          <a:prstGeom prst="rect">
            <a:avLst/>
          </a:prstGeom>
          <a:noFill/>
        </p:spPr>
        <p:txBody>
          <a:bodyPr wrap="square">
            <a:spAutoFit/>
          </a:bodyPr>
          <a:lstStyle/>
          <a:p>
            <a:r>
              <a:rPr lang="nl-BE" sz="2400" dirty="0"/>
              <a:t>Based on this information, we select which point(s) to query next =&gt; results in posterior distribution of possible functions</a:t>
            </a:r>
          </a:p>
        </p:txBody>
      </p:sp>
      <p:pic>
        <p:nvPicPr>
          <p:cNvPr id="20" name="Afbeelding 19" descr="Afbeelding met lijn, diagram, Perceel, kaart&#10;&#10;Door AI gegenereerde inhoud is mogelijk onjuist.">
            <a:extLst>
              <a:ext uri="{FF2B5EF4-FFF2-40B4-BE49-F238E27FC236}">
                <a16:creationId xmlns:a16="http://schemas.microsoft.com/office/drawing/2014/main" id="{C0560D30-FCBC-9C74-54F3-4A5FFB02FA60}"/>
              </a:ext>
            </a:extLst>
          </p:cNvPr>
          <p:cNvPicPr>
            <a:picLocks noChangeAspect="1"/>
          </p:cNvPicPr>
          <p:nvPr/>
        </p:nvPicPr>
        <p:blipFill>
          <a:blip r:embed="rId4"/>
          <a:stretch>
            <a:fillRect/>
          </a:stretch>
        </p:blipFill>
        <p:spPr>
          <a:xfrm>
            <a:off x="2858036" y="2067778"/>
            <a:ext cx="6400800" cy="3822700"/>
          </a:xfrm>
          <a:prstGeom prst="rect">
            <a:avLst/>
          </a:prstGeom>
        </p:spPr>
      </p:pic>
      <p:sp>
        <p:nvSpPr>
          <p:cNvPr id="3" name="Tijdelijke aanduiding voor dianummer 2">
            <a:extLst>
              <a:ext uri="{FF2B5EF4-FFF2-40B4-BE49-F238E27FC236}">
                <a16:creationId xmlns:a16="http://schemas.microsoft.com/office/drawing/2014/main" id="{BF09C335-DC66-02AC-7DA6-3529CDC4FA33}"/>
              </a:ext>
            </a:extLst>
          </p:cNvPr>
          <p:cNvSpPr>
            <a:spLocks noGrp="1"/>
          </p:cNvSpPr>
          <p:nvPr>
            <p:ph type="sldNum" sz="quarter" idx="12"/>
          </p:nvPr>
        </p:nvSpPr>
        <p:spPr/>
        <p:txBody>
          <a:bodyPr/>
          <a:lstStyle/>
          <a:p>
            <a:fld id="{45E6605D-1E32-D542-B458-1FC57A046453}" type="slidenum">
              <a:rPr lang="nl-BE" smtClean="0"/>
              <a:t>8</a:t>
            </a:fld>
            <a:endParaRPr lang="nl-BE"/>
          </a:p>
        </p:txBody>
      </p:sp>
    </p:spTree>
    <p:extLst>
      <p:ext uri="{BB962C8B-B14F-4D97-AF65-F5344CB8AC3E}">
        <p14:creationId xmlns:p14="http://schemas.microsoft.com/office/powerpoint/2010/main" val="3544654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6112A-FC9C-3E8F-D9FB-1AC5357216A6}"/>
            </a:ext>
          </a:extLst>
        </p:cNvPr>
        <p:cNvGrpSpPr/>
        <p:nvPr/>
      </p:nvGrpSpPr>
      <p:grpSpPr>
        <a:xfrm>
          <a:off x="0" y="0"/>
          <a:ext cx="0" cy="0"/>
          <a:chOff x="0" y="0"/>
          <a:chExt cx="0" cy="0"/>
        </a:xfrm>
      </p:grpSpPr>
      <p:sp>
        <p:nvSpPr>
          <p:cNvPr id="32" name="Ring 31">
            <a:extLst>
              <a:ext uri="{FF2B5EF4-FFF2-40B4-BE49-F238E27FC236}">
                <a16:creationId xmlns:a16="http://schemas.microsoft.com/office/drawing/2014/main" id="{4DD14FAE-2626-FAD3-8543-C8896132A56B}"/>
              </a:ext>
            </a:extLst>
          </p:cNvPr>
          <p:cNvSpPr/>
          <p:nvPr/>
        </p:nvSpPr>
        <p:spPr>
          <a:xfrm>
            <a:off x="5575616" y="2079666"/>
            <a:ext cx="3317372" cy="3132268"/>
          </a:xfrm>
          <a:prstGeom prst="donut">
            <a:avLst>
              <a:gd name="adj" fmla="val 57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 name="Titel 1">
            <a:extLst>
              <a:ext uri="{FF2B5EF4-FFF2-40B4-BE49-F238E27FC236}">
                <a16:creationId xmlns:a16="http://schemas.microsoft.com/office/drawing/2014/main" id="{A7D65E65-780C-E09B-16AB-3423FCA6F058}"/>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Bayesian Optimization cycle</a:t>
            </a:r>
          </a:p>
        </p:txBody>
      </p:sp>
      <p:sp>
        <p:nvSpPr>
          <p:cNvPr id="8" name="Tekstvak 7">
            <a:extLst>
              <a:ext uri="{FF2B5EF4-FFF2-40B4-BE49-F238E27FC236}">
                <a16:creationId xmlns:a16="http://schemas.microsoft.com/office/drawing/2014/main" id="{6AD7E6F4-7460-0CEB-B2BE-4B2DBF8BE3C0}"/>
              </a:ext>
            </a:extLst>
          </p:cNvPr>
          <p:cNvSpPr txBox="1"/>
          <p:nvPr/>
        </p:nvSpPr>
        <p:spPr>
          <a:xfrm>
            <a:off x="1183497" y="3429000"/>
            <a:ext cx="2915366" cy="1200329"/>
          </a:xfrm>
          <a:prstGeom prst="rect">
            <a:avLst/>
          </a:prstGeom>
          <a:noFill/>
        </p:spPr>
        <p:txBody>
          <a:bodyPr wrap="square">
            <a:spAutoFit/>
          </a:bodyPr>
          <a:lstStyle/>
          <a:p>
            <a:pPr algn="ctr"/>
            <a:r>
              <a:rPr lang="nl-BE" sz="2400" dirty="0"/>
              <a:t>previous measurements</a:t>
            </a:r>
          </a:p>
          <a:p>
            <a:pPr algn="ctr"/>
            <a:r>
              <a:rPr lang="nl-BE" sz="2400" dirty="0"/>
              <a:t>{</a:t>
            </a:r>
            <a:r>
              <a:rPr lang="nl-BE" sz="2400" b="1" dirty="0"/>
              <a:t>x</a:t>
            </a:r>
            <a:r>
              <a:rPr lang="nl-BE" sz="2400" baseline="-25000" dirty="0"/>
              <a:t>i</a:t>
            </a:r>
            <a:r>
              <a:rPr lang="nl-BE" sz="2400" dirty="0"/>
              <a:t>, f(</a:t>
            </a:r>
            <a:r>
              <a:rPr lang="nl-BE" sz="2400" b="1" dirty="0"/>
              <a:t>x</a:t>
            </a:r>
            <a:r>
              <a:rPr lang="nl-BE" sz="2400" baseline="-25000" dirty="0"/>
              <a:t>i</a:t>
            </a:r>
            <a:r>
              <a:rPr lang="nl-BE" sz="2400" dirty="0"/>
              <a:t>)}</a:t>
            </a:r>
          </a:p>
        </p:txBody>
      </p:sp>
      <p:sp>
        <p:nvSpPr>
          <p:cNvPr id="3" name="Tijdelijke aanduiding voor dianummer 2">
            <a:extLst>
              <a:ext uri="{FF2B5EF4-FFF2-40B4-BE49-F238E27FC236}">
                <a16:creationId xmlns:a16="http://schemas.microsoft.com/office/drawing/2014/main" id="{3BBEFC48-C6DA-0D94-5B46-DB509812FE68}"/>
              </a:ext>
            </a:extLst>
          </p:cNvPr>
          <p:cNvSpPr>
            <a:spLocks noGrp="1"/>
          </p:cNvSpPr>
          <p:nvPr>
            <p:ph type="sldNum" sz="quarter" idx="12"/>
          </p:nvPr>
        </p:nvSpPr>
        <p:spPr>
          <a:xfrm>
            <a:off x="8996893" y="6308816"/>
            <a:ext cx="2743200" cy="365125"/>
          </a:xfrm>
        </p:spPr>
        <p:txBody>
          <a:bodyPr/>
          <a:lstStyle/>
          <a:p>
            <a:fld id="{45E6605D-1E32-D542-B458-1FC57A046453}" type="slidenum">
              <a:rPr lang="nl-BE" smtClean="0"/>
              <a:t>9</a:t>
            </a:fld>
            <a:endParaRPr lang="nl-BE"/>
          </a:p>
        </p:txBody>
      </p:sp>
      <p:sp>
        <p:nvSpPr>
          <p:cNvPr id="9" name="Tekstvak 8">
            <a:extLst>
              <a:ext uri="{FF2B5EF4-FFF2-40B4-BE49-F238E27FC236}">
                <a16:creationId xmlns:a16="http://schemas.microsoft.com/office/drawing/2014/main" id="{011F5507-DD97-5A58-1EB2-675DC85803E7}"/>
              </a:ext>
            </a:extLst>
          </p:cNvPr>
          <p:cNvSpPr txBox="1"/>
          <p:nvPr/>
        </p:nvSpPr>
        <p:spPr>
          <a:xfrm>
            <a:off x="4591114" y="3590366"/>
            <a:ext cx="2396862" cy="1200329"/>
          </a:xfrm>
          <a:prstGeom prst="rect">
            <a:avLst/>
          </a:prstGeom>
          <a:solidFill>
            <a:schemeClr val="bg1"/>
          </a:solidFill>
        </p:spPr>
        <p:txBody>
          <a:bodyPr wrap="square">
            <a:spAutoFit/>
          </a:bodyPr>
          <a:lstStyle/>
          <a:p>
            <a:pPr algn="ctr"/>
            <a:r>
              <a:rPr lang="nl-BE" sz="2400" dirty="0"/>
              <a:t>function distribution:</a:t>
            </a:r>
          </a:p>
          <a:p>
            <a:pPr algn="ctr"/>
            <a:r>
              <a:rPr lang="nl-BE" sz="2400" b="1" dirty="0"/>
              <a:t>prior</a:t>
            </a:r>
          </a:p>
        </p:txBody>
      </p:sp>
      <p:sp>
        <p:nvSpPr>
          <p:cNvPr id="13" name="Tekstvak 12">
            <a:extLst>
              <a:ext uri="{FF2B5EF4-FFF2-40B4-BE49-F238E27FC236}">
                <a16:creationId xmlns:a16="http://schemas.microsoft.com/office/drawing/2014/main" id="{F7BECFB2-0E53-F234-13D7-3FA6CF629B53}"/>
              </a:ext>
            </a:extLst>
          </p:cNvPr>
          <p:cNvSpPr txBox="1"/>
          <p:nvPr/>
        </p:nvSpPr>
        <p:spPr>
          <a:xfrm>
            <a:off x="6944125" y="1492295"/>
            <a:ext cx="2643188" cy="1200329"/>
          </a:xfrm>
          <a:prstGeom prst="rect">
            <a:avLst/>
          </a:prstGeom>
          <a:solidFill>
            <a:schemeClr val="bg1"/>
          </a:solidFill>
        </p:spPr>
        <p:txBody>
          <a:bodyPr wrap="square">
            <a:spAutoFit/>
          </a:bodyPr>
          <a:lstStyle/>
          <a:p>
            <a:pPr algn="ctr"/>
            <a:r>
              <a:rPr lang="nl-BE" sz="2400" dirty="0"/>
              <a:t>new measurements</a:t>
            </a:r>
          </a:p>
          <a:p>
            <a:pPr algn="ctr"/>
            <a:r>
              <a:rPr lang="nl-BE" sz="2400" dirty="0"/>
              <a:t>{</a:t>
            </a:r>
            <a:r>
              <a:rPr lang="nl-BE" sz="2400" b="1" dirty="0"/>
              <a:t>x</a:t>
            </a:r>
            <a:r>
              <a:rPr lang="nl-BE" sz="2400" b="1" baseline="-25000" dirty="0"/>
              <a:t>j</a:t>
            </a:r>
            <a:r>
              <a:rPr lang="nl-BE" sz="2400" dirty="0"/>
              <a:t>, f(</a:t>
            </a:r>
            <a:r>
              <a:rPr lang="nl-BE" sz="2400" b="1" dirty="0"/>
              <a:t>x</a:t>
            </a:r>
            <a:r>
              <a:rPr lang="nl-BE" sz="2400" b="1" baseline="-25000" dirty="0"/>
              <a:t>j</a:t>
            </a:r>
            <a:r>
              <a:rPr lang="nl-BE" sz="2400" dirty="0"/>
              <a:t>)}</a:t>
            </a:r>
          </a:p>
        </p:txBody>
      </p:sp>
      <p:sp>
        <p:nvSpPr>
          <p:cNvPr id="23" name="Tekstvak 22">
            <a:extLst>
              <a:ext uri="{FF2B5EF4-FFF2-40B4-BE49-F238E27FC236}">
                <a16:creationId xmlns:a16="http://schemas.microsoft.com/office/drawing/2014/main" id="{C791ED1B-7D7C-1495-E4AC-D7CBB39D8B31}"/>
              </a:ext>
            </a:extLst>
          </p:cNvPr>
          <p:cNvSpPr txBox="1"/>
          <p:nvPr/>
        </p:nvSpPr>
        <p:spPr>
          <a:xfrm>
            <a:off x="7234302" y="4165376"/>
            <a:ext cx="2643188" cy="1200329"/>
          </a:xfrm>
          <a:prstGeom prst="rect">
            <a:avLst/>
          </a:prstGeom>
          <a:solidFill>
            <a:schemeClr val="bg1"/>
          </a:solidFill>
        </p:spPr>
        <p:txBody>
          <a:bodyPr wrap="square">
            <a:spAutoFit/>
          </a:bodyPr>
          <a:lstStyle/>
          <a:p>
            <a:pPr algn="ctr"/>
            <a:r>
              <a:rPr lang="nl-BE" sz="2400" dirty="0"/>
              <a:t>Updated function distribution:</a:t>
            </a:r>
          </a:p>
          <a:p>
            <a:pPr algn="ctr"/>
            <a:r>
              <a:rPr lang="nl-BE" sz="2400" b="1" dirty="0"/>
              <a:t>posterior</a:t>
            </a:r>
          </a:p>
        </p:txBody>
      </p:sp>
      <p:cxnSp>
        <p:nvCxnSpPr>
          <p:cNvPr id="5" name="Rechte verbindingslijn met pijl 4">
            <a:extLst>
              <a:ext uri="{FF2B5EF4-FFF2-40B4-BE49-F238E27FC236}">
                <a16:creationId xmlns:a16="http://schemas.microsoft.com/office/drawing/2014/main" id="{0A7FA5A5-83E8-8E50-9D86-D0CA61F12740}"/>
              </a:ext>
            </a:extLst>
          </p:cNvPr>
          <p:cNvCxnSpPr>
            <a:cxnSpLocks/>
          </p:cNvCxnSpPr>
          <p:nvPr/>
        </p:nvCxnSpPr>
        <p:spPr>
          <a:xfrm>
            <a:off x="3783786" y="4029165"/>
            <a:ext cx="95726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5" name="Driehoek 34">
            <a:extLst>
              <a:ext uri="{FF2B5EF4-FFF2-40B4-BE49-F238E27FC236}">
                <a16:creationId xmlns:a16="http://schemas.microsoft.com/office/drawing/2014/main" id="{ACB6A805-24A7-6AC6-4EDC-B7C44ECED3F4}"/>
              </a:ext>
            </a:extLst>
          </p:cNvPr>
          <p:cNvSpPr/>
          <p:nvPr/>
        </p:nvSpPr>
        <p:spPr>
          <a:xfrm rot="4312836">
            <a:off x="6696863" y="2003508"/>
            <a:ext cx="394291" cy="219635"/>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BE"/>
          </a:p>
        </p:txBody>
      </p:sp>
      <p:sp>
        <p:nvSpPr>
          <p:cNvPr id="36" name="Driehoek 35">
            <a:extLst>
              <a:ext uri="{FF2B5EF4-FFF2-40B4-BE49-F238E27FC236}">
                <a16:creationId xmlns:a16="http://schemas.microsoft.com/office/drawing/2014/main" id="{A8021558-65E1-B6AA-8D17-8BAECB3ED237}"/>
              </a:ext>
            </a:extLst>
          </p:cNvPr>
          <p:cNvSpPr/>
          <p:nvPr/>
        </p:nvSpPr>
        <p:spPr>
          <a:xfrm rot="11809894">
            <a:off x="8579249" y="3971980"/>
            <a:ext cx="394291" cy="219635"/>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BE"/>
          </a:p>
        </p:txBody>
      </p:sp>
      <p:sp>
        <p:nvSpPr>
          <p:cNvPr id="37" name="Driehoek 36">
            <a:extLst>
              <a:ext uri="{FF2B5EF4-FFF2-40B4-BE49-F238E27FC236}">
                <a16:creationId xmlns:a16="http://schemas.microsoft.com/office/drawing/2014/main" id="{E95EB45A-4A96-AF68-8D6C-E2577C735074}"/>
              </a:ext>
            </a:extLst>
          </p:cNvPr>
          <p:cNvSpPr/>
          <p:nvPr/>
        </p:nvSpPr>
        <p:spPr>
          <a:xfrm rot="18561669">
            <a:off x="5983261" y="4722235"/>
            <a:ext cx="394291" cy="219635"/>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BE"/>
          </a:p>
        </p:txBody>
      </p:sp>
      <p:sp>
        <p:nvSpPr>
          <p:cNvPr id="38" name="Tekstvak 37">
            <a:extLst>
              <a:ext uri="{FF2B5EF4-FFF2-40B4-BE49-F238E27FC236}">
                <a16:creationId xmlns:a16="http://schemas.microsoft.com/office/drawing/2014/main" id="{C9A14D3A-479A-5B69-12A6-9BF8EE49EA72}"/>
              </a:ext>
            </a:extLst>
          </p:cNvPr>
          <p:cNvSpPr txBox="1"/>
          <p:nvPr/>
        </p:nvSpPr>
        <p:spPr>
          <a:xfrm>
            <a:off x="3983545" y="3197326"/>
            <a:ext cx="503664" cy="830997"/>
          </a:xfrm>
          <a:prstGeom prst="rect">
            <a:avLst/>
          </a:prstGeom>
          <a:noFill/>
        </p:spPr>
        <p:txBody>
          <a:bodyPr wrap="none" rtlCol="0">
            <a:spAutoFit/>
          </a:bodyPr>
          <a:lstStyle/>
          <a:p>
            <a:r>
              <a:rPr lang="nl-BE" sz="4800" b="1" dirty="0">
                <a:solidFill>
                  <a:srgbClr val="FF0000"/>
                </a:solidFill>
              </a:rPr>
              <a:t>?</a:t>
            </a:r>
          </a:p>
        </p:txBody>
      </p:sp>
    </p:spTree>
    <p:extLst>
      <p:ext uri="{BB962C8B-B14F-4D97-AF65-F5344CB8AC3E}">
        <p14:creationId xmlns:p14="http://schemas.microsoft.com/office/powerpoint/2010/main" val="992037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EC700-7BAA-07CA-8ACA-FCFF821B2EF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E3ACF32-9C04-91B4-2F5C-7182CE4C08F5}"/>
              </a:ext>
            </a:extLst>
          </p:cNvPr>
          <p:cNvSpPr>
            <a:spLocks noGrp="1"/>
          </p:cNvSpPr>
          <p:nvPr>
            <p:ph type="ctrTitle"/>
          </p:nvPr>
        </p:nvSpPr>
        <p:spPr>
          <a:xfrm>
            <a:off x="583632" y="184059"/>
            <a:ext cx="10949609" cy="838958"/>
          </a:xfrm>
        </p:spPr>
        <p:txBody>
          <a:bodyPr>
            <a:normAutofit fontScale="90000"/>
          </a:bodyPr>
          <a:lstStyle/>
          <a:p>
            <a:r>
              <a:rPr lang="nl-BE" b="1" dirty="0">
                <a:solidFill>
                  <a:srgbClr val="002060"/>
                </a:solidFill>
              </a:rPr>
              <a:t>Gaussian processes and regression</a:t>
            </a:r>
          </a:p>
        </p:txBody>
      </p:sp>
      <p:sp>
        <p:nvSpPr>
          <p:cNvPr id="7" name="Tekstvak 6">
            <a:extLst>
              <a:ext uri="{FF2B5EF4-FFF2-40B4-BE49-F238E27FC236}">
                <a16:creationId xmlns:a16="http://schemas.microsoft.com/office/drawing/2014/main" id="{444016C7-4616-3593-1E18-86597D6154B1}"/>
              </a:ext>
            </a:extLst>
          </p:cNvPr>
          <p:cNvSpPr txBox="1"/>
          <p:nvPr/>
        </p:nvSpPr>
        <p:spPr>
          <a:xfrm>
            <a:off x="971258" y="1127688"/>
            <a:ext cx="10561983" cy="830997"/>
          </a:xfrm>
          <a:prstGeom prst="rect">
            <a:avLst/>
          </a:prstGeom>
          <a:noFill/>
        </p:spPr>
        <p:txBody>
          <a:bodyPr wrap="square" rtlCol="0">
            <a:spAutoFit/>
          </a:bodyPr>
          <a:lstStyle/>
          <a:p>
            <a:r>
              <a:rPr lang="nl-BE" sz="2400" dirty="0"/>
              <a:t>To construct the distribution of likely functions based on the previously performed experiments, we need to make use of a machine learning model</a:t>
            </a:r>
          </a:p>
        </p:txBody>
      </p:sp>
      <mc:AlternateContent xmlns:mc="http://schemas.openxmlformats.org/markup-compatibility/2006" xmlns:a14="http://schemas.microsoft.com/office/drawing/2010/main">
        <mc:Choice Requires="a14">
          <p:sp>
            <p:nvSpPr>
              <p:cNvPr id="8" name="Tekstvak 7">
                <a:extLst>
                  <a:ext uri="{FF2B5EF4-FFF2-40B4-BE49-F238E27FC236}">
                    <a16:creationId xmlns:a16="http://schemas.microsoft.com/office/drawing/2014/main" id="{92AE330E-C6C5-C1F4-774D-62C1767D7B57}"/>
                  </a:ext>
                </a:extLst>
              </p:cNvPr>
              <p:cNvSpPr txBox="1"/>
              <p:nvPr/>
            </p:nvSpPr>
            <p:spPr>
              <a:xfrm>
                <a:off x="971258" y="2003867"/>
                <a:ext cx="10425612" cy="1200329"/>
              </a:xfrm>
              <a:prstGeom prst="rect">
                <a:avLst/>
              </a:prstGeom>
              <a:noFill/>
            </p:spPr>
            <p:txBody>
              <a:bodyPr wrap="square">
                <a:spAutoFit/>
              </a:bodyPr>
              <a:lstStyle/>
              <a:p>
                <a:r>
                  <a:rPr lang="nl-BE" sz="2400" dirty="0"/>
                  <a:t>Popular choice: Gaussian processes, i.e., we assume that the function </a:t>
                </a:r>
                <a14:m>
                  <m:oMath xmlns:m="http://schemas.openxmlformats.org/officeDocument/2006/math">
                    <m:r>
                      <a:rPr lang="nl-BE" sz="2400" b="0" i="1" smtClean="0">
                        <a:latin typeface="Cambria Math" panose="02040503050406030204" pitchFamily="18" charset="0"/>
                      </a:rPr>
                      <m:t>𝑓</m:t>
                    </m:r>
                  </m:oMath>
                </a14:m>
                <a:r>
                  <a:rPr lang="nl-BE" sz="2400" dirty="0"/>
                  <a:t> is such that for a finite set of points </a:t>
                </a:r>
                <a:r>
                  <a:rPr lang="nl-BE" sz="2400" b="1" dirty="0"/>
                  <a:t>x</a:t>
                </a:r>
                <a:r>
                  <a:rPr lang="nl-BE" sz="2400" baseline="-25000" dirty="0"/>
                  <a:t>1</a:t>
                </a:r>
                <a:r>
                  <a:rPr lang="nl-BE" sz="2400" dirty="0"/>
                  <a:t>,</a:t>
                </a:r>
                <a:r>
                  <a:rPr lang="nl-BE" sz="2400" b="1" dirty="0"/>
                  <a:t> x</a:t>
                </a:r>
                <a:r>
                  <a:rPr lang="nl-BE" sz="2400" baseline="-25000" dirty="0"/>
                  <a:t>2</a:t>
                </a:r>
                <a:r>
                  <a:rPr lang="nl-BE" sz="2400" dirty="0"/>
                  <a:t>, …, </a:t>
                </a:r>
                <a:r>
                  <a:rPr lang="nl-BE" sz="2400" b="1" dirty="0"/>
                  <a:t>x</a:t>
                </a:r>
                <a:r>
                  <a:rPr lang="nl-BE" sz="2400" baseline="-25000" dirty="0"/>
                  <a:t>n </a:t>
                </a:r>
                <a:r>
                  <a:rPr lang="nl-BE" sz="2400" dirty="0"/>
                  <a:t>the vector (</a:t>
                </a:r>
                <a14:m>
                  <m:oMath xmlns:m="http://schemas.openxmlformats.org/officeDocument/2006/math">
                    <m:r>
                      <a:rPr lang="nl-BE" sz="2400" b="0" i="1" smtClean="0">
                        <a:latin typeface="Cambria Math" panose="02040503050406030204" pitchFamily="18" charset="0"/>
                      </a:rPr>
                      <m:t>𝑓</m:t>
                    </m:r>
                  </m:oMath>
                </a14:m>
                <a:r>
                  <a:rPr lang="nl-BE" sz="2400" dirty="0"/>
                  <a:t>(</a:t>
                </a:r>
                <a:r>
                  <a:rPr lang="nl-BE" sz="2400" b="1" dirty="0"/>
                  <a:t>x</a:t>
                </a:r>
                <a:r>
                  <a:rPr lang="nl-BE" sz="2400" baseline="-25000" dirty="0"/>
                  <a:t>1</a:t>
                </a:r>
                <a:r>
                  <a:rPr lang="nl-BE" sz="2400" dirty="0"/>
                  <a:t>),</a:t>
                </a:r>
                <a:r>
                  <a:rPr lang="nl-BE" sz="2400" b="1" dirty="0"/>
                  <a:t> </a:t>
                </a:r>
                <a14:m>
                  <m:oMath xmlns:m="http://schemas.openxmlformats.org/officeDocument/2006/math">
                    <m:r>
                      <a:rPr lang="nl-BE" sz="2400" b="0" i="1" smtClean="0">
                        <a:latin typeface="Cambria Math" panose="02040503050406030204" pitchFamily="18" charset="0"/>
                      </a:rPr>
                      <m:t>𝑓</m:t>
                    </m:r>
                  </m:oMath>
                </a14:m>
                <a:r>
                  <a:rPr lang="nl-BE" sz="2400" dirty="0"/>
                  <a:t>(</a:t>
                </a:r>
                <a:r>
                  <a:rPr lang="nl-BE" sz="2400" b="1" dirty="0"/>
                  <a:t>x</a:t>
                </a:r>
                <a:r>
                  <a:rPr lang="nl-BE" sz="2400" baseline="-25000" dirty="0"/>
                  <a:t>2</a:t>
                </a:r>
                <a:r>
                  <a:rPr lang="nl-BE" sz="2400" dirty="0"/>
                  <a:t>), …, </a:t>
                </a:r>
                <a14:m>
                  <m:oMath xmlns:m="http://schemas.openxmlformats.org/officeDocument/2006/math">
                    <m:r>
                      <a:rPr lang="nl-BE" sz="2400" b="0" i="1" smtClean="0">
                        <a:latin typeface="Cambria Math" panose="02040503050406030204" pitchFamily="18" charset="0"/>
                      </a:rPr>
                      <m:t>𝑓</m:t>
                    </m:r>
                  </m:oMath>
                </a14:m>
                <a:r>
                  <a:rPr lang="nl-BE" sz="2400" dirty="0"/>
                  <a:t>(</a:t>
                </a:r>
                <a:r>
                  <a:rPr lang="nl-BE" sz="2400" b="1" dirty="0"/>
                  <a:t>x</a:t>
                </a:r>
                <a:r>
                  <a:rPr lang="nl-BE" sz="2400" baseline="-25000" dirty="0"/>
                  <a:t>n</a:t>
                </a:r>
                <a:r>
                  <a:rPr lang="nl-BE" sz="2400" dirty="0"/>
                  <a:t>)</a:t>
                </a:r>
                <a:r>
                  <a:rPr lang="nl-BE" sz="2400" baseline="-25000" dirty="0"/>
                  <a:t> </a:t>
                </a:r>
                <a:r>
                  <a:rPr lang="nl-BE" sz="2400" dirty="0"/>
                  <a:t>) is distributed as a multivariate Gaussian</a:t>
                </a:r>
              </a:p>
            </p:txBody>
          </p:sp>
        </mc:Choice>
        <mc:Fallback xmlns="">
          <p:sp>
            <p:nvSpPr>
              <p:cNvPr id="8" name="Tekstvak 7">
                <a:extLst>
                  <a:ext uri="{FF2B5EF4-FFF2-40B4-BE49-F238E27FC236}">
                    <a16:creationId xmlns:a16="http://schemas.microsoft.com/office/drawing/2014/main" id="{92AE330E-C6C5-C1F4-774D-62C1767D7B57}"/>
                  </a:ext>
                </a:extLst>
              </p:cNvPr>
              <p:cNvSpPr txBox="1">
                <a:spLocks noRot="1" noChangeAspect="1" noMove="1" noResize="1" noEditPoints="1" noAdjustHandles="1" noChangeArrowheads="1" noChangeShapeType="1" noTextEdit="1"/>
              </p:cNvSpPr>
              <p:nvPr/>
            </p:nvSpPr>
            <p:spPr>
              <a:xfrm>
                <a:off x="971258" y="2003867"/>
                <a:ext cx="10425612" cy="1200329"/>
              </a:xfrm>
              <a:prstGeom prst="rect">
                <a:avLst/>
              </a:prstGeom>
              <a:blipFill>
                <a:blip r:embed="rId3"/>
                <a:stretch>
                  <a:fillRect l="-852" t="-3125" b="-11458"/>
                </a:stretch>
              </a:blipFill>
            </p:spPr>
            <p:txBody>
              <a:bodyPr/>
              <a:lstStyle/>
              <a:p>
                <a:r>
                  <a:rPr lang="nl-BE">
                    <a:noFill/>
                  </a:rPr>
                  <a:t> </a:t>
                </a:r>
              </a:p>
            </p:txBody>
          </p:sp>
        </mc:Fallback>
      </mc:AlternateContent>
      <p:sp>
        <p:nvSpPr>
          <p:cNvPr id="3" name="Tekstvak 2">
            <a:extLst>
              <a:ext uri="{FF2B5EF4-FFF2-40B4-BE49-F238E27FC236}">
                <a16:creationId xmlns:a16="http://schemas.microsoft.com/office/drawing/2014/main" id="{D5246878-F294-B68B-F7D7-6CAACC333DA9}"/>
              </a:ext>
            </a:extLst>
          </p:cNvPr>
          <p:cNvSpPr txBox="1"/>
          <p:nvPr/>
        </p:nvSpPr>
        <p:spPr>
          <a:xfrm>
            <a:off x="971257" y="3255796"/>
            <a:ext cx="10773067" cy="1200329"/>
          </a:xfrm>
          <a:prstGeom prst="rect">
            <a:avLst/>
          </a:prstGeom>
          <a:noFill/>
        </p:spPr>
        <p:txBody>
          <a:bodyPr wrap="square">
            <a:spAutoFit/>
          </a:bodyPr>
          <a:lstStyle/>
          <a:p>
            <a:r>
              <a:rPr lang="nl-BE" sz="2400" dirty="0"/>
              <a:t>In other words, we assume that the function value in every (possible) evaluation point </a:t>
            </a:r>
            <a:r>
              <a:rPr lang="nl-BE" sz="2400" b="1" dirty="0"/>
              <a:t>x</a:t>
            </a:r>
            <a:r>
              <a:rPr lang="nl-BE" sz="2400" dirty="0"/>
              <a:t> is normally distributed, and the normal distributions between individual evaluation points can either be strongly or poorly correlated</a:t>
            </a:r>
          </a:p>
        </p:txBody>
      </p:sp>
      <p:pic>
        <p:nvPicPr>
          <p:cNvPr id="4" name="Picture 2" descr="Chapter 14: Anomaly Detection Part 2: Multivariate Gaussian Distribution –  ML Study Notes">
            <a:extLst>
              <a:ext uri="{FF2B5EF4-FFF2-40B4-BE49-F238E27FC236}">
                <a16:creationId xmlns:a16="http://schemas.microsoft.com/office/drawing/2014/main" id="{FAE1927A-4643-E286-AE22-B7FA6EA7B3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3213" y="4735008"/>
            <a:ext cx="3690851" cy="2026603"/>
          </a:xfrm>
          <a:prstGeom prst="rect">
            <a:avLst/>
          </a:prstGeom>
          <a:noFill/>
          <a:extLst>
            <a:ext uri="{909E8E84-426E-40DD-AFC4-6F175D3DCCD1}">
              <a14:hiddenFill xmlns:a14="http://schemas.microsoft.com/office/drawing/2010/main">
                <a:solidFill>
                  <a:srgbClr val="FFFFFF"/>
                </a:solidFill>
              </a14:hiddenFill>
            </a:ext>
          </a:extLst>
        </p:spPr>
      </p:pic>
      <p:pic>
        <p:nvPicPr>
          <p:cNvPr id="5" name="Afbeelding 4" descr="Afbeelding met lijn, diagram, Perceel, kaart&#10;&#10;Door AI gegenereerde inhoud is mogelijk onjuist.">
            <a:extLst>
              <a:ext uri="{FF2B5EF4-FFF2-40B4-BE49-F238E27FC236}">
                <a16:creationId xmlns:a16="http://schemas.microsoft.com/office/drawing/2014/main" id="{738DBB45-A971-C58E-F8B9-0F273528FD1C}"/>
              </a:ext>
            </a:extLst>
          </p:cNvPr>
          <p:cNvPicPr>
            <a:picLocks noChangeAspect="1"/>
          </p:cNvPicPr>
          <p:nvPr/>
        </p:nvPicPr>
        <p:blipFill>
          <a:blip r:embed="rId5"/>
          <a:stretch>
            <a:fillRect/>
          </a:stretch>
        </p:blipFill>
        <p:spPr>
          <a:xfrm>
            <a:off x="6508865" y="4696325"/>
            <a:ext cx="3458154" cy="2065286"/>
          </a:xfrm>
          <a:prstGeom prst="rect">
            <a:avLst/>
          </a:prstGeom>
        </p:spPr>
      </p:pic>
      <p:sp>
        <p:nvSpPr>
          <p:cNvPr id="6" name="Tijdelijke aanduiding voor dianummer 5">
            <a:extLst>
              <a:ext uri="{FF2B5EF4-FFF2-40B4-BE49-F238E27FC236}">
                <a16:creationId xmlns:a16="http://schemas.microsoft.com/office/drawing/2014/main" id="{072853FD-E706-E4EA-9314-C208EA0C1A26}"/>
              </a:ext>
            </a:extLst>
          </p:cNvPr>
          <p:cNvSpPr>
            <a:spLocks noGrp="1"/>
          </p:cNvSpPr>
          <p:nvPr>
            <p:ph type="sldNum" sz="quarter" idx="12"/>
          </p:nvPr>
        </p:nvSpPr>
        <p:spPr/>
        <p:txBody>
          <a:bodyPr/>
          <a:lstStyle/>
          <a:p>
            <a:fld id="{45E6605D-1E32-D542-B458-1FC57A046453}" type="slidenum">
              <a:rPr lang="nl-BE" smtClean="0"/>
              <a:t>10</a:t>
            </a:fld>
            <a:endParaRPr lang="nl-BE"/>
          </a:p>
        </p:txBody>
      </p:sp>
    </p:spTree>
    <p:extLst>
      <p:ext uri="{BB962C8B-B14F-4D97-AF65-F5344CB8AC3E}">
        <p14:creationId xmlns:p14="http://schemas.microsoft.com/office/powerpoint/2010/main" val="323329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6385F-A932-9305-F699-9EDE3FBE43D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3D4110C-7EFA-41C0-DA62-1701CC6A9EB0}"/>
              </a:ext>
            </a:extLst>
          </p:cNvPr>
          <p:cNvSpPr>
            <a:spLocks noGrp="1"/>
          </p:cNvSpPr>
          <p:nvPr>
            <p:ph type="ctrTitle"/>
          </p:nvPr>
        </p:nvSpPr>
        <p:spPr>
          <a:xfrm>
            <a:off x="374754" y="184059"/>
            <a:ext cx="11362544" cy="838958"/>
          </a:xfrm>
        </p:spPr>
        <p:txBody>
          <a:bodyPr>
            <a:normAutofit fontScale="90000"/>
          </a:bodyPr>
          <a:lstStyle/>
          <a:p>
            <a:r>
              <a:rPr lang="nl-BE" b="1" dirty="0">
                <a:solidFill>
                  <a:srgbClr val="002060"/>
                </a:solidFill>
              </a:rPr>
              <a:t>Gaussian processes and regression</a:t>
            </a:r>
          </a:p>
        </p:txBody>
      </p:sp>
      <p:sp>
        <p:nvSpPr>
          <p:cNvPr id="7" name="Tekstvak 6">
            <a:extLst>
              <a:ext uri="{FF2B5EF4-FFF2-40B4-BE49-F238E27FC236}">
                <a16:creationId xmlns:a16="http://schemas.microsoft.com/office/drawing/2014/main" id="{BC7B0D1D-E846-83A3-CF1B-CEC8A163FC9F}"/>
              </a:ext>
            </a:extLst>
          </p:cNvPr>
          <p:cNvSpPr txBox="1"/>
          <p:nvPr/>
        </p:nvSpPr>
        <p:spPr>
          <a:xfrm>
            <a:off x="971261" y="1255328"/>
            <a:ext cx="10561983" cy="461665"/>
          </a:xfrm>
          <a:prstGeom prst="rect">
            <a:avLst/>
          </a:prstGeom>
          <a:noFill/>
        </p:spPr>
        <p:txBody>
          <a:bodyPr wrap="square" rtlCol="0">
            <a:spAutoFit/>
          </a:bodyPr>
          <a:lstStyle/>
          <a:p>
            <a:r>
              <a:rPr lang="nl-BE" sz="2400" dirty="0"/>
              <a:t>So, a Gaussian process is completely defined by the following two quantities</a:t>
            </a:r>
          </a:p>
        </p:txBody>
      </p:sp>
      <mc:AlternateContent xmlns:mc="http://schemas.openxmlformats.org/markup-compatibility/2006" xmlns:a14="http://schemas.microsoft.com/office/drawing/2010/main">
        <mc:Choice Requires="a14">
          <p:sp>
            <p:nvSpPr>
              <p:cNvPr id="8" name="Tekstvak 7">
                <a:extLst>
                  <a:ext uri="{FF2B5EF4-FFF2-40B4-BE49-F238E27FC236}">
                    <a16:creationId xmlns:a16="http://schemas.microsoft.com/office/drawing/2014/main" id="{DAC1AC8D-A721-A25A-2A4A-777B163C6074}"/>
                  </a:ext>
                </a:extLst>
              </p:cNvPr>
              <p:cNvSpPr txBox="1"/>
              <p:nvPr/>
            </p:nvSpPr>
            <p:spPr>
              <a:xfrm>
                <a:off x="1107632" y="1850175"/>
                <a:ext cx="10425612" cy="461665"/>
              </a:xfrm>
              <a:prstGeom prst="rect">
                <a:avLst/>
              </a:prstGeom>
              <a:noFill/>
            </p:spPr>
            <p:txBody>
              <a:bodyPr wrap="square">
                <a:spAutoFit/>
              </a:bodyPr>
              <a:lstStyle/>
              <a:p>
                <a:pPr marL="342900" indent="-342900">
                  <a:buFont typeface="Arial" panose="020B0604020202020204" pitchFamily="34" charset="0"/>
                  <a:buChar char="•"/>
                </a:pPr>
                <a:r>
                  <a:rPr lang="nl-BE" sz="2400" dirty="0"/>
                  <a:t>The </a:t>
                </a:r>
                <a:r>
                  <a:rPr lang="nl-BE" sz="2400" b="1" dirty="0"/>
                  <a:t>mean function </a:t>
                </a:r>
                <a14:m>
                  <m:oMath xmlns:m="http://schemas.openxmlformats.org/officeDocument/2006/math">
                    <m:r>
                      <a:rPr lang="nl-BE" sz="2400" b="0" i="1" smtClean="0">
                        <a:latin typeface="Cambria Math" panose="02040503050406030204" pitchFamily="18" charset="0"/>
                      </a:rPr>
                      <m:t>𝑚</m:t>
                    </m:r>
                    <m:r>
                      <a:rPr lang="nl-BE" sz="2400" b="0" i="1" smtClean="0">
                        <a:latin typeface="Cambria Math" panose="02040503050406030204" pitchFamily="18" charset="0"/>
                      </a:rPr>
                      <m:t>(</m:t>
                    </m:r>
                    <m:r>
                      <a:rPr lang="nl-BE" sz="2400" b="1" i="1" smtClean="0">
                        <a:latin typeface="Cambria Math" panose="02040503050406030204" pitchFamily="18" charset="0"/>
                      </a:rPr>
                      <m:t>𝒙</m:t>
                    </m:r>
                    <m:r>
                      <a:rPr lang="nl-BE" sz="2400" b="0" i="1" smtClean="0">
                        <a:latin typeface="Cambria Math" panose="02040503050406030204" pitchFamily="18" charset="0"/>
                      </a:rPr>
                      <m:t>)</m:t>
                    </m:r>
                  </m:oMath>
                </a14:m>
                <a:r>
                  <a:rPr lang="nl-BE" sz="2400" dirty="0"/>
                  <a:t>, assigning to each </a:t>
                </a:r>
                <a14:m>
                  <m:oMath xmlns:m="http://schemas.openxmlformats.org/officeDocument/2006/math">
                    <m:r>
                      <a:rPr lang="nl-BE" sz="2400" b="1" i="1" smtClean="0">
                        <a:latin typeface="Cambria Math" panose="02040503050406030204" pitchFamily="18" charset="0"/>
                      </a:rPr>
                      <m:t>𝒙</m:t>
                    </m:r>
                  </m:oMath>
                </a14:m>
                <a:r>
                  <a:rPr lang="nl-BE" sz="2400" dirty="0"/>
                  <a:t> the expected value </a:t>
                </a:r>
                <a14:m>
                  <m:oMath xmlns:m="http://schemas.openxmlformats.org/officeDocument/2006/math">
                    <m:r>
                      <a:rPr lang="nl-BE" sz="2400" i="1" smtClean="0">
                        <a:latin typeface="Cambria Math" panose="02040503050406030204" pitchFamily="18" charset="0"/>
                        <a:ea typeface="Cambria Math" panose="02040503050406030204" pitchFamily="18" charset="0"/>
                      </a:rPr>
                      <m:t>𝔼</m:t>
                    </m:r>
                    <m:d>
                      <m:dPr>
                        <m:begChr m:val="["/>
                        <m:endChr m:val="]"/>
                        <m:ctrlPr>
                          <a:rPr lang="nl-BE" sz="2400" i="1" smtClean="0">
                            <a:latin typeface="Cambria Math" panose="02040503050406030204" pitchFamily="18" charset="0"/>
                          </a:rPr>
                        </m:ctrlPr>
                      </m:dPr>
                      <m:e>
                        <m:r>
                          <a:rPr lang="nl-BE" sz="2400" b="0" i="1" smtClean="0">
                            <a:latin typeface="Cambria Math" panose="02040503050406030204" pitchFamily="18" charset="0"/>
                          </a:rPr>
                          <m:t>𝑓</m:t>
                        </m:r>
                        <m:r>
                          <a:rPr lang="nl-BE" sz="2400" b="0" i="1" smtClean="0">
                            <a:latin typeface="Cambria Math" panose="02040503050406030204" pitchFamily="18" charset="0"/>
                          </a:rPr>
                          <m:t>(</m:t>
                        </m:r>
                        <m:r>
                          <a:rPr lang="nl-BE" sz="2400" b="1" i="1" smtClean="0">
                            <a:latin typeface="Cambria Math" panose="02040503050406030204" pitchFamily="18" charset="0"/>
                          </a:rPr>
                          <m:t>𝒙</m:t>
                        </m:r>
                        <m:r>
                          <a:rPr lang="nl-BE" sz="2400" b="0" i="1" smtClean="0">
                            <a:latin typeface="Cambria Math" panose="02040503050406030204" pitchFamily="18" charset="0"/>
                          </a:rPr>
                          <m:t>)</m:t>
                        </m:r>
                      </m:e>
                    </m:d>
                  </m:oMath>
                </a14:m>
                <a:endParaRPr lang="nl-BE" sz="2400" dirty="0"/>
              </a:p>
            </p:txBody>
          </p:sp>
        </mc:Choice>
        <mc:Fallback xmlns="">
          <p:sp>
            <p:nvSpPr>
              <p:cNvPr id="8" name="Tekstvak 7">
                <a:extLst>
                  <a:ext uri="{FF2B5EF4-FFF2-40B4-BE49-F238E27FC236}">
                    <a16:creationId xmlns:a16="http://schemas.microsoft.com/office/drawing/2014/main" id="{DAC1AC8D-A721-A25A-2A4A-777B163C6074}"/>
                  </a:ext>
                </a:extLst>
              </p:cNvPr>
              <p:cNvSpPr txBox="1">
                <a:spLocks noRot="1" noChangeAspect="1" noMove="1" noResize="1" noEditPoints="1" noAdjustHandles="1" noChangeArrowheads="1" noChangeShapeType="1" noTextEdit="1"/>
              </p:cNvSpPr>
              <p:nvPr/>
            </p:nvSpPr>
            <p:spPr>
              <a:xfrm>
                <a:off x="1107632" y="1850175"/>
                <a:ext cx="10425612" cy="461665"/>
              </a:xfrm>
              <a:prstGeom prst="rect">
                <a:avLst/>
              </a:prstGeom>
              <a:blipFill>
                <a:blip r:embed="rId3"/>
                <a:stretch>
                  <a:fillRect l="-852" t="-10811" b="-29730"/>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5" name="Tekstvak 4">
                <a:extLst>
                  <a:ext uri="{FF2B5EF4-FFF2-40B4-BE49-F238E27FC236}">
                    <a16:creationId xmlns:a16="http://schemas.microsoft.com/office/drawing/2014/main" id="{7BF40934-F355-1943-D34E-D64112EE1D43}"/>
                  </a:ext>
                </a:extLst>
              </p:cNvPr>
              <p:cNvSpPr txBox="1"/>
              <p:nvPr/>
            </p:nvSpPr>
            <p:spPr>
              <a:xfrm>
                <a:off x="1107632" y="2445022"/>
                <a:ext cx="10425612" cy="890500"/>
              </a:xfrm>
              <a:prstGeom prst="rect">
                <a:avLst/>
              </a:prstGeom>
              <a:noFill/>
            </p:spPr>
            <p:txBody>
              <a:bodyPr wrap="square">
                <a:spAutoFit/>
              </a:bodyPr>
              <a:lstStyle/>
              <a:p>
                <a:pPr marL="342900" indent="-342900">
                  <a:buFont typeface="Arial" panose="020B0604020202020204" pitchFamily="34" charset="0"/>
                  <a:buChar char="•"/>
                </a:pPr>
                <a:r>
                  <a:rPr lang="nl-BE" sz="2400" dirty="0"/>
                  <a:t>The </a:t>
                </a:r>
                <a:r>
                  <a:rPr lang="nl-BE" sz="2400" b="1" dirty="0"/>
                  <a:t>covariance function</a:t>
                </a:r>
                <a:r>
                  <a:rPr lang="nl-BE" sz="2400" dirty="0"/>
                  <a:t> </a:t>
                </a:r>
                <a14:m>
                  <m:oMath xmlns:m="http://schemas.openxmlformats.org/officeDocument/2006/math">
                    <m:r>
                      <a:rPr lang="nl-BE" sz="2400" b="0" i="1" smtClean="0">
                        <a:latin typeface="Cambria Math" panose="02040503050406030204" pitchFamily="18" charset="0"/>
                      </a:rPr>
                      <m:t>𝐾</m:t>
                    </m:r>
                    <m:r>
                      <a:rPr lang="nl-BE" sz="2400" b="0" i="1" smtClean="0">
                        <a:latin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𝑖</m:t>
                        </m:r>
                      </m:sub>
                    </m:sSub>
                    <m:r>
                      <a:rPr lang="nl-BE" sz="2400" b="0" i="1" smtClean="0">
                        <a:latin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𝑗</m:t>
                        </m:r>
                      </m:sub>
                    </m:sSub>
                    <m:r>
                      <a:rPr lang="nl-BE" sz="2400" b="0" i="1" smtClean="0">
                        <a:latin typeface="Cambria Math" panose="02040503050406030204" pitchFamily="18" charset="0"/>
                      </a:rPr>
                      <m:t>)</m:t>
                    </m:r>
                  </m:oMath>
                </a14:m>
                <a:r>
                  <a:rPr lang="nl-BE" sz="2400" dirty="0"/>
                  <a:t>, assigning to each pair of points</a:t>
                </a:r>
                <a14:m>
                  <m:oMath xmlns:m="http://schemas.openxmlformats.org/officeDocument/2006/math">
                    <m:r>
                      <a:rPr lang="nl-BE" sz="2400" b="0" i="0" smtClean="0">
                        <a:latin typeface="Cambria Math" panose="02040503050406030204" pitchFamily="18" charset="0"/>
                        <a:ea typeface="Cambria Math" panose="02040503050406030204" pitchFamily="18" charset="0"/>
                      </a:rPr>
                      <m:t> </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𝑖</m:t>
                        </m:r>
                      </m:sub>
                    </m:sSub>
                    <m:r>
                      <a:rPr lang="nl-BE" sz="2400" b="0" i="1" smtClean="0">
                        <a:latin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𝑗</m:t>
                        </m:r>
                      </m:sub>
                    </m:sSub>
                  </m:oMath>
                </a14:m>
                <a:r>
                  <a:rPr lang="nl-BE" sz="2400" dirty="0"/>
                  <a:t> the covariance (or correlation) between </a:t>
                </a:r>
                <a14:m>
                  <m:oMath xmlns:m="http://schemas.openxmlformats.org/officeDocument/2006/math">
                    <m:r>
                      <a:rPr lang="nl-BE" sz="2400" b="0" i="1" smtClean="0">
                        <a:latin typeface="Cambria Math" panose="02040503050406030204" pitchFamily="18" charset="0"/>
                      </a:rPr>
                      <m:t>𝑓</m:t>
                    </m:r>
                    <m:r>
                      <a:rPr lang="nl-BE" sz="2400" b="0" i="0" smtClean="0">
                        <a:latin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𝑖</m:t>
                        </m:r>
                      </m:sub>
                    </m:sSub>
                    <m:r>
                      <a:rPr lang="nl-BE" sz="2400" b="1" i="1" smtClean="0">
                        <a:latin typeface="Cambria Math" panose="02040503050406030204" pitchFamily="18" charset="0"/>
                      </a:rPr>
                      <m:t>) </m:t>
                    </m:r>
                  </m:oMath>
                </a14:m>
                <a:r>
                  <a:rPr lang="nl-BE" sz="2400" dirty="0"/>
                  <a:t>and</a:t>
                </a:r>
                <a14:m>
                  <m:oMath xmlns:m="http://schemas.openxmlformats.org/officeDocument/2006/math">
                    <m:r>
                      <a:rPr lang="nl-BE" sz="2400" b="0" i="1" smtClean="0">
                        <a:latin typeface="Cambria Math" panose="02040503050406030204" pitchFamily="18" charset="0"/>
                      </a:rPr>
                      <m:t>𝑓</m:t>
                    </m:r>
                    <m:r>
                      <a:rPr lang="nl-BE" sz="2400" b="0" i="0" smtClean="0">
                        <a:latin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𝑗</m:t>
                        </m:r>
                      </m:sub>
                    </m:sSub>
                    <m:r>
                      <a:rPr lang="nl-BE" sz="2400" b="1" i="1" smtClean="0">
                        <a:latin typeface="Cambria Math" panose="02040503050406030204" pitchFamily="18" charset="0"/>
                      </a:rPr>
                      <m:t>)</m:t>
                    </m:r>
                  </m:oMath>
                </a14:m>
                <a:endParaRPr lang="nl-BE" sz="2400" dirty="0"/>
              </a:p>
            </p:txBody>
          </p:sp>
        </mc:Choice>
        <mc:Fallback xmlns="">
          <p:sp>
            <p:nvSpPr>
              <p:cNvPr id="5" name="Tekstvak 4">
                <a:extLst>
                  <a:ext uri="{FF2B5EF4-FFF2-40B4-BE49-F238E27FC236}">
                    <a16:creationId xmlns:a16="http://schemas.microsoft.com/office/drawing/2014/main" id="{7BF40934-F355-1943-D34E-D64112EE1D43}"/>
                  </a:ext>
                </a:extLst>
              </p:cNvPr>
              <p:cNvSpPr txBox="1">
                <a:spLocks noRot="1" noChangeAspect="1" noMove="1" noResize="1" noEditPoints="1" noAdjustHandles="1" noChangeArrowheads="1" noChangeShapeType="1" noTextEdit="1"/>
              </p:cNvSpPr>
              <p:nvPr/>
            </p:nvSpPr>
            <p:spPr>
              <a:xfrm>
                <a:off x="1107632" y="2445022"/>
                <a:ext cx="10425612" cy="890500"/>
              </a:xfrm>
              <a:prstGeom prst="rect">
                <a:avLst/>
              </a:prstGeom>
              <a:blipFill>
                <a:blip r:embed="rId4"/>
                <a:stretch>
                  <a:fillRect l="-852" t="-4225" b="-12676"/>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6" name="Tekstvak 5">
                <a:extLst>
                  <a:ext uri="{FF2B5EF4-FFF2-40B4-BE49-F238E27FC236}">
                    <a16:creationId xmlns:a16="http://schemas.microsoft.com/office/drawing/2014/main" id="{D31AD95D-59E3-46D2-5ECF-1EB5E83663EC}"/>
                  </a:ext>
                </a:extLst>
              </p:cNvPr>
              <p:cNvSpPr txBox="1"/>
              <p:nvPr/>
            </p:nvSpPr>
            <p:spPr>
              <a:xfrm>
                <a:off x="1107632" y="3486761"/>
                <a:ext cx="10425612" cy="860748"/>
              </a:xfrm>
              <a:prstGeom prst="rect">
                <a:avLst/>
              </a:prstGeom>
              <a:noFill/>
            </p:spPr>
            <p:txBody>
              <a:bodyPr wrap="square">
                <a:spAutoFit/>
              </a:bodyPr>
              <a:lstStyle/>
              <a:p>
                <a:r>
                  <a:rPr lang="nl-BE" sz="2400" dirty="0"/>
                  <a:t>The covariance function </a:t>
                </a:r>
                <a14:m>
                  <m:oMath xmlns:m="http://schemas.openxmlformats.org/officeDocument/2006/math">
                    <m:r>
                      <a:rPr lang="nl-BE" sz="2400" b="0" i="1" smtClean="0">
                        <a:latin typeface="Cambria Math" panose="02040503050406030204" pitchFamily="18" charset="0"/>
                      </a:rPr>
                      <m:t>𝐾</m:t>
                    </m:r>
                    <m:r>
                      <a:rPr lang="nl-BE" sz="2400" b="0" i="1" smtClean="0">
                        <a:latin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𝑖</m:t>
                        </m:r>
                      </m:sub>
                    </m:sSub>
                    <m:r>
                      <a:rPr lang="nl-BE" sz="2400" b="0" i="1" smtClean="0">
                        <a:latin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𝑗</m:t>
                        </m:r>
                      </m:sub>
                    </m:sSub>
                    <m:r>
                      <a:rPr lang="nl-BE" sz="2400" b="0" i="1" smtClean="0">
                        <a:latin typeface="Cambria Math" panose="02040503050406030204" pitchFamily="18" charset="0"/>
                      </a:rPr>
                      <m:t>)</m:t>
                    </m:r>
                  </m:oMath>
                </a14:m>
                <a:r>
                  <a:rPr lang="nl-BE" sz="2400" dirty="0"/>
                  <a:t> is also called the </a:t>
                </a:r>
                <a:r>
                  <a:rPr lang="nl-BE" sz="2400" i="1" dirty="0"/>
                  <a:t>kernel</a:t>
                </a:r>
                <a:r>
                  <a:rPr lang="nl-BE" sz="2400" dirty="0"/>
                  <a:t> of the Gaussian process </a:t>
                </a:r>
                <a:r>
                  <a:rPr lang="nl-BE" sz="2400" dirty="0">
                    <a:sym typeface="Wingdings" pitchFamily="2" charset="2"/>
                  </a:rPr>
                  <a:t> the radial basis function (RBF) kernel is a common choice:</a:t>
                </a:r>
                <a:endParaRPr lang="nl-BE" sz="2400" dirty="0"/>
              </a:p>
            </p:txBody>
          </p:sp>
        </mc:Choice>
        <mc:Fallback xmlns="">
          <p:sp>
            <p:nvSpPr>
              <p:cNvPr id="6" name="Tekstvak 5">
                <a:extLst>
                  <a:ext uri="{FF2B5EF4-FFF2-40B4-BE49-F238E27FC236}">
                    <a16:creationId xmlns:a16="http://schemas.microsoft.com/office/drawing/2014/main" id="{D31AD95D-59E3-46D2-5ECF-1EB5E83663EC}"/>
                  </a:ext>
                </a:extLst>
              </p:cNvPr>
              <p:cNvSpPr txBox="1">
                <a:spLocks noRot="1" noChangeAspect="1" noMove="1" noResize="1" noEditPoints="1" noAdjustHandles="1" noChangeArrowheads="1" noChangeShapeType="1" noTextEdit="1"/>
              </p:cNvSpPr>
              <p:nvPr/>
            </p:nvSpPr>
            <p:spPr>
              <a:xfrm>
                <a:off x="1107632" y="3486761"/>
                <a:ext cx="10425612" cy="860748"/>
              </a:xfrm>
              <a:prstGeom prst="rect">
                <a:avLst/>
              </a:prstGeom>
              <a:blipFill>
                <a:blip r:embed="rId5"/>
                <a:stretch>
                  <a:fillRect l="-973" t="-4348" b="-15942"/>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9" name="Tekstvak 8">
                <a:extLst>
                  <a:ext uri="{FF2B5EF4-FFF2-40B4-BE49-F238E27FC236}">
                    <a16:creationId xmlns:a16="http://schemas.microsoft.com/office/drawing/2014/main" id="{600DF559-3741-7C12-9650-CA0462FF9010}"/>
                  </a:ext>
                </a:extLst>
              </p:cNvPr>
              <p:cNvSpPr txBox="1"/>
              <p:nvPr/>
            </p:nvSpPr>
            <p:spPr>
              <a:xfrm>
                <a:off x="738975" y="4775584"/>
                <a:ext cx="6097384" cy="8879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nl-BE" sz="2400" b="0" i="1" smtClean="0">
                          <a:latin typeface="Cambria Math" panose="02040503050406030204" pitchFamily="18" charset="0"/>
                        </a:rPr>
                        <m:t>𝐾</m:t>
                      </m:r>
                      <m:d>
                        <m:dPr>
                          <m:ctrlPr>
                            <a:rPr lang="nl-BE" sz="2400" b="0" i="1" smtClean="0">
                              <a:latin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𝑖</m:t>
                              </m:r>
                            </m:sub>
                          </m:sSub>
                          <m:r>
                            <a:rPr lang="nl-BE" sz="2400" b="0" i="1" smtClean="0">
                              <a:latin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𝑗</m:t>
                              </m:r>
                            </m:sub>
                          </m:sSub>
                        </m:e>
                      </m:d>
                      <m:r>
                        <a:rPr lang="nl-BE" sz="2400" b="1" i="1" smtClean="0">
                          <a:latin typeface="Cambria Math" panose="02040503050406030204" pitchFamily="18" charset="0"/>
                        </a:rPr>
                        <m:t>≔</m:t>
                      </m:r>
                      <m:r>
                        <a:rPr lang="nl-BE" sz="2400" b="0" i="1" smtClean="0">
                          <a:latin typeface="Cambria Math" panose="02040503050406030204" pitchFamily="18" charset="0"/>
                        </a:rPr>
                        <m:t>𝑘</m:t>
                      </m:r>
                      <m:r>
                        <a:rPr lang="nl-BE" sz="2400" b="0" i="1" smtClean="0">
                          <a:latin typeface="Cambria Math" panose="02040503050406030204" pitchFamily="18" charset="0"/>
                        </a:rPr>
                        <m:t>∗</m:t>
                      </m:r>
                      <m:sSup>
                        <m:sSupPr>
                          <m:ctrlPr>
                            <a:rPr lang="nl-BE" sz="2400" b="0" i="1" smtClean="0">
                              <a:latin typeface="Cambria Math" panose="02040503050406030204" pitchFamily="18" charset="0"/>
                            </a:rPr>
                          </m:ctrlPr>
                        </m:sSupPr>
                        <m:e>
                          <m:r>
                            <a:rPr lang="nl-BE" sz="2400" b="0" i="1" smtClean="0">
                              <a:latin typeface="Cambria Math" panose="02040503050406030204" pitchFamily="18" charset="0"/>
                            </a:rPr>
                            <m:t>𝑒</m:t>
                          </m:r>
                        </m:e>
                        <m:sup>
                          <m:r>
                            <a:rPr lang="nl-BE" sz="2400" b="0" i="1" smtClean="0">
                              <a:latin typeface="Cambria Math" panose="02040503050406030204" pitchFamily="18" charset="0"/>
                            </a:rPr>
                            <m:t>−</m:t>
                          </m:r>
                          <m:f>
                            <m:fPr>
                              <m:ctrlPr>
                                <a:rPr lang="nl-BE" sz="2400" b="0" i="1" smtClean="0">
                                  <a:latin typeface="Cambria Math" panose="02040503050406030204" pitchFamily="18" charset="0"/>
                                </a:rPr>
                              </m:ctrlPr>
                            </m:fPr>
                            <m:num>
                              <m:sSubSup>
                                <m:sSubSupPr>
                                  <m:ctrlPr>
                                    <a:rPr lang="nl-BE" sz="2400" b="0" i="1" smtClean="0">
                                      <a:latin typeface="Cambria Math" panose="02040503050406030204" pitchFamily="18" charset="0"/>
                                    </a:rPr>
                                  </m:ctrlPr>
                                </m:sSubSupPr>
                                <m:e>
                                  <m:d>
                                    <m:dPr>
                                      <m:begChr m:val="‖"/>
                                      <m:endChr m:val="‖"/>
                                      <m:ctrlPr>
                                        <a:rPr lang="nl-BE" sz="2400" b="0" i="1" smtClean="0">
                                          <a:latin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𝑖</m:t>
                                          </m:r>
                                        </m:sub>
                                      </m:sSub>
                                      <m:r>
                                        <a:rPr lang="nl-BE" sz="2400" b="0" i="1" smtClean="0">
                                          <a:latin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𝑗</m:t>
                                          </m:r>
                                        </m:sub>
                                      </m:sSub>
                                    </m:e>
                                  </m:d>
                                </m:e>
                                <m:sub>
                                  <m:r>
                                    <a:rPr lang="nl-BE" sz="2400" b="0" i="1" smtClean="0">
                                      <a:latin typeface="Cambria Math" panose="02040503050406030204" pitchFamily="18" charset="0"/>
                                    </a:rPr>
                                    <m:t> </m:t>
                                  </m:r>
                                </m:sub>
                                <m:sup>
                                  <m:r>
                                    <a:rPr lang="nl-BE" sz="2400" b="0" i="1" smtClean="0">
                                      <a:latin typeface="Cambria Math" panose="02040503050406030204" pitchFamily="18" charset="0"/>
                                    </a:rPr>
                                    <m:t>2</m:t>
                                  </m:r>
                                </m:sup>
                              </m:sSubSup>
                            </m:num>
                            <m:den>
                              <m:r>
                                <a:rPr lang="nl-BE" sz="2400" b="0" i="1" smtClean="0">
                                  <a:latin typeface="Cambria Math" panose="02040503050406030204" pitchFamily="18" charset="0"/>
                                </a:rPr>
                                <m:t>2</m:t>
                              </m:r>
                              <m:sSup>
                                <m:sSupPr>
                                  <m:ctrlPr>
                                    <a:rPr lang="nl-BE" sz="2400" b="0" i="1" smtClean="0">
                                      <a:latin typeface="Cambria Math" panose="02040503050406030204" pitchFamily="18" charset="0"/>
                                    </a:rPr>
                                  </m:ctrlPr>
                                </m:sSupPr>
                                <m:e>
                                  <m:r>
                                    <a:rPr lang="nl-BE" sz="2400" b="0" i="1" smtClean="0">
                                      <a:latin typeface="Cambria Math" panose="02040503050406030204" pitchFamily="18" charset="0"/>
                                      <a:ea typeface="Cambria Math" panose="02040503050406030204" pitchFamily="18" charset="0"/>
                                    </a:rPr>
                                    <m:t>𝜎</m:t>
                                  </m:r>
                                </m:e>
                                <m:sup>
                                  <m:r>
                                    <a:rPr lang="nl-BE" sz="2400" b="0" i="1" smtClean="0">
                                      <a:latin typeface="Cambria Math" panose="02040503050406030204" pitchFamily="18" charset="0"/>
                                    </a:rPr>
                                    <m:t>2</m:t>
                                  </m:r>
                                </m:sup>
                              </m:sSup>
                            </m:den>
                          </m:f>
                        </m:sup>
                      </m:sSup>
                    </m:oMath>
                  </m:oMathPara>
                </a14:m>
                <a:endParaRPr lang="nl-BE" sz="2400" dirty="0"/>
              </a:p>
            </p:txBody>
          </p:sp>
        </mc:Choice>
        <mc:Fallback xmlns="">
          <p:sp>
            <p:nvSpPr>
              <p:cNvPr id="9" name="Tekstvak 8">
                <a:extLst>
                  <a:ext uri="{FF2B5EF4-FFF2-40B4-BE49-F238E27FC236}">
                    <a16:creationId xmlns:a16="http://schemas.microsoft.com/office/drawing/2014/main" id="{600DF559-3741-7C12-9650-CA0462FF9010}"/>
                  </a:ext>
                </a:extLst>
              </p:cNvPr>
              <p:cNvSpPr txBox="1">
                <a:spLocks noRot="1" noChangeAspect="1" noMove="1" noResize="1" noEditPoints="1" noAdjustHandles="1" noChangeArrowheads="1" noChangeShapeType="1" noTextEdit="1"/>
              </p:cNvSpPr>
              <p:nvPr/>
            </p:nvSpPr>
            <p:spPr>
              <a:xfrm>
                <a:off x="738975" y="4775584"/>
                <a:ext cx="6097384" cy="887935"/>
              </a:xfrm>
              <a:prstGeom prst="rect">
                <a:avLst/>
              </a:prstGeom>
              <a:blipFill>
                <a:blip r:embed="rId6"/>
                <a:stretch>
                  <a:fillRect b="-7042"/>
                </a:stretch>
              </a:blipFill>
            </p:spPr>
            <p:txBody>
              <a:bodyPr/>
              <a:lstStyle/>
              <a:p>
                <a:r>
                  <a:rPr lang="nl-BE">
                    <a:noFill/>
                  </a:rPr>
                  <a:t> </a:t>
                </a:r>
              </a:p>
            </p:txBody>
          </p:sp>
        </mc:Fallback>
      </mc:AlternateContent>
      <p:sp>
        <p:nvSpPr>
          <p:cNvPr id="3" name="Tijdelijke aanduiding voor dianummer 2">
            <a:extLst>
              <a:ext uri="{FF2B5EF4-FFF2-40B4-BE49-F238E27FC236}">
                <a16:creationId xmlns:a16="http://schemas.microsoft.com/office/drawing/2014/main" id="{AA15CAA7-A67E-AABC-4EB7-CB14439966D7}"/>
              </a:ext>
            </a:extLst>
          </p:cNvPr>
          <p:cNvSpPr>
            <a:spLocks noGrp="1"/>
          </p:cNvSpPr>
          <p:nvPr>
            <p:ph type="sldNum" sz="quarter" idx="12"/>
          </p:nvPr>
        </p:nvSpPr>
        <p:spPr/>
        <p:txBody>
          <a:bodyPr/>
          <a:lstStyle/>
          <a:p>
            <a:fld id="{45E6605D-1E32-D542-B458-1FC57A046453}" type="slidenum">
              <a:rPr lang="nl-BE" smtClean="0"/>
              <a:t>11</a:t>
            </a:fld>
            <a:endParaRPr lang="nl-BE"/>
          </a:p>
        </p:txBody>
      </p:sp>
      <p:pic>
        <p:nvPicPr>
          <p:cNvPr id="4" name="Picture 2" descr="undefined">
            <a:extLst>
              <a:ext uri="{FF2B5EF4-FFF2-40B4-BE49-F238E27FC236}">
                <a16:creationId xmlns:a16="http://schemas.microsoft.com/office/drawing/2014/main" id="{CF172B85-A7EE-21A9-ABDE-CEF82000BB8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6000" y="4378360"/>
            <a:ext cx="3831641" cy="2448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5223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5" grpId="0"/>
      <p:bldP spid="6"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352F7-B30F-93AB-786D-29FC52C0014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27FE842-7039-64D6-B027-5709887D619C}"/>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Covariance functions</a:t>
            </a:r>
          </a:p>
        </p:txBody>
      </p:sp>
      <p:sp>
        <p:nvSpPr>
          <p:cNvPr id="7" name="Tekstvak 6">
            <a:extLst>
              <a:ext uri="{FF2B5EF4-FFF2-40B4-BE49-F238E27FC236}">
                <a16:creationId xmlns:a16="http://schemas.microsoft.com/office/drawing/2014/main" id="{1D6931CB-8DA0-D42F-F68F-54CB6594DC64}"/>
              </a:ext>
            </a:extLst>
          </p:cNvPr>
          <p:cNvSpPr txBox="1"/>
          <p:nvPr/>
        </p:nvSpPr>
        <p:spPr>
          <a:xfrm>
            <a:off x="971261" y="1255328"/>
            <a:ext cx="10561983" cy="461665"/>
          </a:xfrm>
          <a:prstGeom prst="rect">
            <a:avLst/>
          </a:prstGeom>
          <a:noFill/>
        </p:spPr>
        <p:txBody>
          <a:bodyPr wrap="square" rtlCol="0">
            <a:spAutoFit/>
          </a:bodyPr>
          <a:lstStyle/>
          <a:p>
            <a:r>
              <a:rPr lang="nl-BE" sz="2400" dirty="0"/>
              <a:t>What is the influence of the parameters in the RBF kernel?</a:t>
            </a:r>
          </a:p>
        </p:txBody>
      </p:sp>
      <p:pic>
        <p:nvPicPr>
          <p:cNvPr id="4" name="Afbeelding 3" descr="Afbeelding met diagram, lijn, kaart, Perceel&#10;&#10;Door AI gegenereerde inhoud is mogelijk onjuist.">
            <a:extLst>
              <a:ext uri="{FF2B5EF4-FFF2-40B4-BE49-F238E27FC236}">
                <a16:creationId xmlns:a16="http://schemas.microsoft.com/office/drawing/2014/main" id="{BA0A2B3B-E552-400E-179E-3EE810B78439}"/>
              </a:ext>
            </a:extLst>
          </p:cNvPr>
          <p:cNvPicPr>
            <a:picLocks noChangeAspect="1"/>
          </p:cNvPicPr>
          <p:nvPr/>
        </p:nvPicPr>
        <p:blipFill>
          <a:blip r:embed="rId3"/>
          <a:stretch>
            <a:fillRect/>
          </a:stretch>
        </p:blipFill>
        <p:spPr>
          <a:xfrm>
            <a:off x="1392811" y="1806728"/>
            <a:ext cx="7772400" cy="4714875"/>
          </a:xfrm>
          <a:prstGeom prst="rect">
            <a:avLst/>
          </a:prstGeom>
        </p:spPr>
      </p:pic>
      <p:sp>
        <p:nvSpPr>
          <p:cNvPr id="3" name="Tijdelijke aanduiding voor dianummer 2">
            <a:extLst>
              <a:ext uri="{FF2B5EF4-FFF2-40B4-BE49-F238E27FC236}">
                <a16:creationId xmlns:a16="http://schemas.microsoft.com/office/drawing/2014/main" id="{907CD76D-0BAA-D816-0931-47D284338DE6}"/>
              </a:ext>
            </a:extLst>
          </p:cNvPr>
          <p:cNvSpPr>
            <a:spLocks noGrp="1"/>
          </p:cNvSpPr>
          <p:nvPr>
            <p:ph type="sldNum" sz="quarter" idx="12"/>
          </p:nvPr>
        </p:nvSpPr>
        <p:spPr/>
        <p:txBody>
          <a:bodyPr/>
          <a:lstStyle/>
          <a:p>
            <a:fld id="{45E6605D-1E32-D542-B458-1FC57A046453}" type="slidenum">
              <a:rPr lang="nl-BE" smtClean="0"/>
              <a:t>12</a:t>
            </a:fld>
            <a:endParaRPr lang="nl-BE"/>
          </a:p>
        </p:txBody>
      </p:sp>
    </p:spTree>
    <p:extLst>
      <p:ext uri="{BB962C8B-B14F-4D97-AF65-F5344CB8AC3E}">
        <p14:creationId xmlns:p14="http://schemas.microsoft.com/office/powerpoint/2010/main" val="1671234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5464A-5C86-0330-D70C-318C1CE0E25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6592F39-7BA1-2E76-C80A-80E928B86DB4}"/>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Defining the prior</a:t>
            </a:r>
          </a:p>
        </p:txBody>
      </p:sp>
      <mc:AlternateContent xmlns:mc="http://schemas.openxmlformats.org/markup-compatibility/2006" xmlns:a14="http://schemas.microsoft.com/office/drawing/2010/main">
        <mc:Choice Requires="a14">
          <p:sp>
            <p:nvSpPr>
              <p:cNvPr id="7" name="Tekstvak 6">
                <a:extLst>
                  <a:ext uri="{FF2B5EF4-FFF2-40B4-BE49-F238E27FC236}">
                    <a16:creationId xmlns:a16="http://schemas.microsoft.com/office/drawing/2014/main" id="{C310BCE4-CC66-377D-3C83-16496F468CA0}"/>
                  </a:ext>
                </a:extLst>
              </p:cNvPr>
              <p:cNvSpPr txBox="1"/>
              <p:nvPr/>
            </p:nvSpPr>
            <p:spPr>
              <a:xfrm>
                <a:off x="971261" y="1255328"/>
                <a:ext cx="10561983" cy="830997"/>
              </a:xfrm>
              <a:prstGeom prst="rect">
                <a:avLst/>
              </a:prstGeom>
              <a:noFill/>
            </p:spPr>
            <p:txBody>
              <a:bodyPr wrap="square" rtlCol="0">
                <a:spAutoFit/>
              </a:bodyPr>
              <a:lstStyle/>
              <a:p>
                <a:r>
                  <a:rPr lang="nl-BE" sz="2400" dirty="0"/>
                  <a:t>With the help of the covariance function, we can define the conditional distribution of </a:t>
                </a:r>
                <a14:m>
                  <m:oMath xmlns:m="http://schemas.openxmlformats.org/officeDocument/2006/math">
                    <m:r>
                      <a:rPr lang="nl-BE" sz="2400" i="1">
                        <a:latin typeface="Cambria Math" panose="02040503050406030204" pitchFamily="18" charset="0"/>
                      </a:rPr>
                      <m:t>𝑓</m:t>
                    </m:r>
                    <m:r>
                      <a:rPr lang="nl-BE" sz="2400">
                        <a:latin typeface="Cambria Math" panose="02040503050406030204" pitchFamily="18" charset="0"/>
                      </a:rPr>
                      <m:t>(</m:t>
                    </m:r>
                    <m:r>
                      <a:rPr lang="nl-BE" sz="2400" b="1" i="1">
                        <a:latin typeface="Cambria Math" panose="02040503050406030204" pitchFamily="18" charset="0"/>
                      </a:rPr>
                      <m:t>𝒙</m:t>
                    </m:r>
                    <m:r>
                      <a:rPr lang="nl-BE" sz="2400" b="1" i="1">
                        <a:latin typeface="Cambria Math" panose="02040503050406030204" pitchFamily="18" charset="0"/>
                      </a:rPr>
                      <m:t>) </m:t>
                    </m:r>
                  </m:oMath>
                </a14:m>
                <a:r>
                  <a:rPr lang="nl-BE" sz="2400" dirty="0"/>
                  <a:t>for any </a:t>
                </a:r>
                <a14:m>
                  <m:oMath xmlns:m="http://schemas.openxmlformats.org/officeDocument/2006/math">
                    <m:r>
                      <a:rPr lang="nl-BE" sz="2400" b="1" i="1">
                        <a:latin typeface="Cambria Math" panose="02040503050406030204" pitchFamily="18" charset="0"/>
                      </a:rPr>
                      <m:t>𝒙</m:t>
                    </m:r>
                  </m:oMath>
                </a14:m>
                <a:r>
                  <a:rPr lang="nl-BE" sz="2400" dirty="0"/>
                  <a:t> (NO PROOF):</a:t>
                </a:r>
              </a:p>
            </p:txBody>
          </p:sp>
        </mc:Choice>
        <mc:Fallback xmlns="">
          <p:sp>
            <p:nvSpPr>
              <p:cNvPr id="7" name="Tekstvak 6">
                <a:extLst>
                  <a:ext uri="{FF2B5EF4-FFF2-40B4-BE49-F238E27FC236}">
                    <a16:creationId xmlns:a16="http://schemas.microsoft.com/office/drawing/2014/main" id="{C310BCE4-CC66-377D-3C83-16496F468CA0}"/>
                  </a:ext>
                </a:extLst>
              </p:cNvPr>
              <p:cNvSpPr txBox="1">
                <a:spLocks noRot="1" noChangeAspect="1" noMove="1" noResize="1" noEditPoints="1" noAdjustHandles="1" noChangeArrowheads="1" noChangeShapeType="1" noTextEdit="1"/>
              </p:cNvSpPr>
              <p:nvPr/>
            </p:nvSpPr>
            <p:spPr>
              <a:xfrm>
                <a:off x="971261" y="1255328"/>
                <a:ext cx="10561983" cy="830997"/>
              </a:xfrm>
              <a:prstGeom prst="rect">
                <a:avLst/>
              </a:prstGeom>
              <a:blipFill>
                <a:blip r:embed="rId3"/>
                <a:stretch>
                  <a:fillRect l="-840" t="-4478" b="-16418"/>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3" name="Tekstvak 2">
                <a:extLst>
                  <a:ext uri="{FF2B5EF4-FFF2-40B4-BE49-F238E27FC236}">
                    <a16:creationId xmlns:a16="http://schemas.microsoft.com/office/drawing/2014/main" id="{ABD15DAF-9A8E-CCC7-9E56-9DC4297CA178}"/>
                  </a:ext>
                </a:extLst>
              </p:cNvPr>
              <p:cNvSpPr txBox="1"/>
              <p:nvPr/>
            </p:nvSpPr>
            <p:spPr>
              <a:xfrm>
                <a:off x="971258" y="2318636"/>
                <a:ext cx="10561982" cy="1218732"/>
              </a:xfrm>
              <a:prstGeom prst="rect">
                <a:avLst/>
              </a:prstGeom>
              <a:noFill/>
            </p:spPr>
            <p:txBody>
              <a:bodyPr wrap="square">
                <a:spAutoFit/>
              </a:bodyPr>
              <a:lstStyle/>
              <a:p>
                <a14:m>
                  <m:oMath xmlns:m="http://schemas.openxmlformats.org/officeDocument/2006/math">
                    <m:r>
                      <a:rPr lang="nl-BE" sz="2400" b="0" i="1" smtClean="0">
                        <a:latin typeface="Cambria Math" panose="02040503050406030204" pitchFamily="18" charset="0"/>
                        <a:ea typeface="Cambria Math" panose="02040503050406030204" pitchFamily="18" charset="0"/>
                      </a:rPr>
                      <m:t>𝜇</m:t>
                    </m:r>
                    <m:d>
                      <m:dPr>
                        <m:ctrlPr>
                          <a:rPr lang="nl-BE" sz="2400" b="0" i="1" smtClean="0">
                            <a:latin typeface="Cambria Math" panose="02040503050406030204" pitchFamily="18" charset="0"/>
                            <a:ea typeface="Cambria Math" panose="02040503050406030204" pitchFamily="18" charset="0"/>
                          </a:rPr>
                        </m:ctrlPr>
                      </m:dPr>
                      <m:e>
                        <m:r>
                          <a:rPr lang="nl-BE" sz="2400" b="1" i="1" smtClean="0">
                            <a:latin typeface="Cambria Math" panose="02040503050406030204" pitchFamily="18" charset="0"/>
                            <a:ea typeface="Cambria Math" panose="02040503050406030204" pitchFamily="18" charset="0"/>
                          </a:rPr>
                          <m:t>𝒙</m:t>
                        </m:r>
                      </m:e>
                    </m:d>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𝑚</m:t>
                    </m:r>
                    <m:d>
                      <m:dPr>
                        <m:ctrlPr>
                          <a:rPr lang="nl-BE" sz="2400" b="0" i="1" smtClean="0">
                            <a:latin typeface="Cambria Math" panose="02040503050406030204" pitchFamily="18" charset="0"/>
                            <a:ea typeface="Cambria Math" panose="02040503050406030204" pitchFamily="18" charset="0"/>
                          </a:rPr>
                        </m:ctrlPr>
                      </m:dPr>
                      <m:e>
                        <m:r>
                          <a:rPr lang="nl-BE" sz="2400" b="1" i="1" smtClean="0">
                            <a:latin typeface="Cambria Math" panose="02040503050406030204" pitchFamily="18" charset="0"/>
                            <a:ea typeface="Cambria Math" panose="02040503050406030204" pitchFamily="18" charset="0"/>
                          </a:rPr>
                          <m:t>𝒙</m:t>
                        </m:r>
                      </m:e>
                    </m:d>
                    <m:r>
                      <a:rPr lang="nl-BE" sz="2400" b="0" i="1" smtClean="0">
                        <a:latin typeface="Cambria Math" panose="02040503050406030204" pitchFamily="18" charset="0"/>
                        <a:ea typeface="Cambria Math" panose="02040503050406030204" pitchFamily="18" charset="0"/>
                      </a:rPr>
                      <m:t>+</m:t>
                    </m:r>
                    <m:sSup>
                      <m:sSupPr>
                        <m:ctrlPr>
                          <a:rPr lang="nl-BE" sz="2400" b="0" i="1" smtClean="0">
                            <a:latin typeface="Cambria Math" panose="02040503050406030204" pitchFamily="18" charset="0"/>
                            <a:ea typeface="Cambria Math" panose="02040503050406030204" pitchFamily="18" charset="0"/>
                          </a:rPr>
                        </m:ctrlPr>
                      </m:sSupPr>
                      <m:e>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𝒙</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𝒙</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e>
                      <m:sup>
                        <m:r>
                          <a:rPr lang="nl-BE" sz="2400" b="0" i="1" smtClean="0">
                            <a:latin typeface="Cambria Math" panose="02040503050406030204" pitchFamily="18" charset="0"/>
                            <a:ea typeface="Cambria Math" panose="02040503050406030204" pitchFamily="18" charset="0"/>
                          </a:rPr>
                          <m:t>𝑇</m:t>
                        </m:r>
                      </m:sup>
                    </m:sSup>
                    <m:sSup>
                      <m:sSupPr>
                        <m:ctrlPr>
                          <a:rPr lang="nl-BE" sz="2400" b="0" i="1" smtClean="0">
                            <a:latin typeface="Cambria Math" panose="02040503050406030204" pitchFamily="18" charset="0"/>
                            <a:ea typeface="Cambria Math" panose="02040503050406030204" pitchFamily="18" charset="0"/>
                          </a:rPr>
                        </m:ctrlPr>
                      </m:sSupPr>
                      <m:e>
                        <m:d>
                          <m:dPr>
                            <m:ctrlPr>
                              <a:rPr lang="nl-BE" sz="2400" i="1">
                                <a:latin typeface="Cambria Math" panose="02040503050406030204" pitchFamily="18" charset="0"/>
                                <a:ea typeface="Cambria Math" panose="02040503050406030204" pitchFamily="18" charset="0"/>
                              </a:rPr>
                            </m:ctrlPr>
                          </m:dPr>
                          <m:e>
                            <m:m>
                              <m:mPr>
                                <m:mcs>
                                  <m:mc>
                                    <m:mcPr>
                                      <m:count m:val="3"/>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m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e>
                              </m:mr>
                            </m:m>
                          </m:e>
                        </m:d>
                      </m:e>
                      <m:sup>
                        <m:r>
                          <a:rPr lang="nl-BE" sz="2400" b="0" i="1" smtClean="0">
                            <a:latin typeface="Cambria Math" panose="02040503050406030204" pitchFamily="18" charset="0"/>
                            <a:ea typeface="Cambria Math" panose="02040503050406030204" pitchFamily="18" charset="0"/>
                          </a:rPr>
                          <m:t>−1</m:t>
                        </m:r>
                      </m:sup>
                    </m:sSup>
                  </m:oMath>
                </a14:m>
                <a:r>
                  <a:rPr lang="nl-BE" sz="2400" dirty="0">
                    <a:ea typeface="Cambria Math" panose="02040503050406030204" pitchFamily="18" charset="0"/>
                  </a:rPr>
                  <a:t> </a:t>
                </a:r>
                <a14:m>
                  <m:oMath xmlns:m="http://schemas.openxmlformats.org/officeDocument/2006/math">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a:rPr lang="nl-BE" sz="2400" b="0" i="1" smtClean="0">
                                  <a:latin typeface="Cambria Math" panose="02040503050406030204" pitchFamily="18" charset="0"/>
                                  <a:ea typeface="Cambria Math" panose="02040503050406030204" pitchFamily="18" charset="0"/>
                                </a:rPr>
                                <m:t>𝑓</m:t>
                              </m:r>
                              <m:d>
                                <m:dPr>
                                  <m:ctrlPr>
                                    <a:rPr lang="nl-BE" sz="2400" b="0" i="1" smtClean="0">
                                      <a:latin typeface="Cambria Math" panose="02040503050406030204" pitchFamily="18" charset="0"/>
                                      <a:ea typeface="Cambria Math" panose="02040503050406030204" pitchFamily="18" charset="0"/>
                                    </a:rPr>
                                  </m:ctrlPr>
                                </m:dPr>
                                <m:e>
                                  <m:sSub>
                                    <m:sSubPr>
                                      <m:ctrlPr>
                                        <a:rPr lang="nl-BE" sz="2400" b="0" i="1" smtClean="0">
                                          <a:latin typeface="Cambria Math" panose="02040503050406030204" pitchFamily="18" charset="0"/>
                                          <a:ea typeface="Cambria Math" panose="02040503050406030204" pitchFamily="18" charset="0"/>
                                        </a:rPr>
                                      </m:ctrlPr>
                                    </m:sSubPr>
                                    <m:e>
                                      <m:r>
                                        <a:rPr lang="nl-BE" sz="2400" b="1" i="1" smtClean="0">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1</m:t>
                                      </m:r>
                                    </m:sub>
                                  </m:sSub>
                                </m:e>
                              </m:d>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𝑚</m:t>
                              </m:r>
                              <m:r>
                                <a:rPr lang="nl-BE" sz="2400" b="0" i="1" smtClean="0">
                                  <a:latin typeface="Cambria Math" panose="02040503050406030204" pitchFamily="18" charset="0"/>
                                  <a:ea typeface="Cambria Math" panose="02040503050406030204" pitchFamily="18" charset="0"/>
                                </a:rPr>
                                <m:t>(</m:t>
                              </m:r>
                              <m:sSub>
                                <m:sSubPr>
                                  <m:ctrlPr>
                                    <a:rPr lang="nl-BE" sz="2400" b="0" i="1" smtClean="0">
                                      <a:latin typeface="Cambria Math" panose="02040503050406030204" pitchFamily="18" charset="0"/>
                                      <a:ea typeface="Cambria Math" panose="02040503050406030204" pitchFamily="18" charset="0"/>
                                    </a:rPr>
                                  </m:ctrlPr>
                                </m:sSubPr>
                                <m:e>
                                  <m:r>
                                    <a:rPr lang="nl-BE" sz="2400" b="1" i="1" smtClean="0">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1</m:t>
                                  </m:r>
                                </m:sub>
                              </m:sSub>
                              <m:r>
                                <a:rPr lang="nl-BE" sz="2400" b="0" i="1" smtClean="0">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𝑓</m:t>
                              </m:r>
                              <m:d>
                                <m:dPr>
                                  <m:ctrlPr>
                                    <a:rPr lang="nl-BE" sz="2400" i="1">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𝑡</m:t>
                                      </m:r>
                                    </m:sub>
                                  </m:sSub>
                                </m:e>
                              </m:d>
                              <m:r>
                                <a:rPr lang="nl-BE" sz="2400" i="1">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𝑚</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oMath>
                </a14:m>
                <a:endParaRPr lang="nl-BE" sz="2400" dirty="0"/>
              </a:p>
            </p:txBody>
          </p:sp>
        </mc:Choice>
        <mc:Fallback xmlns="">
          <p:sp>
            <p:nvSpPr>
              <p:cNvPr id="3" name="Tekstvak 2">
                <a:extLst>
                  <a:ext uri="{FF2B5EF4-FFF2-40B4-BE49-F238E27FC236}">
                    <a16:creationId xmlns:a16="http://schemas.microsoft.com/office/drawing/2014/main" id="{ABD15DAF-9A8E-CCC7-9E56-9DC4297CA178}"/>
                  </a:ext>
                </a:extLst>
              </p:cNvPr>
              <p:cNvSpPr txBox="1">
                <a:spLocks noRot="1" noChangeAspect="1" noMove="1" noResize="1" noEditPoints="1" noAdjustHandles="1" noChangeArrowheads="1" noChangeShapeType="1" noTextEdit="1"/>
              </p:cNvSpPr>
              <p:nvPr/>
            </p:nvSpPr>
            <p:spPr>
              <a:xfrm>
                <a:off x="971258" y="2318636"/>
                <a:ext cx="10561982" cy="1218732"/>
              </a:xfrm>
              <a:prstGeom prst="rect">
                <a:avLst/>
              </a:prstGeom>
              <a:blipFill>
                <a:blip r:embed="rId4"/>
                <a:stretch>
                  <a:fillRect l="-120" b="-8247"/>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4" name="Tekstvak 3">
                <a:extLst>
                  <a:ext uri="{FF2B5EF4-FFF2-40B4-BE49-F238E27FC236}">
                    <a16:creationId xmlns:a16="http://schemas.microsoft.com/office/drawing/2014/main" id="{5F059D3D-7A35-5300-4D4B-0FA1FAA04E2D}"/>
                  </a:ext>
                </a:extLst>
              </p:cNvPr>
              <p:cNvSpPr txBox="1"/>
              <p:nvPr/>
            </p:nvSpPr>
            <p:spPr>
              <a:xfrm>
                <a:off x="971258" y="4162310"/>
                <a:ext cx="10717159" cy="1218732"/>
              </a:xfrm>
              <a:prstGeom prst="rect">
                <a:avLst/>
              </a:prstGeom>
              <a:noFill/>
            </p:spPr>
            <p:txBody>
              <a:bodyPr wrap="square">
                <a:spAutoFit/>
              </a:bodyPr>
              <a:lstStyle/>
              <a:p>
                <a14:m>
                  <m:oMath xmlns:m="http://schemas.openxmlformats.org/officeDocument/2006/math">
                    <m:sSup>
                      <m:sSupPr>
                        <m:ctrlPr>
                          <a:rPr lang="nl-BE" sz="2400" b="0" i="1" smtClean="0">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𝜎</m:t>
                        </m:r>
                      </m:e>
                      <m:sup>
                        <m:r>
                          <a:rPr lang="nl-BE" sz="2400" b="0" i="1" smtClean="0">
                            <a:latin typeface="Cambria Math" panose="02040503050406030204" pitchFamily="18" charset="0"/>
                            <a:ea typeface="Cambria Math" panose="02040503050406030204" pitchFamily="18" charset="0"/>
                          </a:rPr>
                          <m:t>2</m:t>
                        </m:r>
                      </m:sup>
                    </m:sSup>
                    <m:d>
                      <m:dPr>
                        <m:ctrlPr>
                          <a:rPr lang="nl-BE" sz="2400" b="0" i="1" smtClean="0">
                            <a:latin typeface="Cambria Math" panose="02040503050406030204" pitchFamily="18" charset="0"/>
                            <a:ea typeface="Cambria Math" panose="02040503050406030204" pitchFamily="18" charset="0"/>
                          </a:rPr>
                        </m:ctrlPr>
                      </m:dPr>
                      <m:e>
                        <m:r>
                          <a:rPr lang="nl-BE" sz="2400" b="1" i="1" smtClean="0">
                            <a:latin typeface="Cambria Math" panose="02040503050406030204" pitchFamily="18" charset="0"/>
                            <a:ea typeface="Cambria Math" panose="02040503050406030204" pitchFamily="18" charset="0"/>
                          </a:rPr>
                          <m:t>𝒙</m:t>
                        </m:r>
                      </m:e>
                    </m:d>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𝐾</m:t>
                    </m:r>
                    <m:r>
                      <a:rPr lang="nl-BE" sz="2400" b="0" i="1" smtClean="0">
                        <a:latin typeface="Cambria Math" panose="02040503050406030204" pitchFamily="18" charset="0"/>
                        <a:ea typeface="Cambria Math" panose="02040503050406030204" pitchFamily="18" charset="0"/>
                      </a:rPr>
                      <m:t>(</m:t>
                    </m:r>
                    <m:r>
                      <a:rPr lang="nl-BE" sz="2400" b="1" i="1" smtClean="0">
                        <a:latin typeface="Cambria Math" panose="02040503050406030204" pitchFamily="18" charset="0"/>
                        <a:ea typeface="Cambria Math" panose="02040503050406030204" pitchFamily="18" charset="0"/>
                      </a:rPr>
                      <m:t>𝒙</m:t>
                    </m:r>
                    <m:r>
                      <a:rPr lang="nl-BE" sz="2400" b="0" i="1" smtClean="0">
                        <a:latin typeface="Cambria Math" panose="02040503050406030204" pitchFamily="18" charset="0"/>
                        <a:ea typeface="Cambria Math" panose="02040503050406030204" pitchFamily="18" charset="0"/>
                      </a:rPr>
                      <m:t>,</m:t>
                    </m:r>
                    <m:r>
                      <a:rPr lang="nl-BE" sz="2400" b="1" i="1" smtClean="0">
                        <a:latin typeface="Cambria Math" panose="02040503050406030204" pitchFamily="18" charset="0"/>
                        <a:ea typeface="Cambria Math" panose="02040503050406030204" pitchFamily="18" charset="0"/>
                      </a:rPr>
                      <m:t>𝒙</m:t>
                    </m:r>
                    <m:r>
                      <a:rPr lang="nl-BE" sz="2400" b="0" i="1" smtClean="0">
                        <a:latin typeface="Cambria Math" panose="02040503050406030204" pitchFamily="18" charset="0"/>
                        <a:ea typeface="Cambria Math" panose="02040503050406030204" pitchFamily="18" charset="0"/>
                      </a:rPr>
                      <m:t>)−</m:t>
                    </m:r>
                    <m:sSup>
                      <m:sSupPr>
                        <m:ctrlPr>
                          <a:rPr lang="nl-BE" sz="2400" b="0" i="1" smtClean="0">
                            <a:latin typeface="Cambria Math" panose="02040503050406030204" pitchFamily="18" charset="0"/>
                            <a:ea typeface="Cambria Math" panose="02040503050406030204" pitchFamily="18" charset="0"/>
                          </a:rPr>
                        </m:ctrlPr>
                      </m:sSupPr>
                      <m:e>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𝒙</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𝒙</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e>
                      <m:sup>
                        <m:r>
                          <a:rPr lang="nl-BE" sz="2400" b="0" i="1" smtClean="0">
                            <a:latin typeface="Cambria Math" panose="02040503050406030204" pitchFamily="18" charset="0"/>
                            <a:ea typeface="Cambria Math" panose="02040503050406030204" pitchFamily="18" charset="0"/>
                          </a:rPr>
                          <m:t>𝑇</m:t>
                        </m:r>
                      </m:sup>
                    </m:sSup>
                    <m:sSup>
                      <m:sSupPr>
                        <m:ctrlPr>
                          <a:rPr lang="nl-BE" sz="2400" b="0" i="1" smtClean="0">
                            <a:latin typeface="Cambria Math" panose="02040503050406030204" pitchFamily="18" charset="0"/>
                            <a:ea typeface="Cambria Math" panose="02040503050406030204" pitchFamily="18" charset="0"/>
                          </a:rPr>
                        </m:ctrlPr>
                      </m:sSupPr>
                      <m:e>
                        <m:d>
                          <m:dPr>
                            <m:ctrlPr>
                              <a:rPr lang="nl-BE" sz="2400" i="1">
                                <a:latin typeface="Cambria Math" panose="02040503050406030204" pitchFamily="18" charset="0"/>
                                <a:ea typeface="Cambria Math" panose="02040503050406030204" pitchFamily="18" charset="0"/>
                              </a:rPr>
                            </m:ctrlPr>
                          </m:dPr>
                          <m:e>
                            <m:m>
                              <m:mPr>
                                <m:mcs>
                                  <m:mc>
                                    <m:mcPr>
                                      <m:count m:val="3"/>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m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e>
                              </m:mr>
                            </m:m>
                          </m:e>
                        </m:d>
                      </m:e>
                      <m:sup>
                        <m:r>
                          <a:rPr lang="nl-BE" sz="2400" b="0" i="1" smtClean="0">
                            <a:latin typeface="Cambria Math" panose="02040503050406030204" pitchFamily="18" charset="0"/>
                            <a:ea typeface="Cambria Math" panose="02040503050406030204" pitchFamily="18" charset="0"/>
                          </a:rPr>
                          <m:t>−1</m:t>
                        </m:r>
                      </m:sup>
                    </m:sSup>
                  </m:oMath>
                </a14:m>
                <a:r>
                  <a:rPr lang="nl-BE" sz="2400" dirty="0">
                    <a:ea typeface="Cambria Math" panose="02040503050406030204" pitchFamily="18" charset="0"/>
                  </a:rPr>
                  <a:t> </a:t>
                </a:r>
                <a14:m>
                  <m:oMath xmlns:m="http://schemas.openxmlformats.org/officeDocument/2006/math">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𝒙</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𝒙</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oMath>
                </a14:m>
                <a:endParaRPr lang="nl-BE" sz="2400" dirty="0"/>
              </a:p>
            </p:txBody>
          </p:sp>
        </mc:Choice>
        <mc:Fallback xmlns="">
          <p:sp>
            <p:nvSpPr>
              <p:cNvPr id="4" name="Tekstvak 3">
                <a:extLst>
                  <a:ext uri="{FF2B5EF4-FFF2-40B4-BE49-F238E27FC236}">
                    <a16:creationId xmlns:a16="http://schemas.microsoft.com/office/drawing/2014/main" id="{5F059D3D-7A35-5300-4D4B-0FA1FAA04E2D}"/>
                  </a:ext>
                </a:extLst>
              </p:cNvPr>
              <p:cNvSpPr txBox="1">
                <a:spLocks noRot="1" noChangeAspect="1" noMove="1" noResize="1" noEditPoints="1" noAdjustHandles="1" noChangeArrowheads="1" noChangeShapeType="1" noTextEdit="1"/>
              </p:cNvSpPr>
              <p:nvPr/>
            </p:nvSpPr>
            <p:spPr>
              <a:xfrm>
                <a:off x="971258" y="4162310"/>
                <a:ext cx="10717159" cy="1218732"/>
              </a:xfrm>
              <a:prstGeom prst="rect">
                <a:avLst/>
              </a:prstGeom>
              <a:blipFill>
                <a:blip r:embed="rId5"/>
                <a:stretch>
                  <a:fillRect b="-6186"/>
                </a:stretch>
              </a:blipFill>
            </p:spPr>
            <p:txBody>
              <a:bodyPr/>
              <a:lstStyle/>
              <a:p>
                <a:r>
                  <a:rPr lang="nl-BE">
                    <a:noFill/>
                  </a:rPr>
                  <a:t> </a:t>
                </a:r>
              </a:p>
            </p:txBody>
          </p:sp>
        </mc:Fallback>
      </mc:AlternateContent>
      <p:sp>
        <p:nvSpPr>
          <p:cNvPr id="5" name="Tijdelijke aanduiding voor dianummer 4">
            <a:extLst>
              <a:ext uri="{FF2B5EF4-FFF2-40B4-BE49-F238E27FC236}">
                <a16:creationId xmlns:a16="http://schemas.microsoft.com/office/drawing/2014/main" id="{278D050C-B8DF-EFB8-EE5D-EED95DBE5423}"/>
              </a:ext>
            </a:extLst>
          </p:cNvPr>
          <p:cNvSpPr>
            <a:spLocks noGrp="1"/>
          </p:cNvSpPr>
          <p:nvPr>
            <p:ph type="sldNum" sz="quarter" idx="12"/>
          </p:nvPr>
        </p:nvSpPr>
        <p:spPr/>
        <p:txBody>
          <a:bodyPr/>
          <a:lstStyle/>
          <a:p>
            <a:fld id="{45E6605D-1E32-D542-B458-1FC57A046453}" type="slidenum">
              <a:rPr lang="nl-BE" smtClean="0"/>
              <a:t>13</a:t>
            </a:fld>
            <a:endParaRPr lang="nl-BE"/>
          </a:p>
        </p:txBody>
      </p:sp>
    </p:spTree>
    <p:extLst>
      <p:ext uri="{BB962C8B-B14F-4D97-AF65-F5344CB8AC3E}">
        <p14:creationId xmlns:p14="http://schemas.microsoft.com/office/powerpoint/2010/main" val="2436753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F1C91-87FF-21BB-DDAC-5EB7DC1FF8B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53721FF-C1BF-6686-6FE3-DF25E997C174}"/>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Defining the prior</a:t>
            </a:r>
          </a:p>
        </p:txBody>
      </p:sp>
      <p:pic>
        <p:nvPicPr>
          <p:cNvPr id="5" name="Afbeelding 4" descr="Afbeelding met lijn, diagram, Perceel, kaart&#10;&#10;Door AI gegenereerde inhoud is mogelijk onjuist.">
            <a:extLst>
              <a:ext uri="{FF2B5EF4-FFF2-40B4-BE49-F238E27FC236}">
                <a16:creationId xmlns:a16="http://schemas.microsoft.com/office/drawing/2014/main" id="{89456F7A-B6E8-D70F-C7AE-56346A5DA676}"/>
              </a:ext>
            </a:extLst>
          </p:cNvPr>
          <p:cNvPicPr>
            <a:picLocks noChangeAspect="1"/>
          </p:cNvPicPr>
          <p:nvPr/>
        </p:nvPicPr>
        <p:blipFill>
          <a:blip r:embed="rId3"/>
          <a:stretch>
            <a:fillRect/>
          </a:stretch>
        </p:blipFill>
        <p:spPr>
          <a:xfrm>
            <a:off x="2086908" y="1353745"/>
            <a:ext cx="8018183" cy="4788637"/>
          </a:xfrm>
          <a:prstGeom prst="rect">
            <a:avLst/>
          </a:prstGeom>
        </p:spPr>
      </p:pic>
      <p:sp>
        <p:nvSpPr>
          <p:cNvPr id="3" name="Tijdelijke aanduiding voor dianummer 2">
            <a:extLst>
              <a:ext uri="{FF2B5EF4-FFF2-40B4-BE49-F238E27FC236}">
                <a16:creationId xmlns:a16="http://schemas.microsoft.com/office/drawing/2014/main" id="{0C349527-6765-D81B-63C2-2F70FC7D35FD}"/>
              </a:ext>
            </a:extLst>
          </p:cNvPr>
          <p:cNvSpPr>
            <a:spLocks noGrp="1"/>
          </p:cNvSpPr>
          <p:nvPr>
            <p:ph type="sldNum" sz="quarter" idx="12"/>
          </p:nvPr>
        </p:nvSpPr>
        <p:spPr/>
        <p:txBody>
          <a:bodyPr/>
          <a:lstStyle/>
          <a:p>
            <a:fld id="{45E6605D-1E32-D542-B458-1FC57A046453}" type="slidenum">
              <a:rPr lang="nl-BE" smtClean="0"/>
              <a:t>14</a:t>
            </a:fld>
            <a:endParaRPr lang="nl-BE"/>
          </a:p>
        </p:txBody>
      </p:sp>
    </p:spTree>
    <p:extLst>
      <p:ext uri="{BB962C8B-B14F-4D97-AF65-F5344CB8AC3E}">
        <p14:creationId xmlns:p14="http://schemas.microsoft.com/office/powerpoint/2010/main" val="2643852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FFABE-B836-9212-DFE3-44F02FD2BDD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0BF8B08-7AA8-53E5-7D4C-9B8868984144}"/>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Defining the prior</a:t>
            </a:r>
          </a:p>
        </p:txBody>
      </p:sp>
      <mc:AlternateContent xmlns:mc="http://schemas.openxmlformats.org/markup-compatibility/2006" xmlns:a14="http://schemas.microsoft.com/office/drawing/2010/main">
        <mc:Choice Requires="a14">
          <p:sp>
            <p:nvSpPr>
              <p:cNvPr id="3" name="Tekstvak 2">
                <a:extLst>
                  <a:ext uri="{FF2B5EF4-FFF2-40B4-BE49-F238E27FC236}">
                    <a16:creationId xmlns:a16="http://schemas.microsoft.com/office/drawing/2014/main" id="{7FA06A00-3965-DBEF-FC48-005D72031763}"/>
                  </a:ext>
                </a:extLst>
              </p:cNvPr>
              <p:cNvSpPr txBox="1"/>
              <p:nvPr/>
            </p:nvSpPr>
            <p:spPr>
              <a:xfrm>
                <a:off x="1630017" y="960184"/>
                <a:ext cx="10561983" cy="461665"/>
              </a:xfrm>
              <a:prstGeom prst="rect">
                <a:avLst/>
              </a:prstGeom>
              <a:noFill/>
            </p:spPr>
            <p:txBody>
              <a:bodyPr wrap="square" rtlCol="0">
                <a:spAutoFit/>
              </a:bodyPr>
              <a:lstStyle/>
              <a:p>
                <a:r>
                  <a:rPr lang="nl-BE" sz="2400" dirty="0">
                    <a:solidFill>
                      <a:srgbClr val="FF0000"/>
                    </a:solidFill>
                  </a:rPr>
                  <a:t>For any observed datapoint </a:t>
                </a:r>
                <a14:m>
                  <m:oMath xmlns:m="http://schemas.openxmlformats.org/officeDocument/2006/math">
                    <m:sSub>
                      <m:sSubPr>
                        <m:ctrlPr>
                          <a:rPr lang="nl-BE" sz="2400" b="1" i="1" smtClean="0">
                            <a:solidFill>
                              <a:srgbClr val="FF0000"/>
                            </a:solidFill>
                            <a:latin typeface="Cambria Math" panose="02040503050406030204" pitchFamily="18" charset="0"/>
                          </a:rPr>
                        </m:ctrlPr>
                      </m:sSubPr>
                      <m:e>
                        <m:r>
                          <a:rPr lang="nl-BE" sz="2400" b="1" i="1">
                            <a:solidFill>
                              <a:srgbClr val="FF0000"/>
                            </a:solidFill>
                            <a:latin typeface="Cambria Math" panose="02040503050406030204" pitchFamily="18" charset="0"/>
                          </a:rPr>
                          <m:t>𝒙</m:t>
                        </m:r>
                      </m:e>
                      <m:sub>
                        <m:r>
                          <a:rPr lang="nl-BE" sz="2400" b="1" i="1" smtClean="0">
                            <a:solidFill>
                              <a:srgbClr val="FF0000"/>
                            </a:solidFill>
                            <a:latin typeface="Cambria Math" panose="02040503050406030204" pitchFamily="18" charset="0"/>
                          </a:rPr>
                          <m:t>𝒊</m:t>
                        </m:r>
                      </m:sub>
                    </m:sSub>
                  </m:oMath>
                </a14:m>
                <a:r>
                  <a:rPr lang="nl-BE" sz="2400" dirty="0">
                    <a:solidFill>
                      <a:srgbClr val="FF0000"/>
                    </a:solidFill>
                  </a:rPr>
                  <a:t>, </a:t>
                </a:r>
                <a14:m>
                  <m:oMath xmlns:m="http://schemas.openxmlformats.org/officeDocument/2006/math">
                    <m:r>
                      <a:rPr lang="nl-BE" sz="2400" i="1">
                        <a:solidFill>
                          <a:srgbClr val="FF0000"/>
                        </a:solidFill>
                        <a:latin typeface="Cambria Math" panose="02040503050406030204" pitchFamily="18" charset="0"/>
                        <a:ea typeface="Cambria Math" panose="02040503050406030204" pitchFamily="18" charset="0"/>
                      </a:rPr>
                      <m:t>𝜇</m:t>
                    </m:r>
                    <m:d>
                      <m:dPr>
                        <m:ctrlPr>
                          <a:rPr lang="nl-BE" sz="2400" i="1">
                            <a:solidFill>
                              <a:srgbClr val="FF0000"/>
                            </a:solidFill>
                            <a:latin typeface="Cambria Math" panose="02040503050406030204" pitchFamily="18" charset="0"/>
                            <a:ea typeface="Cambria Math" panose="02040503050406030204" pitchFamily="18" charset="0"/>
                          </a:rPr>
                        </m:ctrlPr>
                      </m:dPr>
                      <m:e>
                        <m:sSub>
                          <m:sSubPr>
                            <m:ctrlPr>
                              <a:rPr lang="nl-BE" sz="2400" b="1" i="1">
                                <a:solidFill>
                                  <a:srgbClr val="FF0000"/>
                                </a:solidFill>
                                <a:latin typeface="Cambria Math" panose="02040503050406030204" pitchFamily="18" charset="0"/>
                              </a:rPr>
                            </m:ctrlPr>
                          </m:sSubPr>
                          <m:e>
                            <m:r>
                              <a:rPr lang="nl-BE" sz="2400" b="1" i="1">
                                <a:solidFill>
                                  <a:srgbClr val="FF0000"/>
                                </a:solidFill>
                                <a:latin typeface="Cambria Math" panose="02040503050406030204" pitchFamily="18" charset="0"/>
                              </a:rPr>
                              <m:t>𝒙</m:t>
                            </m:r>
                          </m:e>
                          <m:sub>
                            <m:r>
                              <a:rPr lang="nl-BE" sz="2400" b="1" i="1">
                                <a:solidFill>
                                  <a:srgbClr val="FF0000"/>
                                </a:solidFill>
                                <a:latin typeface="Cambria Math" panose="02040503050406030204" pitchFamily="18" charset="0"/>
                              </a:rPr>
                              <m:t>𝒊</m:t>
                            </m:r>
                          </m:sub>
                        </m:sSub>
                      </m:e>
                    </m:d>
                  </m:oMath>
                </a14:m>
                <a:r>
                  <a:rPr lang="nl-BE" sz="2400" dirty="0">
                    <a:solidFill>
                      <a:srgbClr val="FF0000"/>
                    </a:solidFill>
                  </a:rPr>
                  <a:t>=</a:t>
                </a:r>
                <a14:m>
                  <m:oMath xmlns:m="http://schemas.openxmlformats.org/officeDocument/2006/math">
                    <m:r>
                      <a:rPr lang="nl-BE" sz="2400" i="1">
                        <a:solidFill>
                          <a:srgbClr val="FF0000"/>
                        </a:solidFill>
                        <a:latin typeface="Cambria Math" panose="02040503050406030204" pitchFamily="18" charset="0"/>
                      </a:rPr>
                      <m:t>𝑓</m:t>
                    </m:r>
                    <m:d>
                      <m:dPr>
                        <m:ctrlPr>
                          <a:rPr lang="nl-BE" sz="2400" i="1">
                            <a:solidFill>
                              <a:srgbClr val="FF0000"/>
                            </a:solidFill>
                            <a:latin typeface="Cambria Math" panose="02040503050406030204" pitchFamily="18" charset="0"/>
                            <a:ea typeface="Cambria Math" panose="02040503050406030204" pitchFamily="18" charset="0"/>
                          </a:rPr>
                        </m:ctrlPr>
                      </m:dPr>
                      <m:e>
                        <m:sSub>
                          <m:sSubPr>
                            <m:ctrlPr>
                              <a:rPr lang="nl-BE" sz="2400" b="1" i="1">
                                <a:solidFill>
                                  <a:srgbClr val="FF0000"/>
                                </a:solidFill>
                                <a:latin typeface="Cambria Math" panose="02040503050406030204" pitchFamily="18" charset="0"/>
                              </a:rPr>
                            </m:ctrlPr>
                          </m:sSubPr>
                          <m:e>
                            <m:r>
                              <a:rPr lang="nl-BE" sz="2400" b="1" i="1">
                                <a:solidFill>
                                  <a:srgbClr val="FF0000"/>
                                </a:solidFill>
                                <a:latin typeface="Cambria Math" panose="02040503050406030204" pitchFamily="18" charset="0"/>
                              </a:rPr>
                              <m:t>𝒙</m:t>
                            </m:r>
                          </m:e>
                          <m:sub>
                            <m:r>
                              <a:rPr lang="nl-BE" sz="2400" b="1" i="1">
                                <a:solidFill>
                                  <a:srgbClr val="FF0000"/>
                                </a:solidFill>
                                <a:latin typeface="Cambria Math" panose="02040503050406030204" pitchFamily="18" charset="0"/>
                              </a:rPr>
                              <m:t>𝒊</m:t>
                            </m:r>
                          </m:sub>
                        </m:sSub>
                      </m:e>
                    </m:d>
                  </m:oMath>
                </a14:m>
                <a:r>
                  <a:rPr lang="nl-BE" sz="2400" dirty="0">
                    <a:solidFill>
                      <a:srgbClr val="FF0000"/>
                    </a:solidFill>
                  </a:rPr>
                  <a:t> and </a:t>
                </a:r>
                <a14:m>
                  <m:oMath xmlns:m="http://schemas.openxmlformats.org/officeDocument/2006/math">
                    <m:sSup>
                      <m:sSupPr>
                        <m:ctrlPr>
                          <a:rPr lang="nl-BE" sz="2400" i="1">
                            <a:solidFill>
                              <a:srgbClr val="FF0000"/>
                            </a:solidFill>
                            <a:latin typeface="Cambria Math" panose="02040503050406030204" pitchFamily="18" charset="0"/>
                            <a:ea typeface="Cambria Math" panose="02040503050406030204" pitchFamily="18" charset="0"/>
                          </a:rPr>
                        </m:ctrlPr>
                      </m:sSupPr>
                      <m:e>
                        <m:r>
                          <a:rPr lang="nl-BE" sz="2400" i="1">
                            <a:solidFill>
                              <a:srgbClr val="FF0000"/>
                            </a:solidFill>
                            <a:latin typeface="Cambria Math" panose="02040503050406030204" pitchFamily="18" charset="0"/>
                            <a:ea typeface="Cambria Math" panose="02040503050406030204" pitchFamily="18" charset="0"/>
                          </a:rPr>
                          <m:t>𝜎</m:t>
                        </m:r>
                      </m:e>
                      <m:sup>
                        <m:r>
                          <a:rPr lang="nl-BE" sz="2400" i="1">
                            <a:solidFill>
                              <a:srgbClr val="FF0000"/>
                            </a:solidFill>
                            <a:latin typeface="Cambria Math" panose="02040503050406030204" pitchFamily="18" charset="0"/>
                            <a:ea typeface="Cambria Math" panose="02040503050406030204" pitchFamily="18" charset="0"/>
                          </a:rPr>
                          <m:t>2</m:t>
                        </m:r>
                      </m:sup>
                    </m:sSup>
                    <m:d>
                      <m:dPr>
                        <m:ctrlPr>
                          <a:rPr lang="nl-BE" sz="2400" i="1">
                            <a:solidFill>
                              <a:srgbClr val="FF0000"/>
                            </a:solidFill>
                            <a:latin typeface="Cambria Math" panose="02040503050406030204" pitchFamily="18" charset="0"/>
                            <a:ea typeface="Cambria Math" panose="02040503050406030204" pitchFamily="18" charset="0"/>
                          </a:rPr>
                        </m:ctrlPr>
                      </m:dPr>
                      <m:e>
                        <m:sSub>
                          <m:sSubPr>
                            <m:ctrlPr>
                              <a:rPr lang="nl-BE" sz="2400" b="1" i="1">
                                <a:solidFill>
                                  <a:srgbClr val="FF0000"/>
                                </a:solidFill>
                                <a:latin typeface="Cambria Math" panose="02040503050406030204" pitchFamily="18" charset="0"/>
                              </a:rPr>
                            </m:ctrlPr>
                          </m:sSubPr>
                          <m:e>
                            <m:r>
                              <a:rPr lang="nl-BE" sz="2400" b="1" i="1">
                                <a:solidFill>
                                  <a:srgbClr val="FF0000"/>
                                </a:solidFill>
                                <a:latin typeface="Cambria Math" panose="02040503050406030204" pitchFamily="18" charset="0"/>
                              </a:rPr>
                              <m:t>𝒙</m:t>
                            </m:r>
                          </m:e>
                          <m:sub>
                            <m:r>
                              <a:rPr lang="nl-BE" sz="2400" b="1" i="1">
                                <a:solidFill>
                                  <a:srgbClr val="FF0000"/>
                                </a:solidFill>
                                <a:latin typeface="Cambria Math" panose="02040503050406030204" pitchFamily="18" charset="0"/>
                              </a:rPr>
                              <m:t>𝒊</m:t>
                            </m:r>
                          </m:sub>
                        </m:sSub>
                      </m:e>
                    </m:d>
                  </m:oMath>
                </a14:m>
                <a:r>
                  <a:rPr lang="nl-BE" sz="2400" dirty="0">
                    <a:solidFill>
                      <a:srgbClr val="FF0000"/>
                    </a:solidFill>
                  </a:rPr>
                  <a:t>=0</a:t>
                </a:r>
              </a:p>
            </p:txBody>
          </p:sp>
        </mc:Choice>
        <mc:Fallback xmlns="">
          <p:sp>
            <p:nvSpPr>
              <p:cNvPr id="3" name="Tekstvak 2">
                <a:extLst>
                  <a:ext uri="{FF2B5EF4-FFF2-40B4-BE49-F238E27FC236}">
                    <a16:creationId xmlns:a16="http://schemas.microsoft.com/office/drawing/2014/main" id="{7FA06A00-3965-DBEF-FC48-005D72031763}"/>
                  </a:ext>
                </a:extLst>
              </p:cNvPr>
              <p:cNvSpPr txBox="1">
                <a:spLocks noRot="1" noChangeAspect="1" noMove="1" noResize="1" noEditPoints="1" noAdjustHandles="1" noChangeArrowheads="1" noChangeShapeType="1" noTextEdit="1"/>
              </p:cNvSpPr>
              <p:nvPr/>
            </p:nvSpPr>
            <p:spPr>
              <a:xfrm>
                <a:off x="1630017" y="960184"/>
                <a:ext cx="10561983" cy="461665"/>
              </a:xfrm>
              <a:prstGeom prst="rect">
                <a:avLst/>
              </a:prstGeom>
              <a:blipFill>
                <a:blip r:embed="rId3"/>
                <a:stretch>
                  <a:fillRect l="-960" t="-10811" b="-29730"/>
                </a:stretch>
              </a:blipFill>
            </p:spPr>
            <p:txBody>
              <a:bodyPr/>
              <a:lstStyle/>
              <a:p>
                <a:r>
                  <a:rPr lang="nl-BE">
                    <a:noFill/>
                  </a:rPr>
                  <a:t> </a:t>
                </a:r>
              </a:p>
            </p:txBody>
          </p:sp>
        </mc:Fallback>
      </mc:AlternateContent>
      <p:sp>
        <p:nvSpPr>
          <p:cNvPr id="4" name="Tekstvak 3">
            <a:extLst>
              <a:ext uri="{FF2B5EF4-FFF2-40B4-BE49-F238E27FC236}">
                <a16:creationId xmlns:a16="http://schemas.microsoft.com/office/drawing/2014/main" id="{A3E28680-74F9-11DA-8724-AB44F50135DA}"/>
              </a:ext>
            </a:extLst>
          </p:cNvPr>
          <p:cNvSpPr txBox="1"/>
          <p:nvPr/>
        </p:nvSpPr>
        <p:spPr>
          <a:xfrm>
            <a:off x="825484" y="4042149"/>
            <a:ext cx="10425612" cy="461665"/>
          </a:xfrm>
          <a:prstGeom prst="rect">
            <a:avLst/>
          </a:prstGeom>
          <a:noFill/>
        </p:spPr>
        <p:txBody>
          <a:bodyPr wrap="square">
            <a:spAutoFit/>
          </a:bodyPr>
          <a:lstStyle/>
          <a:p>
            <a:r>
              <a:rPr lang="nl-BE" sz="2400" dirty="0"/>
              <a:t>To simplify notation, let’s define:</a:t>
            </a:r>
          </a:p>
        </p:txBody>
      </p:sp>
      <mc:AlternateContent xmlns:mc="http://schemas.openxmlformats.org/markup-compatibility/2006" xmlns:a14="http://schemas.microsoft.com/office/drawing/2010/main">
        <mc:Choice Requires="a14">
          <p:sp>
            <p:nvSpPr>
              <p:cNvPr id="6" name="Tekstvak 5">
                <a:extLst>
                  <a:ext uri="{FF2B5EF4-FFF2-40B4-BE49-F238E27FC236}">
                    <a16:creationId xmlns:a16="http://schemas.microsoft.com/office/drawing/2014/main" id="{591CAFEB-EEF2-7DCC-FAA5-8C2E63849033}"/>
                  </a:ext>
                </a:extLst>
              </p:cNvPr>
              <p:cNvSpPr txBox="1"/>
              <p:nvPr/>
            </p:nvSpPr>
            <p:spPr>
              <a:xfrm>
                <a:off x="1339925" y="4569530"/>
                <a:ext cx="3404767" cy="1145570"/>
              </a:xfrm>
              <a:prstGeom prst="rect">
                <a:avLst/>
              </a:prstGeom>
              <a:noFill/>
            </p:spPr>
            <p:txBody>
              <a:bodyPr wrap="square">
                <a:spAutoFit/>
              </a:bodyPr>
              <a:lstStyle/>
              <a:p>
                <a:r>
                  <a:rPr lang="nl-BE" sz="2400" b="0" dirty="0">
                    <a:ea typeface="Cambria Math" panose="02040503050406030204" pitchFamily="18" charset="0"/>
                  </a:rPr>
                  <a:t>K</a:t>
                </a:r>
                <a14:m>
                  <m:oMath xmlns:m="http://schemas.openxmlformats.org/officeDocument/2006/math">
                    <m:d>
                      <m:dPr>
                        <m:ctrlPr>
                          <a:rPr lang="nl-BE" sz="2400" b="0" i="1" smtClean="0">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b="0" i="1" smtClean="0">
                            <a:latin typeface="Cambria Math" panose="02040503050406030204" pitchFamily="18" charset="0"/>
                            <a:ea typeface="Cambria Math" panose="02040503050406030204" pitchFamily="18" charset="0"/>
                          </a:rPr>
                          <m:t>,</m:t>
                        </m:r>
                        <m:r>
                          <a:rPr lang="nl-BE" sz="2400" b="1" i="1" smtClean="0">
                            <a:latin typeface="Cambria Math" panose="02040503050406030204" pitchFamily="18" charset="0"/>
                            <a:ea typeface="Cambria Math" panose="02040503050406030204" pitchFamily="18" charset="0"/>
                          </a:rPr>
                          <m:t>𝑿</m:t>
                        </m:r>
                      </m:e>
                    </m:d>
                    <m:r>
                      <a:rPr lang="nl-BE" sz="2400" b="0" i="1" smtClean="0">
                        <a:latin typeface="Cambria Math" panose="02040503050406030204" pitchFamily="18" charset="0"/>
                        <a:ea typeface="Cambria Math" panose="02040503050406030204" pitchFamily="18" charset="0"/>
                      </a:rPr>
                      <m:t>≔</m:t>
                    </m:r>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oMath>
                </a14:m>
                <a:endParaRPr lang="nl-BE" sz="2400" dirty="0"/>
              </a:p>
            </p:txBody>
          </p:sp>
        </mc:Choice>
        <mc:Fallback xmlns="">
          <p:sp>
            <p:nvSpPr>
              <p:cNvPr id="6" name="Tekstvak 5">
                <a:extLst>
                  <a:ext uri="{FF2B5EF4-FFF2-40B4-BE49-F238E27FC236}">
                    <a16:creationId xmlns:a16="http://schemas.microsoft.com/office/drawing/2014/main" id="{591CAFEB-EEF2-7DCC-FAA5-8C2E63849033}"/>
                  </a:ext>
                </a:extLst>
              </p:cNvPr>
              <p:cNvSpPr txBox="1">
                <a:spLocks noRot="1" noChangeAspect="1" noMove="1" noResize="1" noEditPoints="1" noAdjustHandles="1" noChangeArrowheads="1" noChangeShapeType="1" noTextEdit="1"/>
              </p:cNvSpPr>
              <p:nvPr/>
            </p:nvSpPr>
            <p:spPr>
              <a:xfrm>
                <a:off x="1339925" y="4569530"/>
                <a:ext cx="3404767" cy="1145570"/>
              </a:xfrm>
              <a:prstGeom prst="rect">
                <a:avLst/>
              </a:prstGeom>
              <a:blipFill>
                <a:blip r:embed="rId4"/>
                <a:stretch>
                  <a:fillRect l="-2974" b="-6593"/>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7" name="Tekstvak 6">
                <a:extLst>
                  <a:ext uri="{FF2B5EF4-FFF2-40B4-BE49-F238E27FC236}">
                    <a16:creationId xmlns:a16="http://schemas.microsoft.com/office/drawing/2014/main" id="{C0FE5A4C-FB91-594E-417B-45FB7A3C139D}"/>
                  </a:ext>
                </a:extLst>
              </p:cNvPr>
              <p:cNvSpPr txBox="1"/>
              <p:nvPr/>
            </p:nvSpPr>
            <p:spPr>
              <a:xfrm>
                <a:off x="5031286" y="4568475"/>
                <a:ext cx="5443992" cy="114557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nl-BE" sz="2400" b="0" i="1" smtClean="0">
                          <a:latin typeface="Cambria Math" panose="02040503050406030204" pitchFamily="18" charset="0"/>
                          <a:ea typeface="Cambria Math" panose="02040503050406030204" pitchFamily="18" charset="0"/>
                        </a:rPr>
                        <m:t>𝐾</m:t>
                      </m:r>
                      <m:d>
                        <m:dPr>
                          <m:ctrlPr>
                            <a:rPr lang="nl-BE" sz="2400" b="0" i="1" smtClean="0">
                              <a:latin typeface="Cambria Math" panose="02040503050406030204" pitchFamily="18" charset="0"/>
                              <a:ea typeface="Cambria Math" panose="02040503050406030204" pitchFamily="18" charset="0"/>
                            </a:rPr>
                          </m:ctrlPr>
                        </m:dPr>
                        <m:e>
                          <m:r>
                            <a:rPr lang="nl-BE" sz="2400" b="1" i="1" smtClean="0">
                              <a:latin typeface="Cambria Math" panose="02040503050406030204" pitchFamily="18" charset="0"/>
                              <a:ea typeface="Cambria Math" panose="02040503050406030204" pitchFamily="18" charset="0"/>
                            </a:rPr>
                            <m:t>𝑿</m:t>
                          </m:r>
                          <m:r>
                            <a:rPr lang="nl-BE" sz="2400" b="0" i="1" smtClean="0">
                              <a:latin typeface="Cambria Math" panose="02040503050406030204" pitchFamily="18" charset="0"/>
                              <a:ea typeface="Cambria Math" panose="02040503050406030204" pitchFamily="18" charset="0"/>
                            </a:rPr>
                            <m:t>,</m:t>
                          </m:r>
                          <m:r>
                            <a:rPr lang="nl-BE" sz="2400" b="1" i="1" smtClean="0">
                              <a:latin typeface="Cambria Math" panose="02040503050406030204" pitchFamily="18" charset="0"/>
                              <a:ea typeface="Cambria Math" panose="02040503050406030204" pitchFamily="18" charset="0"/>
                            </a:rPr>
                            <m:t>𝑿</m:t>
                          </m:r>
                        </m:e>
                      </m:d>
                      <m:r>
                        <a:rPr lang="nl-BE" sz="2400" b="0" i="1" smtClean="0">
                          <a:latin typeface="Cambria Math" panose="02040503050406030204" pitchFamily="18" charset="0"/>
                          <a:ea typeface="Cambria Math" panose="02040503050406030204" pitchFamily="18" charset="0"/>
                        </a:rPr>
                        <m:t>≔</m:t>
                      </m:r>
                      <m:d>
                        <m:dPr>
                          <m:ctrlPr>
                            <a:rPr lang="nl-BE" sz="2400" i="1">
                              <a:latin typeface="Cambria Math" panose="02040503050406030204" pitchFamily="18" charset="0"/>
                              <a:ea typeface="Cambria Math" panose="02040503050406030204" pitchFamily="18" charset="0"/>
                            </a:rPr>
                          </m:ctrlPr>
                        </m:dPr>
                        <m:e>
                          <m:m>
                            <m:mPr>
                              <m:mcs>
                                <m:mc>
                                  <m:mcPr>
                                    <m:count m:val="3"/>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m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e>
                            </m:mr>
                          </m:m>
                        </m:e>
                      </m:d>
                    </m:oMath>
                  </m:oMathPara>
                </a14:m>
                <a:endParaRPr lang="nl-BE" sz="2400" dirty="0"/>
              </a:p>
            </p:txBody>
          </p:sp>
        </mc:Choice>
        <mc:Fallback xmlns="">
          <p:sp>
            <p:nvSpPr>
              <p:cNvPr id="7" name="Tekstvak 6">
                <a:extLst>
                  <a:ext uri="{FF2B5EF4-FFF2-40B4-BE49-F238E27FC236}">
                    <a16:creationId xmlns:a16="http://schemas.microsoft.com/office/drawing/2014/main" id="{C0FE5A4C-FB91-594E-417B-45FB7A3C139D}"/>
                  </a:ext>
                </a:extLst>
              </p:cNvPr>
              <p:cNvSpPr txBox="1">
                <a:spLocks noRot="1" noChangeAspect="1" noMove="1" noResize="1" noEditPoints="1" noAdjustHandles="1" noChangeArrowheads="1" noChangeShapeType="1" noTextEdit="1"/>
              </p:cNvSpPr>
              <p:nvPr/>
            </p:nvSpPr>
            <p:spPr>
              <a:xfrm>
                <a:off x="5031286" y="4568475"/>
                <a:ext cx="5443992" cy="1145570"/>
              </a:xfrm>
              <a:prstGeom prst="rect">
                <a:avLst/>
              </a:prstGeom>
              <a:blipFill>
                <a:blip r:embed="rId5"/>
                <a:stretch>
                  <a:fillRect b="-7692"/>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8" name="Tekstvak 7">
                <a:extLst>
                  <a:ext uri="{FF2B5EF4-FFF2-40B4-BE49-F238E27FC236}">
                    <a16:creationId xmlns:a16="http://schemas.microsoft.com/office/drawing/2014/main" id="{8CF7B3EF-415C-C693-7319-2D4E53A148A6}"/>
                  </a:ext>
                </a:extLst>
              </p:cNvPr>
              <p:cNvSpPr txBox="1"/>
              <p:nvPr/>
            </p:nvSpPr>
            <p:spPr>
              <a:xfrm>
                <a:off x="696190" y="5660743"/>
                <a:ext cx="10425612" cy="461665"/>
              </a:xfrm>
              <a:prstGeom prst="rect">
                <a:avLst/>
              </a:prstGeom>
              <a:noFill/>
            </p:spPr>
            <p:txBody>
              <a:bodyPr wrap="square">
                <a:spAutoFit/>
              </a:bodyPr>
              <a:lstStyle/>
              <a:p>
                <a:r>
                  <a:rPr lang="nl-BE" sz="2400" dirty="0"/>
                  <a:t>Furthermore, if we define </a:t>
                </a:r>
                <a14:m>
                  <m:oMath xmlns:m="http://schemas.openxmlformats.org/officeDocument/2006/math">
                    <m:sSub>
                      <m:sSubPr>
                        <m:ctrlPr>
                          <a:rPr lang="nl-BE" sz="2400" i="1" smtClean="0">
                            <a:latin typeface="Cambria Math" panose="02040503050406030204" pitchFamily="18" charset="0"/>
                            <a:ea typeface="Cambria Math" panose="02040503050406030204" pitchFamily="18" charset="0"/>
                          </a:rPr>
                        </m:ctrlPr>
                      </m:sSubPr>
                      <m:e>
                        <m:r>
                          <a:rPr lang="nl-BE" sz="2400" b="1" i="1" smtClean="0">
                            <a:latin typeface="Cambria Math" panose="02040503050406030204" pitchFamily="18" charset="0"/>
                            <a:ea typeface="Cambria Math" panose="02040503050406030204" pitchFamily="18" charset="0"/>
                          </a:rPr>
                          <m:t>𝒆</m:t>
                        </m:r>
                      </m:e>
                      <m:sub>
                        <m:r>
                          <a:rPr lang="nl-BE" sz="2400" b="0" i="1" smtClean="0">
                            <a:latin typeface="Cambria Math" panose="02040503050406030204" pitchFamily="18" charset="0"/>
                            <a:ea typeface="Cambria Math" panose="02040503050406030204" pitchFamily="18" charset="0"/>
                          </a:rPr>
                          <m:t>𝑖</m:t>
                        </m:r>
                      </m:sub>
                    </m:sSub>
                    <m:r>
                      <a:rPr lang="nl-BE" sz="2400" b="1" i="1">
                        <a:latin typeface="Cambria Math" panose="02040503050406030204" pitchFamily="18" charset="0"/>
                        <a:ea typeface="Cambria Math" panose="02040503050406030204" pitchFamily="18" charset="0"/>
                      </a:rPr>
                      <m:t>∈</m:t>
                    </m:r>
                    <m:sSup>
                      <m:sSupPr>
                        <m:ctrlPr>
                          <a:rPr lang="nl-BE" sz="2400" b="1" i="1">
                            <a:latin typeface="Cambria Math" panose="02040503050406030204" pitchFamily="18" charset="0"/>
                            <a:ea typeface="Cambria Math" panose="02040503050406030204" pitchFamily="18" charset="0"/>
                          </a:rPr>
                        </m:ctrlPr>
                      </m:sSupPr>
                      <m:e>
                        <m:r>
                          <a:rPr lang="nl-BE" sz="2400" b="1" i="1">
                            <a:latin typeface="Cambria Math" panose="02040503050406030204" pitchFamily="18" charset="0"/>
                            <a:ea typeface="Cambria Math" panose="02040503050406030204" pitchFamily="18" charset="0"/>
                          </a:rPr>
                          <m:t>ℝ</m:t>
                        </m:r>
                      </m:e>
                      <m:sup>
                        <m:r>
                          <a:rPr lang="nl-BE" sz="2400" b="1" i="1">
                            <a:latin typeface="Cambria Math" panose="02040503050406030204" pitchFamily="18" charset="0"/>
                            <a:ea typeface="Cambria Math" panose="02040503050406030204" pitchFamily="18" charset="0"/>
                          </a:rPr>
                          <m:t>𝒏</m:t>
                        </m:r>
                      </m:sup>
                    </m:sSup>
                  </m:oMath>
                </a14:m>
                <a:r>
                  <a:rPr lang="nl-BE" sz="2400" dirty="0"/>
                  <a:t> as the i</a:t>
                </a:r>
                <a:r>
                  <a:rPr lang="nl-BE" sz="2400" baseline="30000" dirty="0"/>
                  <a:t>th</a:t>
                </a:r>
                <a:r>
                  <a:rPr lang="nl-BE" sz="2400" dirty="0"/>
                  <a:t> indicator vector:</a:t>
                </a:r>
              </a:p>
            </p:txBody>
          </p:sp>
        </mc:Choice>
        <mc:Fallback xmlns="">
          <p:sp>
            <p:nvSpPr>
              <p:cNvPr id="8" name="Tekstvak 7">
                <a:extLst>
                  <a:ext uri="{FF2B5EF4-FFF2-40B4-BE49-F238E27FC236}">
                    <a16:creationId xmlns:a16="http://schemas.microsoft.com/office/drawing/2014/main" id="{8CF7B3EF-415C-C693-7319-2D4E53A148A6}"/>
                  </a:ext>
                </a:extLst>
              </p:cNvPr>
              <p:cNvSpPr txBox="1">
                <a:spLocks noRot="1" noChangeAspect="1" noMove="1" noResize="1" noEditPoints="1" noAdjustHandles="1" noChangeArrowheads="1" noChangeShapeType="1" noTextEdit="1"/>
              </p:cNvSpPr>
              <p:nvPr/>
            </p:nvSpPr>
            <p:spPr>
              <a:xfrm>
                <a:off x="696190" y="5660743"/>
                <a:ext cx="10425612" cy="461665"/>
              </a:xfrm>
              <a:prstGeom prst="rect">
                <a:avLst/>
              </a:prstGeom>
              <a:blipFill>
                <a:blip r:embed="rId6"/>
                <a:stretch>
                  <a:fillRect l="-852" t="-10811" b="-29730"/>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12" name="Tekstvak 11">
                <a:extLst>
                  <a:ext uri="{FF2B5EF4-FFF2-40B4-BE49-F238E27FC236}">
                    <a16:creationId xmlns:a16="http://schemas.microsoft.com/office/drawing/2014/main" id="{86277E55-B454-C410-D80C-9B916C75F0E5}"/>
                  </a:ext>
                </a:extLst>
              </p:cNvPr>
              <p:cNvSpPr txBox="1"/>
              <p:nvPr/>
            </p:nvSpPr>
            <p:spPr>
              <a:xfrm>
                <a:off x="3863008" y="6091718"/>
                <a:ext cx="6096000" cy="461665"/>
              </a:xfrm>
              <a:prstGeom prst="rect">
                <a:avLst/>
              </a:prstGeom>
              <a:noFill/>
            </p:spPr>
            <p:txBody>
              <a:bodyPr wrap="square">
                <a:spAutoFit/>
              </a:bodyPr>
              <a:lstStyle/>
              <a:p>
                <a:r>
                  <a:rPr lang="nl-BE" sz="2400" b="0" dirty="0">
                    <a:ea typeface="Cambria Math" panose="02040503050406030204" pitchFamily="18" charset="0"/>
                  </a:rPr>
                  <a:t>K</a:t>
                </a:r>
                <a14:m>
                  <m:oMath xmlns:m="http://schemas.openxmlformats.org/officeDocument/2006/math">
                    <m:d>
                      <m:dPr>
                        <m:ctrlPr>
                          <a:rPr lang="nl-BE" sz="2400" b="0" i="1" smtClean="0">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𝑖</m:t>
                            </m:r>
                          </m:sub>
                        </m:sSub>
                        <m:r>
                          <a:rPr lang="nl-BE" sz="2400" b="0" i="1" smtClean="0">
                            <a:latin typeface="Cambria Math" panose="02040503050406030204" pitchFamily="18" charset="0"/>
                            <a:ea typeface="Cambria Math" panose="02040503050406030204" pitchFamily="18" charset="0"/>
                          </a:rPr>
                          <m:t>,</m:t>
                        </m:r>
                        <m:r>
                          <a:rPr lang="nl-BE" sz="2400" b="1" i="1" smtClean="0">
                            <a:latin typeface="Cambria Math" panose="02040503050406030204" pitchFamily="18" charset="0"/>
                            <a:ea typeface="Cambria Math" panose="02040503050406030204" pitchFamily="18" charset="0"/>
                          </a:rPr>
                          <m:t>𝑿</m:t>
                        </m:r>
                      </m:e>
                    </m:d>
                    <m:r>
                      <a:rPr lang="nl-BE" sz="2400" i="1">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r>
                          <a:rPr lang="nl-BE" sz="2400" b="1" i="1">
                            <a:latin typeface="Cambria Math" panose="02040503050406030204" pitchFamily="18" charset="0"/>
                            <a:ea typeface="Cambria Math" panose="02040503050406030204" pitchFamily="18" charset="0"/>
                          </a:rPr>
                          <m:t>𝑿</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oMath>
                </a14:m>
                <a:r>
                  <a:rPr lang="nl-BE" sz="2400" dirty="0">
                    <a:ea typeface="Cambria Math" panose="02040503050406030204" pitchFamily="18" charset="0"/>
                  </a:rPr>
                  <a:t> x </a:t>
                </a:r>
                <a14:m>
                  <m:oMath xmlns:m="http://schemas.openxmlformats.org/officeDocument/2006/math">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𝒆</m:t>
                        </m:r>
                      </m:e>
                      <m:sub>
                        <m:r>
                          <a:rPr lang="nl-BE" sz="2400" i="1">
                            <a:latin typeface="Cambria Math" panose="02040503050406030204" pitchFamily="18" charset="0"/>
                            <a:ea typeface="Cambria Math" panose="02040503050406030204" pitchFamily="18" charset="0"/>
                          </a:rPr>
                          <m:t>𝑖</m:t>
                        </m:r>
                      </m:sub>
                    </m:sSub>
                  </m:oMath>
                </a14:m>
                <a:endParaRPr lang="nl-BE" sz="2400" dirty="0"/>
              </a:p>
            </p:txBody>
          </p:sp>
        </mc:Choice>
        <mc:Fallback xmlns="">
          <p:sp>
            <p:nvSpPr>
              <p:cNvPr id="12" name="Tekstvak 11">
                <a:extLst>
                  <a:ext uri="{FF2B5EF4-FFF2-40B4-BE49-F238E27FC236}">
                    <a16:creationId xmlns:a16="http://schemas.microsoft.com/office/drawing/2014/main" id="{86277E55-B454-C410-D80C-9B916C75F0E5}"/>
                  </a:ext>
                </a:extLst>
              </p:cNvPr>
              <p:cNvSpPr txBox="1">
                <a:spLocks noRot="1" noChangeAspect="1" noMove="1" noResize="1" noEditPoints="1" noAdjustHandles="1" noChangeArrowheads="1" noChangeShapeType="1" noTextEdit="1"/>
              </p:cNvSpPr>
              <p:nvPr/>
            </p:nvSpPr>
            <p:spPr>
              <a:xfrm>
                <a:off x="3863008" y="6091718"/>
                <a:ext cx="6096000" cy="461665"/>
              </a:xfrm>
              <a:prstGeom prst="rect">
                <a:avLst/>
              </a:prstGeom>
              <a:blipFill>
                <a:blip r:embed="rId7"/>
                <a:stretch>
                  <a:fillRect l="-1663" t="-10811" b="-32432"/>
                </a:stretch>
              </a:blipFill>
            </p:spPr>
            <p:txBody>
              <a:bodyPr/>
              <a:lstStyle/>
              <a:p>
                <a:r>
                  <a:rPr lang="nl-BE">
                    <a:noFill/>
                  </a:rPr>
                  <a:t> </a:t>
                </a:r>
              </a:p>
            </p:txBody>
          </p:sp>
        </mc:Fallback>
      </mc:AlternateContent>
      <p:sp>
        <p:nvSpPr>
          <p:cNvPr id="5" name="Tijdelijke aanduiding voor dianummer 4">
            <a:extLst>
              <a:ext uri="{FF2B5EF4-FFF2-40B4-BE49-F238E27FC236}">
                <a16:creationId xmlns:a16="http://schemas.microsoft.com/office/drawing/2014/main" id="{16ACD8CA-B0FB-B15E-898E-B05D72ED908F}"/>
              </a:ext>
            </a:extLst>
          </p:cNvPr>
          <p:cNvSpPr>
            <a:spLocks noGrp="1"/>
          </p:cNvSpPr>
          <p:nvPr>
            <p:ph type="sldNum" sz="quarter" idx="12"/>
          </p:nvPr>
        </p:nvSpPr>
        <p:spPr>
          <a:xfrm>
            <a:off x="8917941" y="6344312"/>
            <a:ext cx="2743200" cy="365125"/>
          </a:xfrm>
        </p:spPr>
        <p:txBody>
          <a:bodyPr/>
          <a:lstStyle/>
          <a:p>
            <a:fld id="{45E6605D-1E32-D542-B458-1FC57A046453}" type="slidenum">
              <a:rPr lang="nl-BE" smtClean="0"/>
              <a:t>15</a:t>
            </a:fld>
            <a:endParaRPr lang="nl-BE"/>
          </a:p>
        </p:txBody>
      </p:sp>
      <mc:AlternateContent xmlns:mc="http://schemas.openxmlformats.org/markup-compatibility/2006" xmlns:a14="http://schemas.microsoft.com/office/drawing/2010/main">
        <mc:Choice Requires="a14">
          <p:sp>
            <p:nvSpPr>
              <p:cNvPr id="9" name="Tekstvak 8">
                <a:extLst>
                  <a:ext uri="{FF2B5EF4-FFF2-40B4-BE49-F238E27FC236}">
                    <a16:creationId xmlns:a16="http://schemas.microsoft.com/office/drawing/2014/main" id="{3100045D-4513-622B-ACCD-D07D10796B64}"/>
                  </a:ext>
                </a:extLst>
              </p:cNvPr>
              <p:cNvSpPr txBox="1"/>
              <p:nvPr/>
            </p:nvSpPr>
            <p:spPr>
              <a:xfrm>
                <a:off x="834888" y="1488502"/>
                <a:ext cx="10561982" cy="1218732"/>
              </a:xfrm>
              <a:prstGeom prst="rect">
                <a:avLst/>
              </a:prstGeom>
              <a:noFill/>
            </p:spPr>
            <p:txBody>
              <a:bodyPr wrap="square">
                <a:spAutoFit/>
              </a:bodyPr>
              <a:lstStyle/>
              <a:p>
                <a14:m>
                  <m:oMath xmlns:m="http://schemas.openxmlformats.org/officeDocument/2006/math">
                    <m:r>
                      <a:rPr lang="nl-BE" sz="2400" b="0" i="1" smtClean="0">
                        <a:latin typeface="Cambria Math" panose="02040503050406030204" pitchFamily="18" charset="0"/>
                        <a:ea typeface="Cambria Math" panose="02040503050406030204" pitchFamily="18" charset="0"/>
                      </a:rPr>
                      <m:t>𝜇</m:t>
                    </m:r>
                    <m:d>
                      <m:dPr>
                        <m:ctrlPr>
                          <a:rPr lang="nl-BE" sz="2400" b="0" i="1" smtClean="0">
                            <a:latin typeface="Cambria Math" panose="02040503050406030204" pitchFamily="18" charset="0"/>
                            <a:ea typeface="Cambria Math" panose="02040503050406030204" pitchFamily="18" charset="0"/>
                          </a:rPr>
                        </m:ctrlPr>
                      </m:dPr>
                      <m:e>
                        <m:sSub>
                          <m:sSubPr>
                            <m:ctrlPr>
                              <a:rPr lang="nl-BE" sz="2400" b="1" i="1" smtClean="0">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smtClean="0">
                                <a:latin typeface="Cambria Math" panose="02040503050406030204" pitchFamily="18" charset="0"/>
                                <a:ea typeface="Cambria Math" panose="02040503050406030204" pitchFamily="18" charset="0"/>
                              </a:rPr>
                              <m:t>𝒊</m:t>
                            </m:r>
                          </m:sub>
                        </m:sSub>
                      </m:e>
                    </m:d>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𝑚</m:t>
                    </m:r>
                    <m:d>
                      <m:dPr>
                        <m:ctrlPr>
                          <a:rPr lang="nl-BE" sz="2400" b="0" i="1" smtClean="0">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e>
                    </m:d>
                    <m:r>
                      <a:rPr lang="nl-BE" sz="2400" b="0" i="1" smtClean="0">
                        <a:latin typeface="Cambria Math" panose="02040503050406030204" pitchFamily="18" charset="0"/>
                        <a:ea typeface="Cambria Math" panose="02040503050406030204" pitchFamily="18" charset="0"/>
                      </a:rPr>
                      <m:t>+</m:t>
                    </m:r>
                    <m:sSup>
                      <m:sSupPr>
                        <m:ctrlPr>
                          <a:rPr lang="nl-BE" sz="2400" b="0" i="1" smtClean="0">
                            <a:latin typeface="Cambria Math" panose="02040503050406030204" pitchFamily="18" charset="0"/>
                            <a:ea typeface="Cambria Math" panose="02040503050406030204" pitchFamily="18" charset="0"/>
                          </a:rPr>
                        </m:ctrlPr>
                      </m:sSupPr>
                      <m:e>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e>
                      <m:sup>
                        <m:r>
                          <a:rPr lang="nl-BE" sz="2400" b="0" i="1" smtClean="0">
                            <a:latin typeface="Cambria Math" panose="02040503050406030204" pitchFamily="18" charset="0"/>
                            <a:ea typeface="Cambria Math" panose="02040503050406030204" pitchFamily="18" charset="0"/>
                          </a:rPr>
                          <m:t>𝑇</m:t>
                        </m:r>
                      </m:sup>
                    </m:sSup>
                    <m:sSup>
                      <m:sSupPr>
                        <m:ctrlPr>
                          <a:rPr lang="nl-BE" sz="2400" b="0" i="1" smtClean="0">
                            <a:latin typeface="Cambria Math" panose="02040503050406030204" pitchFamily="18" charset="0"/>
                            <a:ea typeface="Cambria Math" panose="02040503050406030204" pitchFamily="18" charset="0"/>
                          </a:rPr>
                        </m:ctrlPr>
                      </m:sSupPr>
                      <m:e>
                        <m:d>
                          <m:dPr>
                            <m:ctrlPr>
                              <a:rPr lang="nl-BE" sz="2400" i="1">
                                <a:latin typeface="Cambria Math" panose="02040503050406030204" pitchFamily="18" charset="0"/>
                                <a:ea typeface="Cambria Math" panose="02040503050406030204" pitchFamily="18" charset="0"/>
                              </a:rPr>
                            </m:ctrlPr>
                          </m:dPr>
                          <m:e>
                            <m:m>
                              <m:mPr>
                                <m:mcs>
                                  <m:mc>
                                    <m:mcPr>
                                      <m:count m:val="3"/>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m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e>
                              </m:mr>
                            </m:m>
                          </m:e>
                        </m:d>
                      </m:e>
                      <m:sup>
                        <m:r>
                          <a:rPr lang="nl-BE" sz="2400" b="0" i="1" smtClean="0">
                            <a:latin typeface="Cambria Math" panose="02040503050406030204" pitchFamily="18" charset="0"/>
                            <a:ea typeface="Cambria Math" panose="02040503050406030204" pitchFamily="18" charset="0"/>
                          </a:rPr>
                          <m:t>−1</m:t>
                        </m:r>
                      </m:sup>
                    </m:sSup>
                  </m:oMath>
                </a14:m>
                <a:r>
                  <a:rPr lang="nl-BE" sz="2400" dirty="0">
                    <a:ea typeface="Cambria Math" panose="02040503050406030204" pitchFamily="18" charset="0"/>
                  </a:rPr>
                  <a:t> </a:t>
                </a:r>
                <a14:m>
                  <m:oMath xmlns:m="http://schemas.openxmlformats.org/officeDocument/2006/math">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a:rPr lang="nl-BE" sz="2400" b="0" i="1" smtClean="0">
                                  <a:latin typeface="Cambria Math" panose="02040503050406030204" pitchFamily="18" charset="0"/>
                                  <a:ea typeface="Cambria Math" panose="02040503050406030204" pitchFamily="18" charset="0"/>
                                </a:rPr>
                                <m:t>𝑓</m:t>
                              </m:r>
                              <m:d>
                                <m:dPr>
                                  <m:ctrlPr>
                                    <a:rPr lang="nl-BE" sz="2400" b="0" i="1" smtClean="0">
                                      <a:latin typeface="Cambria Math" panose="02040503050406030204" pitchFamily="18" charset="0"/>
                                      <a:ea typeface="Cambria Math" panose="02040503050406030204" pitchFamily="18" charset="0"/>
                                    </a:rPr>
                                  </m:ctrlPr>
                                </m:dPr>
                                <m:e>
                                  <m:sSub>
                                    <m:sSubPr>
                                      <m:ctrlPr>
                                        <a:rPr lang="nl-BE" sz="2400" b="0" i="1" smtClean="0">
                                          <a:latin typeface="Cambria Math" panose="02040503050406030204" pitchFamily="18" charset="0"/>
                                          <a:ea typeface="Cambria Math" panose="02040503050406030204" pitchFamily="18" charset="0"/>
                                        </a:rPr>
                                      </m:ctrlPr>
                                    </m:sSubPr>
                                    <m:e>
                                      <m:r>
                                        <a:rPr lang="nl-BE" sz="2400" b="1" i="1" smtClean="0">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1</m:t>
                                      </m:r>
                                    </m:sub>
                                  </m:sSub>
                                </m:e>
                              </m:d>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𝑚</m:t>
                              </m:r>
                              <m:r>
                                <a:rPr lang="nl-BE" sz="2400" b="0" i="1" smtClean="0">
                                  <a:latin typeface="Cambria Math" panose="02040503050406030204" pitchFamily="18" charset="0"/>
                                  <a:ea typeface="Cambria Math" panose="02040503050406030204" pitchFamily="18" charset="0"/>
                                </a:rPr>
                                <m:t>(</m:t>
                              </m:r>
                              <m:sSub>
                                <m:sSubPr>
                                  <m:ctrlPr>
                                    <a:rPr lang="nl-BE" sz="2400" b="0" i="1" smtClean="0">
                                      <a:latin typeface="Cambria Math" panose="02040503050406030204" pitchFamily="18" charset="0"/>
                                      <a:ea typeface="Cambria Math" panose="02040503050406030204" pitchFamily="18" charset="0"/>
                                    </a:rPr>
                                  </m:ctrlPr>
                                </m:sSubPr>
                                <m:e>
                                  <m:r>
                                    <a:rPr lang="nl-BE" sz="2400" b="1" i="1" smtClean="0">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1</m:t>
                                  </m:r>
                                </m:sub>
                              </m:sSub>
                              <m:r>
                                <a:rPr lang="nl-BE" sz="2400" b="0" i="1" smtClean="0">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𝑓</m:t>
                              </m:r>
                              <m:d>
                                <m:dPr>
                                  <m:ctrlPr>
                                    <a:rPr lang="nl-BE" sz="2400" i="1">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𝑡</m:t>
                                      </m:r>
                                    </m:sub>
                                  </m:sSub>
                                </m:e>
                              </m:d>
                              <m:r>
                                <a:rPr lang="nl-BE" sz="2400" i="1">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𝑚</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oMath>
                </a14:m>
                <a:endParaRPr lang="nl-BE" sz="2400" dirty="0"/>
              </a:p>
            </p:txBody>
          </p:sp>
        </mc:Choice>
        <mc:Fallback xmlns="">
          <p:sp>
            <p:nvSpPr>
              <p:cNvPr id="9" name="Tekstvak 8">
                <a:extLst>
                  <a:ext uri="{FF2B5EF4-FFF2-40B4-BE49-F238E27FC236}">
                    <a16:creationId xmlns:a16="http://schemas.microsoft.com/office/drawing/2014/main" id="{3100045D-4513-622B-ACCD-D07D10796B64}"/>
                  </a:ext>
                </a:extLst>
              </p:cNvPr>
              <p:cNvSpPr txBox="1">
                <a:spLocks noRot="1" noChangeAspect="1" noMove="1" noResize="1" noEditPoints="1" noAdjustHandles="1" noChangeArrowheads="1" noChangeShapeType="1" noTextEdit="1"/>
              </p:cNvSpPr>
              <p:nvPr/>
            </p:nvSpPr>
            <p:spPr>
              <a:xfrm>
                <a:off x="834888" y="1488502"/>
                <a:ext cx="10561982" cy="1218732"/>
              </a:xfrm>
              <a:prstGeom prst="rect">
                <a:avLst/>
              </a:prstGeom>
              <a:blipFill>
                <a:blip r:embed="rId8"/>
                <a:stretch>
                  <a:fillRect l="-120" b="-8247"/>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10" name="Tekstvak 9">
                <a:extLst>
                  <a:ext uri="{FF2B5EF4-FFF2-40B4-BE49-F238E27FC236}">
                    <a16:creationId xmlns:a16="http://schemas.microsoft.com/office/drawing/2014/main" id="{8A119BB2-32E1-9217-A021-C4C3902E371B}"/>
                  </a:ext>
                </a:extLst>
              </p:cNvPr>
              <p:cNvSpPr txBox="1"/>
              <p:nvPr/>
            </p:nvSpPr>
            <p:spPr>
              <a:xfrm>
                <a:off x="825484" y="2765599"/>
                <a:ext cx="10717159" cy="1218732"/>
              </a:xfrm>
              <a:prstGeom prst="rect">
                <a:avLst/>
              </a:prstGeom>
              <a:noFill/>
            </p:spPr>
            <p:txBody>
              <a:bodyPr wrap="square">
                <a:spAutoFit/>
              </a:bodyPr>
              <a:lstStyle/>
              <a:p>
                <a14:m>
                  <m:oMath xmlns:m="http://schemas.openxmlformats.org/officeDocument/2006/math">
                    <m:sSup>
                      <m:sSupPr>
                        <m:ctrlPr>
                          <a:rPr lang="nl-BE" sz="2400" b="0" i="1" smtClean="0">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𝜎</m:t>
                        </m:r>
                      </m:e>
                      <m:sup>
                        <m:r>
                          <a:rPr lang="nl-BE" sz="2400" b="0" i="1" smtClean="0">
                            <a:latin typeface="Cambria Math" panose="02040503050406030204" pitchFamily="18" charset="0"/>
                            <a:ea typeface="Cambria Math" panose="02040503050406030204" pitchFamily="18" charset="0"/>
                          </a:rPr>
                          <m:t>2</m:t>
                        </m:r>
                      </m:sup>
                    </m:sSup>
                    <m:d>
                      <m:dPr>
                        <m:ctrlPr>
                          <a:rPr lang="nl-BE" sz="2400" b="0" i="1" smtClean="0">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e>
                    </m:d>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𝐾</m:t>
                    </m:r>
                    <m:r>
                      <a:rPr lang="nl-BE" sz="2400" b="0" i="1" smtClean="0">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b="0" i="1" smtClean="0">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b="0" i="1" smtClean="0">
                        <a:latin typeface="Cambria Math" panose="02040503050406030204" pitchFamily="18" charset="0"/>
                        <a:ea typeface="Cambria Math" panose="02040503050406030204" pitchFamily="18" charset="0"/>
                      </a:rPr>
                      <m:t>)−</m:t>
                    </m:r>
                    <m:sSup>
                      <m:sSupPr>
                        <m:ctrlPr>
                          <a:rPr lang="nl-BE" sz="2400" b="0" i="1" smtClean="0">
                            <a:latin typeface="Cambria Math" panose="02040503050406030204" pitchFamily="18" charset="0"/>
                            <a:ea typeface="Cambria Math" panose="02040503050406030204" pitchFamily="18" charset="0"/>
                          </a:rPr>
                        </m:ctrlPr>
                      </m:sSupPr>
                      <m:e>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e>
                      <m:sup>
                        <m:r>
                          <a:rPr lang="nl-BE" sz="2400" b="0" i="1" smtClean="0">
                            <a:latin typeface="Cambria Math" panose="02040503050406030204" pitchFamily="18" charset="0"/>
                            <a:ea typeface="Cambria Math" panose="02040503050406030204" pitchFamily="18" charset="0"/>
                          </a:rPr>
                          <m:t>𝑇</m:t>
                        </m:r>
                      </m:sup>
                    </m:sSup>
                    <m:sSup>
                      <m:sSupPr>
                        <m:ctrlPr>
                          <a:rPr lang="nl-BE" sz="2400" b="0" i="1" smtClean="0">
                            <a:latin typeface="Cambria Math" panose="02040503050406030204" pitchFamily="18" charset="0"/>
                            <a:ea typeface="Cambria Math" panose="02040503050406030204" pitchFamily="18" charset="0"/>
                          </a:rPr>
                        </m:ctrlPr>
                      </m:sSupPr>
                      <m:e>
                        <m:d>
                          <m:dPr>
                            <m:ctrlPr>
                              <a:rPr lang="nl-BE" sz="2400" i="1">
                                <a:latin typeface="Cambria Math" panose="02040503050406030204" pitchFamily="18" charset="0"/>
                                <a:ea typeface="Cambria Math" panose="02040503050406030204" pitchFamily="18" charset="0"/>
                              </a:rPr>
                            </m:ctrlPr>
                          </m:dPr>
                          <m:e>
                            <m:m>
                              <m:mPr>
                                <m:mcs>
                                  <m:mc>
                                    <m:mcPr>
                                      <m:count m:val="3"/>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m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e>
                              </m:mr>
                            </m:m>
                          </m:e>
                        </m:d>
                      </m:e>
                      <m:sup>
                        <m:r>
                          <a:rPr lang="nl-BE" sz="2400" b="0" i="1" smtClean="0">
                            <a:latin typeface="Cambria Math" panose="02040503050406030204" pitchFamily="18" charset="0"/>
                            <a:ea typeface="Cambria Math" panose="02040503050406030204" pitchFamily="18" charset="0"/>
                          </a:rPr>
                          <m:t>−1</m:t>
                        </m:r>
                      </m:sup>
                    </m:sSup>
                  </m:oMath>
                </a14:m>
                <a:r>
                  <a:rPr lang="nl-BE" sz="2400" dirty="0">
                    <a:ea typeface="Cambria Math" panose="02040503050406030204" pitchFamily="18" charset="0"/>
                  </a:rPr>
                  <a:t> </a:t>
                </a:r>
                <a14:m>
                  <m:oMath xmlns:m="http://schemas.openxmlformats.org/officeDocument/2006/math">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oMath>
                </a14:m>
                <a:endParaRPr lang="nl-BE" sz="2400" dirty="0"/>
              </a:p>
            </p:txBody>
          </p:sp>
        </mc:Choice>
        <mc:Fallback xmlns="">
          <p:sp>
            <p:nvSpPr>
              <p:cNvPr id="10" name="Tekstvak 9">
                <a:extLst>
                  <a:ext uri="{FF2B5EF4-FFF2-40B4-BE49-F238E27FC236}">
                    <a16:creationId xmlns:a16="http://schemas.microsoft.com/office/drawing/2014/main" id="{8A119BB2-32E1-9217-A021-C4C3902E371B}"/>
                  </a:ext>
                </a:extLst>
              </p:cNvPr>
              <p:cNvSpPr txBox="1">
                <a:spLocks noRot="1" noChangeAspect="1" noMove="1" noResize="1" noEditPoints="1" noAdjustHandles="1" noChangeArrowheads="1" noChangeShapeType="1" noTextEdit="1"/>
              </p:cNvSpPr>
              <p:nvPr/>
            </p:nvSpPr>
            <p:spPr>
              <a:xfrm>
                <a:off x="825484" y="2765599"/>
                <a:ext cx="10717159" cy="1218732"/>
              </a:xfrm>
              <a:prstGeom prst="rect">
                <a:avLst/>
              </a:prstGeom>
              <a:blipFill>
                <a:blip r:embed="rId9"/>
                <a:stretch>
                  <a:fillRect b="-6186"/>
                </a:stretch>
              </a:blipFill>
            </p:spPr>
            <p:txBody>
              <a:bodyPr/>
              <a:lstStyle/>
              <a:p>
                <a:r>
                  <a:rPr lang="nl-BE">
                    <a:noFill/>
                  </a:rPr>
                  <a:t> </a:t>
                </a:r>
              </a:p>
            </p:txBody>
          </p:sp>
        </mc:Fallback>
      </mc:AlternateContent>
    </p:spTree>
    <p:extLst>
      <p:ext uri="{BB962C8B-B14F-4D97-AF65-F5344CB8AC3E}">
        <p14:creationId xmlns:p14="http://schemas.microsoft.com/office/powerpoint/2010/main" val="29063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p:bldP spid="8" grpId="0"/>
      <p:bldP spid="12" grpId="0"/>
      <p:bldP spid="9"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DD524-8BFE-F7C8-E428-0B04BA9AA3C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D501EA6-0571-5322-2B76-74184C5BAC70}"/>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Defining the prior</a:t>
            </a:r>
          </a:p>
        </p:txBody>
      </p:sp>
      <mc:AlternateContent xmlns:mc="http://schemas.openxmlformats.org/markup-compatibility/2006" xmlns:a14="http://schemas.microsoft.com/office/drawing/2010/main">
        <mc:Choice Requires="a14">
          <p:sp>
            <p:nvSpPr>
              <p:cNvPr id="3" name="Tekstvak 2">
                <a:extLst>
                  <a:ext uri="{FF2B5EF4-FFF2-40B4-BE49-F238E27FC236}">
                    <a16:creationId xmlns:a16="http://schemas.microsoft.com/office/drawing/2014/main" id="{A0B4C8AD-BC6B-2D77-3154-88C7F441838A}"/>
                  </a:ext>
                </a:extLst>
              </p:cNvPr>
              <p:cNvSpPr txBox="1"/>
              <p:nvPr/>
            </p:nvSpPr>
            <p:spPr>
              <a:xfrm>
                <a:off x="1630017" y="1255328"/>
                <a:ext cx="10561983" cy="461665"/>
              </a:xfrm>
              <a:prstGeom prst="rect">
                <a:avLst/>
              </a:prstGeom>
              <a:noFill/>
            </p:spPr>
            <p:txBody>
              <a:bodyPr wrap="square" rtlCol="0">
                <a:spAutoFit/>
              </a:bodyPr>
              <a:lstStyle/>
              <a:p>
                <a:r>
                  <a:rPr lang="nl-BE" sz="2400" dirty="0">
                    <a:solidFill>
                      <a:srgbClr val="FF0000"/>
                    </a:solidFill>
                  </a:rPr>
                  <a:t>For any observed datapoint </a:t>
                </a:r>
                <a14:m>
                  <m:oMath xmlns:m="http://schemas.openxmlformats.org/officeDocument/2006/math">
                    <m:sSub>
                      <m:sSubPr>
                        <m:ctrlPr>
                          <a:rPr lang="nl-BE" sz="2400" b="1" i="1" smtClean="0">
                            <a:solidFill>
                              <a:srgbClr val="FF0000"/>
                            </a:solidFill>
                            <a:latin typeface="Cambria Math" panose="02040503050406030204" pitchFamily="18" charset="0"/>
                          </a:rPr>
                        </m:ctrlPr>
                      </m:sSubPr>
                      <m:e>
                        <m:r>
                          <a:rPr lang="nl-BE" sz="2400" b="1" i="1">
                            <a:solidFill>
                              <a:srgbClr val="FF0000"/>
                            </a:solidFill>
                            <a:latin typeface="Cambria Math" panose="02040503050406030204" pitchFamily="18" charset="0"/>
                          </a:rPr>
                          <m:t>𝒙</m:t>
                        </m:r>
                      </m:e>
                      <m:sub>
                        <m:r>
                          <a:rPr lang="nl-BE" sz="2400" b="1" i="1" smtClean="0">
                            <a:solidFill>
                              <a:srgbClr val="FF0000"/>
                            </a:solidFill>
                            <a:latin typeface="Cambria Math" panose="02040503050406030204" pitchFamily="18" charset="0"/>
                          </a:rPr>
                          <m:t>𝒊</m:t>
                        </m:r>
                      </m:sub>
                    </m:sSub>
                  </m:oMath>
                </a14:m>
                <a:r>
                  <a:rPr lang="nl-BE" sz="2400" dirty="0">
                    <a:solidFill>
                      <a:srgbClr val="FF0000"/>
                    </a:solidFill>
                  </a:rPr>
                  <a:t>, </a:t>
                </a:r>
                <a14:m>
                  <m:oMath xmlns:m="http://schemas.openxmlformats.org/officeDocument/2006/math">
                    <m:r>
                      <a:rPr lang="nl-BE" sz="2400" i="1">
                        <a:solidFill>
                          <a:srgbClr val="FF0000"/>
                        </a:solidFill>
                        <a:latin typeface="Cambria Math" panose="02040503050406030204" pitchFamily="18" charset="0"/>
                        <a:ea typeface="Cambria Math" panose="02040503050406030204" pitchFamily="18" charset="0"/>
                      </a:rPr>
                      <m:t>𝜇</m:t>
                    </m:r>
                    <m:d>
                      <m:dPr>
                        <m:ctrlPr>
                          <a:rPr lang="nl-BE" sz="2400" i="1">
                            <a:solidFill>
                              <a:srgbClr val="FF0000"/>
                            </a:solidFill>
                            <a:latin typeface="Cambria Math" panose="02040503050406030204" pitchFamily="18" charset="0"/>
                            <a:ea typeface="Cambria Math" panose="02040503050406030204" pitchFamily="18" charset="0"/>
                          </a:rPr>
                        </m:ctrlPr>
                      </m:dPr>
                      <m:e>
                        <m:sSub>
                          <m:sSubPr>
                            <m:ctrlPr>
                              <a:rPr lang="nl-BE" sz="2400" b="1" i="1">
                                <a:solidFill>
                                  <a:srgbClr val="FF0000"/>
                                </a:solidFill>
                                <a:latin typeface="Cambria Math" panose="02040503050406030204" pitchFamily="18" charset="0"/>
                              </a:rPr>
                            </m:ctrlPr>
                          </m:sSubPr>
                          <m:e>
                            <m:r>
                              <a:rPr lang="nl-BE" sz="2400" b="1" i="1">
                                <a:solidFill>
                                  <a:srgbClr val="FF0000"/>
                                </a:solidFill>
                                <a:latin typeface="Cambria Math" panose="02040503050406030204" pitchFamily="18" charset="0"/>
                              </a:rPr>
                              <m:t>𝒙</m:t>
                            </m:r>
                          </m:e>
                          <m:sub>
                            <m:r>
                              <a:rPr lang="nl-BE" sz="2400" b="1" i="1">
                                <a:solidFill>
                                  <a:srgbClr val="FF0000"/>
                                </a:solidFill>
                                <a:latin typeface="Cambria Math" panose="02040503050406030204" pitchFamily="18" charset="0"/>
                              </a:rPr>
                              <m:t>𝒊</m:t>
                            </m:r>
                          </m:sub>
                        </m:sSub>
                      </m:e>
                    </m:d>
                  </m:oMath>
                </a14:m>
                <a:r>
                  <a:rPr lang="nl-BE" sz="2400" dirty="0">
                    <a:solidFill>
                      <a:srgbClr val="FF0000"/>
                    </a:solidFill>
                  </a:rPr>
                  <a:t>=</a:t>
                </a:r>
                <a14:m>
                  <m:oMath xmlns:m="http://schemas.openxmlformats.org/officeDocument/2006/math">
                    <m:r>
                      <a:rPr lang="nl-BE" sz="2400" i="1">
                        <a:solidFill>
                          <a:srgbClr val="FF0000"/>
                        </a:solidFill>
                        <a:latin typeface="Cambria Math" panose="02040503050406030204" pitchFamily="18" charset="0"/>
                      </a:rPr>
                      <m:t>𝑓</m:t>
                    </m:r>
                    <m:d>
                      <m:dPr>
                        <m:ctrlPr>
                          <a:rPr lang="nl-BE" sz="2400" i="1">
                            <a:solidFill>
                              <a:srgbClr val="FF0000"/>
                            </a:solidFill>
                            <a:latin typeface="Cambria Math" panose="02040503050406030204" pitchFamily="18" charset="0"/>
                            <a:ea typeface="Cambria Math" panose="02040503050406030204" pitchFamily="18" charset="0"/>
                          </a:rPr>
                        </m:ctrlPr>
                      </m:dPr>
                      <m:e>
                        <m:sSub>
                          <m:sSubPr>
                            <m:ctrlPr>
                              <a:rPr lang="nl-BE" sz="2400" b="1" i="1">
                                <a:solidFill>
                                  <a:srgbClr val="FF0000"/>
                                </a:solidFill>
                                <a:latin typeface="Cambria Math" panose="02040503050406030204" pitchFamily="18" charset="0"/>
                              </a:rPr>
                            </m:ctrlPr>
                          </m:sSubPr>
                          <m:e>
                            <m:r>
                              <a:rPr lang="nl-BE" sz="2400" b="1" i="1">
                                <a:solidFill>
                                  <a:srgbClr val="FF0000"/>
                                </a:solidFill>
                                <a:latin typeface="Cambria Math" panose="02040503050406030204" pitchFamily="18" charset="0"/>
                              </a:rPr>
                              <m:t>𝒙</m:t>
                            </m:r>
                          </m:e>
                          <m:sub>
                            <m:r>
                              <a:rPr lang="nl-BE" sz="2400" b="1" i="1">
                                <a:solidFill>
                                  <a:srgbClr val="FF0000"/>
                                </a:solidFill>
                                <a:latin typeface="Cambria Math" panose="02040503050406030204" pitchFamily="18" charset="0"/>
                              </a:rPr>
                              <m:t>𝒊</m:t>
                            </m:r>
                          </m:sub>
                        </m:sSub>
                      </m:e>
                    </m:d>
                  </m:oMath>
                </a14:m>
                <a:r>
                  <a:rPr lang="nl-BE" sz="2400" dirty="0">
                    <a:solidFill>
                      <a:srgbClr val="FF0000"/>
                    </a:solidFill>
                  </a:rPr>
                  <a:t> and </a:t>
                </a:r>
                <a14:m>
                  <m:oMath xmlns:m="http://schemas.openxmlformats.org/officeDocument/2006/math">
                    <m:sSup>
                      <m:sSupPr>
                        <m:ctrlPr>
                          <a:rPr lang="nl-BE" sz="2400" i="1">
                            <a:solidFill>
                              <a:srgbClr val="FF0000"/>
                            </a:solidFill>
                            <a:latin typeface="Cambria Math" panose="02040503050406030204" pitchFamily="18" charset="0"/>
                            <a:ea typeface="Cambria Math" panose="02040503050406030204" pitchFamily="18" charset="0"/>
                          </a:rPr>
                        </m:ctrlPr>
                      </m:sSupPr>
                      <m:e>
                        <m:r>
                          <a:rPr lang="nl-BE" sz="2400" i="1">
                            <a:solidFill>
                              <a:srgbClr val="FF0000"/>
                            </a:solidFill>
                            <a:latin typeface="Cambria Math" panose="02040503050406030204" pitchFamily="18" charset="0"/>
                            <a:ea typeface="Cambria Math" panose="02040503050406030204" pitchFamily="18" charset="0"/>
                          </a:rPr>
                          <m:t>𝜎</m:t>
                        </m:r>
                      </m:e>
                      <m:sup>
                        <m:r>
                          <a:rPr lang="nl-BE" sz="2400" i="1">
                            <a:solidFill>
                              <a:srgbClr val="FF0000"/>
                            </a:solidFill>
                            <a:latin typeface="Cambria Math" panose="02040503050406030204" pitchFamily="18" charset="0"/>
                            <a:ea typeface="Cambria Math" panose="02040503050406030204" pitchFamily="18" charset="0"/>
                          </a:rPr>
                          <m:t>2</m:t>
                        </m:r>
                      </m:sup>
                    </m:sSup>
                    <m:d>
                      <m:dPr>
                        <m:ctrlPr>
                          <a:rPr lang="nl-BE" sz="2400" i="1">
                            <a:solidFill>
                              <a:srgbClr val="FF0000"/>
                            </a:solidFill>
                            <a:latin typeface="Cambria Math" panose="02040503050406030204" pitchFamily="18" charset="0"/>
                            <a:ea typeface="Cambria Math" panose="02040503050406030204" pitchFamily="18" charset="0"/>
                          </a:rPr>
                        </m:ctrlPr>
                      </m:dPr>
                      <m:e>
                        <m:sSub>
                          <m:sSubPr>
                            <m:ctrlPr>
                              <a:rPr lang="nl-BE" sz="2400" b="1" i="1">
                                <a:solidFill>
                                  <a:srgbClr val="FF0000"/>
                                </a:solidFill>
                                <a:latin typeface="Cambria Math" panose="02040503050406030204" pitchFamily="18" charset="0"/>
                              </a:rPr>
                            </m:ctrlPr>
                          </m:sSubPr>
                          <m:e>
                            <m:r>
                              <a:rPr lang="nl-BE" sz="2400" b="1" i="1">
                                <a:solidFill>
                                  <a:srgbClr val="FF0000"/>
                                </a:solidFill>
                                <a:latin typeface="Cambria Math" panose="02040503050406030204" pitchFamily="18" charset="0"/>
                              </a:rPr>
                              <m:t>𝒙</m:t>
                            </m:r>
                          </m:e>
                          <m:sub>
                            <m:r>
                              <a:rPr lang="nl-BE" sz="2400" b="1" i="1">
                                <a:solidFill>
                                  <a:srgbClr val="FF0000"/>
                                </a:solidFill>
                                <a:latin typeface="Cambria Math" panose="02040503050406030204" pitchFamily="18" charset="0"/>
                              </a:rPr>
                              <m:t>𝒊</m:t>
                            </m:r>
                          </m:sub>
                        </m:sSub>
                      </m:e>
                    </m:d>
                  </m:oMath>
                </a14:m>
                <a:r>
                  <a:rPr lang="nl-BE" sz="2400" dirty="0">
                    <a:solidFill>
                      <a:srgbClr val="FF0000"/>
                    </a:solidFill>
                  </a:rPr>
                  <a:t>=0</a:t>
                </a:r>
              </a:p>
            </p:txBody>
          </p:sp>
        </mc:Choice>
        <mc:Fallback xmlns="">
          <p:sp>
            <p:nvSpPr>
              <p:cNvPr id="3" name="Tekstvak 2">
                <a:extLst>
                  <a:ext uri="{FF2B5EF4-FFF2-40B4-BE49-F238E27FC236}">
                    <a16:creationId xmlns:a16="http://schemas.microsoft.com/office/drawing/2014/main" id="{A0B4C8AD-BC6B-2D77-3154-88C7F441838A}"/>
                  </a:ext>
                </a:extLst>
              </p:cNvPr>
              <p:cNvSpPr txBox="1">
                <a:spLocks noRot="1" noChangeAspect="1" noMove="1" noResize="1" noEditPoints="1" noAdjustHandles="1" noChangeArrowheads="1" noChangeShapeType="1" noTextEdit="1"/>
              </p:cNvSpPr>
              <p:nvPr/>
            </p:nvSpPr>
            <p:spPr>
              <a:xfrm>
                <a:off x="1630017" y="1255328"/>
                <a:ext cx="10561983" cy="461665"/>
              </a:xfrm>
              <a:prstGeom prst="rect">
                <a:avLst/>
              </a:prstGeom>
              <a:blipFill>
                <a:blip r:embed="rId3"/>
                <a:stretch>
                  <a:fillRect l="-960" t="-7895" b="-28947"/>
                </a:stretch>
              </a:blipFill>
            </p:spPr>
            <p:txBody>
              <a:bodyPr/>
              <a:lstStyle/>
              <a:p>
                <a:r>
                  <a:rPr lang="nl-BE">
                    <a:noFill/>
                  </a:rPr>
                  <a:t> </a:t>
                </a:r>
              </a:p>
            </p:txBody>
          </p:sp>
        </mc:Fallback>
      </mc:AlternateContent>
      <p:sp>
        <p:nvSpPr>
          <p:cNvPr id="4" name="Tekstvak 3">
            <a:extLst>
              <a:ext uri="{FF2B5EF4-FFF2-40B4-BE49-F238E27FC236}">
                <a16:creationId xmlns:a16="http://schemas.microsoft.com/office/drawing/2014/main" id="{5CDF28B5-2BAB-9D36-D95D-B0168B8E03F5}"/>
              </a:ext>
            </a:extLst>
          </p:cNvPr>
          <p:cNvSpPr txBox="1"/>
          <p:nvPr/>
        </p:nvSpPr>
        <p:spPr>
          <a:xfrm>
            <a:off x="971258" y="1949304"/>
            <a:ext cx="10425612" cy="461665"/>
          </a:xfrm>
          <a:prstGeom prst="rect">
            <a:avLst/>
          </a:prstGeom>
          <a:noFill/>
        </p:spPr>
        <p:txBody>
          <a:bodyPr wrap="square">
            <a:spAutoFit/>
          </a:bodyPr>
          <a:lstStyle/>
          <a:p>
            <a:r>
              <a:rPr lang="nl-BE" sz="2400" dirty="0"/>
              <a:t>After simplification, we get:</a:t>
            </a:r>
          </a:p>
        </p:txBody>
      </p:sp>
      <p:sp>
        <p:nvSpPr>
          <p:cNvPr id="5" name="Tijdelijke aanduiding voor dianummer 4">
            <a:extLst>
              <a:ext uri="{FF2B5EF4-FFF2-40B4-BE49-F238E27FC236}">
                <a16:creationId xmlns:a16="http://schemas.microsoft.com/office/drawing/2014/main" id="{96A53FDD-F5D1-0E57-4208-55D514659508}"/>
              </a:ext>
            </a:extLst>
          </p:cNvPr>
          <p:cNvSpPr>
            <a:spLocks noGrp="1"/>
          </p:cNvSpPr>
          <p:nvPr>
            <p:ph type="sldNum" sz="quarter" idx="12"/>
          </p:nvPr>
        </p:nvSpPr>
        <p:spPr/>
        <p:txBody>
          <a:bodyPr/>
          <a:lstStyle/>
          <a:p>
            <a:fld id="{45E6605D-1E32-D542-B458-1FC57A046453}" type="slidenum">
              <a:rPr lang="nl-BE" smtClean="0"/>
              <a:t>16</a:t>
            </a:fld>
            <a:endParaRPr lang="nl-BE"/>
          </a:p>
        </p:txBody>
      </p:sp>
      <mc:AlternateContent xmlns:mc="http://schemas.openxmlformats.org/markup-compatibility/2006" xmlns:a14="http://schemas.microsoft.com/office/drawing/2010/main">
        <mc:Choice Requires="a14">
          <p:sp>
            <p:nvSpPr>
              <p:cNvPr id="9" name="Tekstvak 8">
                <a:extLst>
                  <a:ext uri="{FF2B5EF4-FFF2-40B4-BE49-F238E27FC236}">
                    <a16:creationId xmlns:a16="http://schemas.microsoft.com/office/drawing/2014/main" id="{AB42EC3F-7EB1-F357-12FE-4F2002B25B6D}"/>
                  </a:ext>
                </a:extLst>
              </p:cNvPr>
              <p:cNvSpPr txBox="1"/>
              <p:nvPr/>
            </p:nvSpPr>
            <p:spPr>
              <a:xfrm>
                <a:off x="959457" y="2437825"/>
                <a:ext cx="10728960" cy="22852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nl-BE" sz="2400" b="0" i="1" smtClean="0">
                          <a:latin typeface="Cambria Math" panose="02040503050406030204" pitchFamily="18" charset="0"/>
                          <a:ea typeface="Cambria Math" panose="02040503050406030204" pitchFamily="18" charset="0"/>
                        </a:rPr>
                        <m:t>𝜇</m:t>
                      </m:r>
                      <m:d>
                        <m:dPr>
                          <m:ctrlPr>
                            <a:rPr lang="nl-BE" sz="2400" b="0" i="1" smtClean="0">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b="0" i="1" smtClean="0">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𝑚</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e>
                      </m:d>
                      <m:r>
                        <a:rPr lang="nl-BE" sz="2400" i="1">
                          <a:latin typeface="Cambria Math" panose="02040503050406030204" pitchFamily="18" charset="0"/>
                          <a:ea typeface="Cambria Math" panose="02040503050406030204" pitchFamily="18" charset="0"/>
                        </a:rPr>
                        <m:t>+</m:t>
                      </m:r>
                      <m:sSup>
                        <m:sSupPr>
                          <m:ctrlPr>
                            <a:rPr lang="nl-BE" sz="2400" i="1">
                              <a:latin typeface="Cambria Math" panose="02040503050406030204" pitchFamily="18" charset="0"/>
                              <a:ea typeface="Cambria Math" panose="02040503050406030204" pitchFamily="18" charset="0"/>
                            </a:rPr>
                          </m:ctrlPr>
                        </m:sSupPr>
                        <m:e>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e>
                        <m:sup>
                          <m:r>
                            <a:rPr lang="nl-BE" sz="2400" i="1">
                              <a:latin typeface="Cambria Math" panose="02040503050406030204" pitchFamily="18" charset="0"/>
                              <a:ea typeface="Cambria Math" panose="02040503050406030204" pitchFamily="18" charset="0"/>
                            </a:rPr>
                            <m:t>𝑇</m:t>
                          </m:r>
                        </m:sup>
                      </m:sSup>
                      <m:sSup>
                        <m:sSupPr>
                          <m:ctrlPr>
                            <a:rPr lang="nl-BE" sz="2400" i="1">
                              <a:latin typeface="Cambria Math" panose="02040503050406030204" pitchFamily="18" charset="0"/>
                              <a:ea typeface="Cambria Math" panose="02040503050406030204" pitchFamily="18" charset="0"/>
                            </a:rPr>
                          </m:ctrlPr>
                        </m:sSupPr>
                        <m:e>
                          <m:d>
                            <m:dPr>
                              <m:ctrlPr>
                                <a:rPr lang="nl-BE" sz="2400" i="1">
                                  <a:latin typeface="Cambria Math" panose="02040503050406030204" pitchFamily="18" charset="0"/>
                                  <a:ea typeface="Cambria Math" panose="02040503050406030204" pitchFamily="18" charset="0"/>
                                </a:rPr>
                              </m:ctrlPr>
                            </m:dPr>
                            <m:e>
                              <m:m>
                                <m:mPr>
                                  <m:mcs>
                                    <m:mc>
                                      <m:mcPr>
                                        <m:count m:val="3"/>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m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e>
                                </m:mr>
                              </m:m>
                            </m:e>
                          </m:d>
                        </m:e>
                        <m:sup>
                          <m:r>
                            <a:rPr lang="nl-BE" sz="2400" i="1">
                              <a:latin typeface="Cambria Math" panose="02040503050406030204" pitchFamily="18" charset="0"/>
                              <a:ea typeface="Cambria Math" panose="02040503050406030204" pitchFamily="18" charset="0"/>
                            </a:rPr>
                            <m:t>−1</m:t>
                          </m:r>
                        </m:sup>
                      </m:sSup>
                      <m:r>
                        <m:rPr>
                          <m:nor/>
                        </m:rPr>
                        <a:rPr lang="nl-BE" sz="2400" dirty="0">
                          <a:ea typeface="Cambria Math" panose="02040503050406030204" pitchFamily="18" charset="0"/>
                        </a:rPr>
                        <m:t> </m:t>
                      </m:r>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a:rPr lang="nl-BE" sz="2400" i="1">
                                    <a:latin typeface="Cambria Math" panose="02040503050406030204" pitchFamily="18" charset="0"/>
                                    <a:ea typeface="Cambria Math" panose="02040503050406030204" pitchFamily="18" charset="0"/>
                                  </a:rPr>
                                  <m:t>𝑓</m:t>
                                </m:r>
                                <m:d>
                                  <m:dPr>
                                    <m:ctrlPr>
                                      <a:rPr lang="nl-BE" sz="2400" i="1">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e>
                                </m:d>
                                <m:r>
                                  <a:rPr lang="nl-BE" sz="2400" i="1">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𝑚</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𝑓</m:t>
                                </m:r>
                                <m:d>
                                  <m:dPr>
                                    <m:ctrlPr>
                                      <a:rPr lang="nl-BE" sz="2400" i="1">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e>
                                </m:d>
                                <m:r>
                                  <a:rPr lang="nl-BE" sz="2400" i="1">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𝑚</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oMath>
                  </m:oMathPara>
                </a14:m>
                <a:endParaRPr lang="nl-BE" sz="2400" i="1" dirty="0">
                  <a:latin typeface="Cambria Math" panose="02040503050406030204" pitchFamily="18" charset="0"/>
                  <a:ea typeface="Cambria Math" panose="02040503050406030204" pitchFamily="18" charset="0"/>
                </a:endParaRPr>
              </a:p>
              <a:p>
                <a14:m>
                  <m:oMath xmlns:m="http://schemas.openxmlformats.org/officeDocument/2006/math">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𝑚</m:t>
                    </m:r>
                    <m:d>
                      <m:dPr>
                        <m:ctrlPr>
                          <a:rPr lang="nl-BE" sz="2400" b="0" i="1" smtClean="0">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b="0" i="1" smtClean="0">
                        <a:latin typeface="Cambria Math" panose="02040503050406030204" pitchFamily="18" charset="0"/>
                        <a:ea typeface="Cambria Math" panose="02040503050406030204" pitchFamily="18" charset="0"/>
                      </a:rPr>
                      <m:t>+</m:t>
                    </m:r>
                    <m:sSup>
                      <m:sSupPr>
                        <m:ctrlPr>
                          <a:rPr lang="nl-BE" sz="2400" b="0" i="1" smtClean="0">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e>
                      <m:sup>
                        <m:r>
                          <a:rPr lang="nl-BE" sz="2400" b="0" i="1" smtClean="0">
                            <a:latin typeface="Cambria Math" panose="02040503050406030204" pitchFamily="18" charset="0"/>
                            <a:ea typeface="Cambria Math" panose="02040503050406030204" pitchFamily="18" charset="0"/>
                          </a:rPr>
                          <m:t>𝑇</m:t>
                        </m:r>
                      </m:sup>
                    </m:sSup>
                    <m:sSup>
                      <m:sSupPr>
                        <m:ctrlPr>
                          <a:rPr lang="nl-BE" sz="2400" b="0" i="1" smtClean="0">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r>
                              <a:rPr lang="nl-BE" sz="2400" b="1" i="1" smtClean="0">
                                <a:latin typeface="Cambria Math" panose="02040503050406030204" pitchFamily="18" charset="0"/>
                                <a:ea typeface="Cambria Math" panose="02040503050406030204" pitchFamily="18" charset="0"/>
                              </a:rPr>
                              <m:t>𝑿</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e>
                      <m:sup>
                        <m:r>
                          <a:rPr lang="nl-BE" sz="2400" b="0" i="1" smtClean="0">
                            <a:latin typeface="Cambria Math" panose="02040503050406030204" pitchFamily="18" charset="0"/>
                            <a:ea typeface="Cambria Math" panose="02040503050406030204" pitchFamily="18" charset="0"/>
                          </a:rPr>
                          <m:t>−1</m:t>
                        </m:r>
                      </m:sup>
                    </m:sSup>
                  </m:oMath>
                </a14:m>
                <a:r>
                  <a:rPr lang="nl-BE" sz="2400" dirty="0">
                    <a:ea typeface="Cambria Math" panose="02040503050406030204" pitchFamily="18" charset="0"/>
                  </a:rPr>
                  <a:t> </a:t>
                </a:r>
                <a14:m>
                  <m:oMath xmlns:m="http://schemas.openxmlformats.org/officeDocument/2006/math">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a:rPr lang="nl-BE" sz="2400" b="0" i="1" smtClean="0">
                                  <a:latin typeface="Cambria Math" panose="02040503050406030204" pitchFamily="18" charset="0"/>
                                  <a:ea typeface="Cambria Math" panose="02040503050406030204" pitchFamily="18" charset="0"/>
                                </a:rPr>
                                <m:t>𝑓</m:t>
                              </m:r>
                              <m:d>
                                <m:dPr>
                                  <m:ctrlPr>
                                    <a:rPr lang="nl-BE" sz="2400" b="0" i="1" smtClean="0">
                                      <a:latin typeface="Cambria Math" panose="02040503050406030204" pitchFamily="18" charset="0"/>
                                      <a:ea typeface="Cambria Math" panose="02040503050406030204" pitchFamily="18" charset="0"/>
                                    </a:rPr>
                                  </m:ctrlPr>
                                </m:dPr>
                                <m:e>
                                  <m:sSub>
                                    <m:sSubPr>
                                      <m:ctrlPr>
                                        <a:rPr lang="nl-BE" sz="2400" b="0" i="1" smtClean="0">
                                          <a:latin typeface="Cambria Math" panose="02040503050406030204" pitchFamily="18" charset="0"/>
                                          <a:ea typeface="Cambria Math" panose="02040503050406030204" pitchFamily="18" charset="0"/>
                                        </a:rPr>
                                      </m:ctrlPr>
                                    </m:sSubPr>
                                    <m:e>
                                      <m:r>
                                        <a:rPr lang="nl-BE" sz="2400" b="1" i="1" smtClean="0">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1</m:t>
                                      </m:r>
                                    </m:sub>
                                  </m:sSub>
                                </m:e>
                              </m:d>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𝑚</m:t>
                              </m:r>
                              <m:r>
                                <a:rPr lang="nl-BE" sz="2400" b="0" i="1" smtClean="0">
                                  <a:latin typeface="Cambria Math" panose="02040503050406030204" pitchFamily="18" charset="0"/>
                                  <a:ea typeface="Cambria Math" panose="02040503050406030204" pitchFamily="18" charset="0"/>
                                </a:rPr>
                                <m:t>(</m:t>
                              </m:r>
                              <m:sSub>
                                <m:sSubPr>
                                  <m:ctrlPr>
                                    <a:rPr lang="nl-BE" sz="2400" b="0" i="1" smtClean="0">
                                      <a:latin typeface="Cambria Math" panose="02040503050406030204" pitchFamily="18" charset="0"/>
                                      <a:ea typeface="Cambria Math" panose="02040503050406030204" pitchFamily="18" charset="0"/>
                                    </a:rPr>
                                  </m:ctrlPr>
                                </m:sSubPr>
                                <m:e>
                                  <m:r>
                                    <a:rPr lang="nl-BE" sz="2400" b="1" i="1" smtClean="0">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1</m:t>
                                  </m:r>
                                </m:sub>
                              </m:sSub>
                              <m:r>
                                <a:rPr lang="nl-BE" sz="2400" b="0" i="1" smtClean="0">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𝑓</m:t>
                              </m:r>
                              <m:d>
                                <m:dPr>
                                  <m:ctrlPr>
                                    <a:rPr lang="nl-BE" sz="2400" i="1">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𝑡</m:t>
                                      </m:r>
                                    </m:sub>
                                  </m:sSub>
                                </m:e>
                              </m:d>
                              <m:r>
                                <a:rPr lang="nl-BE" sz="2400" i="1">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𝑚</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oMath>
                </a14:m>
                <a:endParaRPr lang="nl-BE" sz="2400" dirty="0"/>
              </a:p>
            </p:txBody>
          </p:sp>
        </mc:Choice>
        <mc:Fallback xmlns="">
          <p:sp>
            <p:nvSpPr>
              <p:cNvPr id="9" name="Tekstvak 8">
                <a:extLst>
                  <a:ext uri="{FF2B5EF4-FFF2-40B4-BE49-F238E27FC236}">
                    <a16:creationId xmlns:a16="http://schemas.microsoft.com/office/drawing/2014/main" id="{AB42EC3F-7EB1-F357-12FE-4F2002B25B6D}"/>
                  </a:ext>
                </a:extLst>
              </p:cNvPr>
              <p:cNvSpPr txBox="1">
                <a:spLocks noRot="1" noChangeAspect="1" noMove="1" noResize="1" noEditPoints="1" noAdjustHandles="1" noChangeArrowheads="1" noChangeShapeType="1" noTextEdit="1"/>
              </p:cNvSpPr>
              <p:nvPr/>
            </p:nvSpPr>
            <p:spPr>
              <a:xfrm>
                <a:off x="959457" y="2437825"/>
                <a:ext cx="10728960" cy="2285241"/>
              </a:xfrm>
              <a:prstGeom prst="rect">
                <a:avLst/>
              </a:prstGeom>
              <a:blipFill>
                <a:blip r:embed="rId4"/>
                <a:stretch>
                  <a:fillRect b="-5000"/>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10" name="Tekstvak 9">
                <a:extLst>
                  <a:ext uri="{FF2B5EF4-FFF2-40B4-BE49-F238E27FC236}">
                    <a16:creationId xmlns:a16="http://schemas.microsoft.com/office/drawing/2014/main" id="{1E30B144-7505-13F0-FC76-C7EEC480563F}"/>
                  </a:ext>
                </a:extLst>
              </p:cNvPr>
              <p:cNvSpPr txBox="1"/>
              <p:nvPr/>
            </p:nvSpPr>
            <p:spPr>
              <a:xfrm>
                <a:off x="971258" y="4749922"/>
                <a:ext cx="10717159" cy="1957395"/>
              </a:xfrm>
              <a:prstGeom prst="rect">
                <a:avLst/>
              </a:prstGeom>
              <a:noFill/>
            </p:spPr>
            <p:txBody>
              <a:bodyPr wrap="square">
                <a:spAutoFit/>
              </a:bodyPr>
              <a:lstStyle/>
              <a:p>
                <a14:m>
                  <m:oMath xmlns:m="http://schemas.openxmlformats.org/officeDocument/2006/math">
                    <m:sSup>
                      <m:sSupPr>
                        <m:ctrlPr>
                          <a:rPr lang="nl-BE" sz="2400" b="0" i="1" smtClean="0">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𝜎</m:t>
                        </m:r>
                      </m:e>
                      <m:sup>
                        <m:r>
                          <a:rPr lang="nl-BE" sz="2400" b="0" i="1" smtClean="0">
                            <a:latin typeface="Cambria Math" panose="02040503050406030204" pitchFamily="18" charset="0"/>
                            <a:ea typeface="Cambria Math" panose="02040503050406030204" pitchFamily="18" charset="0"/>
                          </a:rPr>
                          <m:t>2</m:t>
                        </m:r>
                      </m:sup>
                    </m:sSup>
                    <m:d>
                      <m:dPr>
                        <m:ctrlPr>
                          <a:rPr lang="nl-BE" sz="2400" b="0" i="1" smtClean="0">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e>
                    </m:d>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𝐾</m:t>
                    </m:r>
                    <m:r>
                      <a:rPr lang="nl-BE" sz="2400" b="0" i="1" smtClean="0">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b="0" i="1" smtClean="0">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b="0" i="1" smtClean="0">
                        <a:latin typeface="Cambria Math" panose="02040503050406030204" pitchFamily="18" charset="0"/>
                        <a:ea typeface="Cambria Math" panose="02040503050406030204" pitchFamily="18" charset="0"/>
                      </a:rPr>
                      <m:t>)−</m:t>
                    </m:r>
                    <m:sSup>
                      <m:sSupPr>
                        <m:ctrlPr>
                          <a:rPr lang="nl-BE" sz="2400" b="0" i="1" smtClean="0">
                            <a:latin typeface="Cambria Math" panose="02040503050406030204" pitchFamily="18" charset="0"/>
                            <a:ea typeface="Cambria Math" panose="02040503050406030204" pitchFamily="18" charset="0"/>
                          </a:rPr>
                        </m:ctrlPr>
                      </m:sSupPr>
                      <m:e>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e>
                      <m:sup>
                        <m:r>
                          <a:rPr lang="nl-BE" sz="2400" b="0" i="1" smtClean="0">
                            <a:latin typeface="Cambria Math" panose="02040503050406030204" pitchFamily="18" charset="0"/>
                            <a:ea typeface="Cambria Math" panose="02040503050406030204" pitchFamily="18" charset="0"/>
                          </a:rPr>
                          <m:t>𝑇</m:t>
                        </m:r>
                      </m:sup>
                    </m:sSup>
                    <m:sSup>
                      <m:sSupPr>
                        <m:ctrlPr>
                          <a:rPr lang="nl-BE" sz="2400" b="0" i="1" smtClean="0">
                            <a:latin typeface="Cambria Math" panose="02040503050406030204" pitchFamily="18" charset="0"/>
                            <a:ea typeface="Cambria Math" panose="02040503050406030204" pitchFamily="18" charset="0"/>
                          </a:rPr>
                        </m:ctrlPr>
                      </m:sSupPr>
                      <m:e>
                        <m:d>
                          <m:dPr>
                            <m:ctrlPr>
                              <a:rPr lang="nl-BE" sz="2400" i="1">
                                <a:latin typeface="Cambria Math" panose="02040503050406030204" pitchFamily="18" charset="0"/>
                                <a:ea typeface="Cambria Math" panose="02040503050406030204" pitchFamily="18" charset="0"/>
                              </a:rPr>
                            </m:ctrlPr>
                          </m:dPr>
                          <m:e>
                            <m:m>
                              <m:mPr>
                                <m:mcs>
                                  <m:mc>
                                    <m:mcPr>
                                      <m:count m:val="3"/>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m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e>
                              </m:mr>
                            </m:m>
                          </m:e>
                        </m:d>
                      </m:e>
                      <m:sup>
                        <m:r>
                          <a:rPr lang="nl-BE" sz="2400" b="0" i="1" smtClean="0">
                            <a:latin typeface="Cambria Math" panose="02040503050406030204" pitchFamily="18" charset="0"/>
                            <a:ea typeface="Cambria Math" panose="02040503050406030204" pitchFamily="18" charset="0"/>
                          </a:rPr>
                          <m:t>−1</m:t>
                        </m:r>
                      </m:sup>
                    </m:sSup>
                  </m:oMath>
                </a14:m>
                <a:r>
                  <a:rPr lang="nl-BE" sz="2400" dirty="0">
                    <a:ea typeface="Cambria Math" panose="02040503050406030204" pitchFamily="18" charset="0"/>
                  </a:rPr>
                  <a:t> </a:t>
                </a:r>
                <a14:m>
                  <m:oMath xmlns:m="http://schemas.openxmlformats.org/officeDocument/2006/math">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oMath>
                </a14:m>
                <a:endParaRPr lang="nl-BE" sz="2400" i="1" dirty="0">
                  <a:latin typeface="Cambria Math" panose="02040503050406030204" pitchFamily="18" charset="0"/>
                  <a:ea typeface="Cambria Math" panose="02040503050406030204" pitchFamily="18" charset="0"/>
                </a:endParaRPr>
              </a:p>
              <a:p>
                <a14:m>
                  <m:oMath xmlns:m="http://schemas.openxmlformats.org/officeDocument/2006/math">
                    <m:r>
                      <a:rPr lang="nl-BE" sz="2400" b="0" i="1" smtClean="0">
                        <a:latin typeface="Cambria Math" panose="02040503050406030204" pitchFamily="18" charset="0"/>
                        <a:ea typeface="Cambria Math" panose="02040503050406030204" pitchFamily="18" charset="0"/>
                      </a:rPr>
                      <m:t>=</m:t>
                    </m:r>
                  </m:oMath>
                </a14:m>
                <a:r>
                  <a:rPr lang="nl-BE" sz="2400" dirty="0">
                    <a:ea typeface="Cambria Math" panose="02040503050406030204" pitchFamily="18" charset="0"/>
                  </a:rPr>
                  <a:t> </a:t>
                </a:r>
                <a14:m>
                  <m:oMath xmlns:m="http://schemas.openxmlformats.org/officeDocument/2006/math">
                    <m: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r>
                      <a:rPr lang="nl-BE" sz="2400" i="1">
                        <a:latin typeface="Cambria Math" panose="02040503050406030204" pitchFamily="18" charset="0"/>
                        <a:ea typeface="Cambria Math" panose="02040503050406030204" pitchFamily="18" charset="0"/>
                      </a:rPr>
                      <m:t>)+</m:t>
                    </m:r>
                    <m:sSup>
                      <m:sSupPr>
                        <m:ctrlPr>
                          <a:rPr lang="nl-BE" sz="2400" i="1">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e>
                      <m:sup>
                        <m:r>
                          <a:rPr lang="nl-BE" sz="2400" i="1">
                            <a:latin typeface="Cambria Math" panose="02040503050406030204" pitchFamily="18" charset="0"/>
                            <a:ea typeface="Cambria Math" panose="02040503050406030204" pitchFamily="18" charset="0"/>
                          </a:rPr>
                          <m:t>𝑇</m:t>
                        </m:r>
                      </m:sup>
                    </m:sSup>
                    <m:sSup>
                      <m:sSupPr>
                        <m:ctrlPr>
                          <a:rPr lang="nl-BE" sz="2400" i="1">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r>
                              <a:rPr lang="nl-BE" sz="2400" b="1" i="1">
                                <a:latin typeface="Cambria Math" panose="02040503050406030204" pitchFamily="18" charset="0"/>
                                <a:ea typeface="Cambria Math" panose="02040503050406030204" pitchFamily="18" charset="0"/>
                              </a:rPr>
                              <m:t>𝑿</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e>
                      <m:sup>
                        <m:r>
                          <a:rPr lang="nl-BE" sz="2400" i="1">
                            <a:latin typeface="Cambria Math" panose="02040503050406030204" pitchFamily="18" charset="0"/>
                            <a:ea typeface="Cambria Math" panose="02040503050406030204" pitchFamily="18" charset="0"/>
                          </a:rPr>
                          <m:t>−1</m:t>
                        </m:r>
                      </m:sup>
                    </m:sSup>
                  </m:oMath>
                </a14:m>
                <a:r>
                  <a:rPr lang="nl-BE" sz="2400" dirty="0">
                    <a:ea typeface="Cambria Math" panose="02040503050406030204" pitchFamily="18" charset="0"/>
                  </a:rPr>
                  <a:t> </a:t>
                </a:r>
                <a14:m>
                  <m:oMath xmlns:m="http://schemas.openxmlformats.org/officeDocument/2006/math">
                    <m:r>
                      <a:rPr lang="nl-BE" sz="2400" i="1">
                        <a:latin typeface="Cambria Math" panose="02040503050406030204" pitchFamily="18" charset="0"/>
                        <a:ea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oMath>
                </a14:m>
                <a:endParaRPr lang="nl-BE" sz="2400" dirty="0"/>
              </a:p>
              <a:p>
                <a:endParaRPr lang="nl-BE" sz="2400" dirty="0"/>
              </a:p>
            </p:txBody>
          </p:sp>
        </mc:Choice>
        <mc:Fallback xmlns="">
          <p:sp>
            <p:nvSpPr>
              <p:cNvPr id="10" name="Tekstvak 9">
                <a:extLst>
                  <a:ext uri="{FF2B5EF4-FFF2-40B4-BE49-F238E27FC236}">
                    <a16:creationId xmlns:a16="http://schemas.microsoft.com/office/drawing/2014/main" id="{1E30B144-7505-13F0-FC76-C7EEC480563F}"/>
                  </a:ext>
                </a:extLst>
              </p:cNvPr>
              <p:cNvSpPr txBox="1">
                <a:spLocks noRot="1" noChangeAspect="1" noMove="1" noResize="1" noEditPoints="1" noAdjustHandles="1" noChangeArrowheads="1" noChangeShapeType="1" noTextEdit="1"/>
              </p:cNvSpPr>
              <p:nvPr/>
            </p:nvSpPr>
            <p:spPr>
              <a:xfrm>
                <a:off x="971258" y="4749922"/>
                <a:ext cx="10717159" cy="1957395"/>
              </a:xfrm>
              <a:prstGeom prst="rect">
                <a:avLst/>
              </a:prstGeom>
              <a:blipFill>
                <a:blip r:embed="rId5"/>
                <a:stretch>
                  <a:fillRect/>
                </a:stretch>
              </a:blipFill>
            </p:spPr>
            <p:txBody>
              <a:bodyPr/>
              <a:lstStyle/>
              <a:p>
                <a:r>
                  <a:rPr lang="nl-BE">
                    <a:noFill/>
                  </a:rPr>
                  <a:t> </a:t>
                </a:r>
              </a:p>
            </p:txBody>
          </p:sp>
        </mc:Fallback>
      </mc:AlternateContent>
    </p:spTree>
    <p:extLst>
      <p:ext uri="{BB962C8B-B14F-4D97-AF65-F5344CB8AC3E}">
        <p14:creationId xmlns:p14="http://schemas.microsoft.com/office/powerpoint/2010/main" val="17717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A78E3-A443-9440-4448-E30BEDDB51F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58B5256-A232-7553-206A-81016DF84145}"/>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Defining the prior</a:t>
            </a:r>
          </a:p>
        </p:txBody>
      </p:sp>
      <mc:AlternateContent xmlns:mc="http://schemas.openxmlformats.org/markup-compatibility/2006" xmlns:a14="http://schemas.microsoft.com/office/drawing/2010/main">
        <mc:Choice Requires="a14">
          <p:sp>
            <p:nvSpPr>
              <p:cNvPr id="4" name="Tekstvak 3">
                <a:extLst>
                  <a:ext uri="{FF2B5EF4-FFF2-40B4-BE49-F238E27FC236}">
                    <a16:creationId xmlns:a16="http://schemas.microsoft.com/office/drawing/2014/main" id="{EA682029-8936-023A-B68C-0AD241F2E8F5}"/>
                  </a:ext>
                </a:extLst>
              </p:cNvPr>
              <p:cNvSpPr txBox="1"/>
              <p:nvPr/>
            </p:nvSpPr>
            <p:spPr>
              <a:xfrm>
                <a:off x="971258" y="1395498"/>
                <a:ext cx="10425612" cy="461665"/>
              </a:xfrm>
              <a:prstGeom prst="rect">
                <a:avLst/>
              </a:prstGeom>
              <a:noFill/>
            </p:spPr>
            <p:txBody>
              <a:bodyPr wrap="square">
                <a:spAutoFit/>
              </a:bodyPr>
              <a:lstStyle/>
              <a:p>
                <a:r>
                  <a:rPr lang="nl-BE" sz="2400" dirty="0"/>
                  <a:t>Pr</a:t>
                </a:r>
                <a14:m>
                  <m:oMath xmlns:m="http://schemas.openxmlformats.org/officeDocument/2006/math">
                    <m:r>
                      <m:rPr>
                        <m:sty m:val="p"/>
                      </m:rPr>
                      <a:rPr lang="nl-BE" sz="2400" b="0" i="0" smtClean="0">
                        <a:latin typeface="Cambria Math" panose="02040503050406030204" pitchFamily="18" charset="0"/>
                        <a:ea typeface="Cambria Math" panose="02040503050406030204" pitchFamily="18" charset="0"/>
                      </a:rPr>
                      <m:t>oof</m:t>
                    </m:r>
                    <m:r>
                      <a:rPr lang="nl-BE" sz="2400" b="0" i="0" smtClean="0">
                        <a:latin typeface="Cambria Math" panose="02040503050406030204" pitchFamily="18" charset="0"/>
                        <a:ea typeface="Cambria Math" panose="02040503050406030204" pitchFamily="18" charset="0"/>
                      </a:rPr>
                      <m:t> </m:t>
                    </m:r>
                    <m:r>
                      <m:rPr>
                        <m:sty m:val="p"/>
                      </m:rPr>
                      <a:rPr lang="nl-BE" sz="2400" b="0" i="0" smtClean="0">
                        <a:latin typeface="Cambria Math" panose="02040503050406030204" pitchFamily="18" charset="0"/>
                        <a:ea typeface="Cambria Math" panose="02040503050406030204" pitchFamily="18" charset="0"/>
                      </a:rPr>
                      <m:t>that</m:t>
                    </m:r>
                    <m:r>
                      <a:rPr lang="nl-BE" sz="2400" b="0" i="0" smtClean="0">
                        <a:latin typeface="Cambria Math" panose="02040503050406030204" pitchFamily="18" charset="0"/>
                        <a:ea typeface="Cambria Math" panose="02040503050406030204" pitchFamily="18" charset="0"/>
                      </a:rPr>
                      <m:t> </m:t>
                    </m:r>
                    <m:r>
                      <a:rPr lang="nl-BE" sz="2400" i="1">
                        <a:latin typeface="Cambria Math" panose="02040503050406030204" pitchFamily="18" charset="0"/>
                        <a:ea typeface="Cambria Math" panose="02040503050406030204" pitchFamily="18" charset="0"/>
                      </a:rPr>
                      <m:t>𝜇</m:t>
                    </m:r>
                    <m:d>
                      <m:dPr>
                        <m:ctrlPr>
                          <a:rPr lang="nl-BE" sz="2400" i="1">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b="1" i="1" smtClean="0">
                        <a:latin typeface="Cambria Math" panose="02040503050406030204" pitchFamily="18" charset="0"/>
                        <a:ea typeface="Cambria Math" panose="02040503050406030204" pitchFamily="18" charset="0"/>
                      </a:rPr>
                      <m:t>=</m:t>
                    </m:r>
                  </m:oMath>
                </a14:m>
                <a:r>
                  <a:rPr lang="nl-BE" sz="2400" dirty="0"/>
                  <a:t> </a:t>
                </a:r>
                <a14:m>
                  <m:oMath xmlns:m="http://schemas.openxmlformats.org/officeDocument/2006/math">
                    <m:r>
                      <a:rPr lang="nl-BE" sz="2400" i="1">
                        <a:latin typeface="Cambria Math" panose="02040503050406030204" pitchFamily="18" charset="0"/>
                        <a:ea typeface="Cambria Math" panose="02040503050406030204" pitchFamily="18" charset="0"/>
                      </a:rPr>
                      <m:t>𝑓</m:t>
                    </m:r>
                    <m:d>
                      <m:dPr>
                        <m:ctrlPr>
                          <a:rPr lang="nl-BE" sz="2400" i="1">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i="1">
                        <a:latin typeface="Cambria Math" panose="02040503050406030204" pitchFamily="18" charset="0"/>
                        <a:ea typeface="Cambria Math" panose="02040503050406030204" pitchFamily="18" charset="0"/>
                      </a:rPr>
                      <m:t> </m:t>
                    </m:r>
                  </m:oMath>
                </a14:m>
                <a:r>
                  <a:rPr lang="nl-BE" sz="2400" dirty="0"/>
                  <a:t>: </a:t>
                </a:r>
              </a:p>
            </p:txBody>
          </p:sp>
        </mc:Choice>
        <mc:Fallback xmlns="">
          <p:sp>
            <p:nvSpPr>
              <p:cNvPr id="4" name="Tekstvak 3">
                <a:extLst>
                  <a:ext uri="{FF2B5EF4-FFF2-40B4-BE49-F238E27FC236}">
                    <a16:creationId xmlns:a16="http://schemas.microsoft.com/office/drawing/2014/main" id="{EA682029-8936-023A-B68C-0AD241F2E8F5}"/>
                  </a:ext>
                </a:extLst>
              </p:cNvPr>
              <p:cNvSpPr txBox="1">
                <a:spLocks noRot="1" noChangeAspect="1" noMove="1" noResize="1" noEditPoints="1" noAdjustHandles="1" noChangeArrowheads="1" noChangeShapeType="1" noTextEdit="1"/>
              </p:cNvSpPr>
              <p:nvPr/>
            </p:nvSpPr>
            <p:spPr>
              <a:xfrm>
                <a:off x="971258" y="1395498"/>
                <a:ext cx="10425612" cy="461665"/>
              </a:xfrm>
              <a:prstGeom prst="rect">
                <a:avLst/>
              </a:prstGeom>
              <a:blipFill>
                <a:blip r:embed="rId3"/>
                <a:stretch>
                  <a:fillRect l="-852" t="-7895" b="-28947"/>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9" name="Tekstvak 8">
                <a:extLst>
                  <a:ext uri="{FF2B5EF4-FFF2-40B4-BE49-F238E27FC236}">
                    <a16:creationId xmlns:a16="http://schemas.microsoft.com/office/drawing/2014/main" id="{4B5A22C2-8582-1D25-2F34-D63065EC037F}"/>
                  </a:ext>
                </a:extLst>
              </p:cNvPr>
              <p:cNvSpPr txBox="1"/>
              <p:nvPr/>
            </p:nvSpPr>
            <p:spPr>
              <a:xfrm>
                <a:off x="819584" y="2068028"/>
                <a:ext cx="10728960" cy="1158843"/>
              </a:xfrm>
              <a:prstGeom prst="rect">
                <a:avLst/>
              </a:prstGeom>
              <a:noFill/>
            </p:spPr>
            <p:txBody>
              <a:bodyPr wrap="square">
                <a:spAutoFit/>
              </a:bodyPr>
              <a:lstStyle/>
              <a:p>
                <a14:m>
                  <m:oMath xmlns:m="http://schemas.openxmlformats.org/officeDocument/2006/math">
                    <m:r>
                      <a:rPr lang="nl-BE" sz="2400" b="0" i="1" smtClean="0">
                        <a:latin typeface="Cambria Math" panose="02040503050406030204" pitchFamily="18" charset="0"/>
                        <a:ea typeface="Cambria Math" panose="02040503050406030204" pitchFamily="18" charset="0"/>
                      </a:rPr>
                      <m:t>𝜇</m:t>
                    </m:r>
                    <m:d>
                      <m:dPr>
                        <m:ctrlPr>
                          <a:rPr lang="nl-BE" sz="2400" b="0" i="1" smtClean="0">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𝑚</m:t>
                    </m:r>
                    <m:d>
                      <m:dPr>
                        <m:ctrlPr>
                          <a:rPr lang="nl-BE" sz="2400" b="0" i="1" smtClean="0">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b="0" i="1" smtClean="0">
                        <a:latin typeface="Cambria Math" panose="02040503050406030204" pitchFamily="18" charset="0"/>
                        <a:ea typeface="Cambria Math" panose="02040503050406030204" pitchFamily="18" charset="0"/>
                      </a:rPr>
                      <m:t>+</m:t>
                    </m:r>
                    <m:sSup>
                      <m:sSupPr>
                        <m:ctrlPr>
                          <a:rPr lang="nl-BE" sz="2400" b="0" i="1" smtClean="0">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e>
                      <m:sup>
                        <m:r>
                          <a:rPr lang="nl-BE" sz="2400" b="0" i="1" smtClean="0">
                            <a:latin typeface="Cambria Math" panose="02040503050406030204" pitchFamily="18" charset="0"/>
                            <a:ea typeface="Cambria Math" panose="02040503050406030204" pitchFamily="18" charset="0"/>
                          </a:rPr>
                          <m:t>𝑇</m:t>
                        </m:r>
                      </m:sup>
                    </m:sSup>
                    <m:sSup>
                      <m:sSupPr>
                        <m:ctrlPr>
                          <a:rPr lang="nl-BE" sz="2400" b="0" i="1" smtClean="0">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r>
                              <a:rPr lang="nl-BE" sz="2400" b="1" i="1" smtClean="0">
                                <a:latin typeface="Cambria Math" panose="02040503050406030204" pitchFamily="18" charset="0"/>
                                <a:ea typeface="Cambria Math" panose="02040503050406030204" pitchFamily="18" charset="0"/>
                              </a:rPr>
                              <m:t>𝑿</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e>
                      <m:sup>
                        <m:r>
                          <a:rPr lang="nl-BE" sz="2400" b="0" i="1" smtClean="0">
                            <a:latin typeface="Cambria Math" panose="02040503050406030204" pitchFamily="18" charset="0"/>
                            <a:ea typeface="Cambria Math" panose="02040503050406030204" pitchFamily="18" charset="0"/>
                          </a:rPr>
                          <m:t>−1</m:t>
                        </m:r>
                      </m:sup>
                    </m:sSup>
                  </m:oMath>
                </a14:m>
                <a:r>
                  <a:rPr lang="nl-BE" sz="2400" dirty="0">
                    <a:ea typeface="Cambria Math" panose="02040503050406030204" pitchFamily="18" charset="0"/>
                  </a:rPr>
                  <a:t> </a:t>
                </a:r>
                <a14:m>
                  <m:oMath xmlns:m="http://schemas.openxmlformats.org/officeDocument/2006/math">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a:rPr lang="nl-BE" sz="2400" b="0" i="1" smtClean="0">
                                  <a:latin typeface="Cambria Math" panose="02040503050406030204" pitchFamily="18" charset="0"/>
                                  <a:ea typeface="Cambria Math" panose="02040503050406030204" pitchFamily="18" charset="0"/>
                                </a:rPr>
                                <m:t>𝑓</m:t>
                              </m:r>
                              <m:d>
                                <m:dPr>
                                  <m:ctrlPr>
                                    <a:rPr lang="nl-BE" sz="2400" b="0" i="1" smtClean="0">
                                      <a:latin typeface="Cambria Math" panose="02040503050406030204" pitchFamily="18" charset="0"/>
                                      <a:ea typeface="Cambria Math" panose="02040503050406030204" pitchFamily="18" charset="0"/>
                                    </a:rPr>
                                  </m:ctrlPr>
                                </m:dPr>
                                <m:e>
                                  <m:sSub>
                                    <m:sSubPr>
                                      <m:ctrlPr>
                                        <a:rPr lang="nl-BE" sz="2400" b="0" i="1" smtClean="0">
                                          <a:latin typeface="Cambria Math" panose="02040503050406030204" pitchFamily="18" charset="0"/>
                                          <a:ea typeface="Cambria Math" panose="02040503050406030204" pitchFamily="18" charset="0"/>
                                        </a:rPr>
                                      </m:ctrlPr>
                                    </m:sSubPr>
                                    <m:e>
                                      <m:r>
                                        <a:rPr lang="nl-BE" sz="2400" b="1" i="1" smtClean="0">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1</m:t>
                                      </m:r>
                                    </m:sub>
                                  </m:sSub>
                                </m:e>
                              </m:d>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𝑚</m:t>
                              </m:r>
                              <m:r>
                                <a:rPr lang="nl-BE" sz="2400" b="0" i="1" smtClean="0">
                                  <a:latin typeface="Cambria Math" panose="02040503050406030204" pitchFamily="18" charset="0"/>
                                  <a:ea typeface="Cambria Math" panose="02040503050406030204" pitchFamily="18" charset="0"/>
                                </a:rPr>
                                <m:t>(</m:t>
                              </m:r>
                              <m:sSub>
                                <m:sSubPr>
                                  <m:ctrlPr>
                                    <a:rPr lang="nl-BE" sz="2400" b="0" i="1" smtClean="0">
                                      <a:latin typeface="Cambria Math" panose="02040503050406030204" pitchFamily="18" charset="0"/>
                                      <a:ea typeface="Cambria Math" panose="02040503050406030204" pitchFamily="18" charset="0"/>
                                    </a:rPr>
                                  </m:ctrlPr>
                                </m:sSubPr>
                                <m:e>
                                  <m:r>
                                    <a:rPr lang="nl-BE" sz="2400" b="1" i="1" smtClean="0">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1</m:t>
                                  </m:r>
                                </m:sub>
                              </m:sSub>
                              <m:r>
                                <a:rPr lang="nl-BE" sz="2400" b="0" i="1" smtClean="0">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𝑓</m:t>
                              </m:r>
                              <m:d>
                                <m:dPr>
                                  <m:ctrlPr>
                                    <a:rPr lang="nl-BE" sz="2400" i="1">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𝑡</m:t>
                                      </m:r>
                                    </m:sub>
                                  </m:sSub>
                                </m:e>
                              </m:d>
                              <m:r>
                                <a:rPr lang="nl-BE" sz="2400" i="1">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𝑚</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oMath>
                </a14:m>
                <a:endParaRPr lang="nl-BE" sz="2400" dirty="0"/>
              </a:p>
            </p:txBody>
          </p:sp>
        </mc:Choice>
        <mc:Fallback xmlns="">
          <p:sp>
            <p:nvSpPr>
              <p:cNvPr id="9" name="Tekstvak 8">
                <a:extLst>
                  <a:ext uri="{FF2B5EF4-FFF2-40B4-BE49-F238E27FC236}">
                    <a16:creationId xmlns:a16="http://schemas.microsoft.com/office/drawing/2014/main" id="{4B5A22C2-8582-1D25-2F34-D63065EC037F}"/>
                  </a:ext>
                </a:extLst>
              </p:cNvPr>
              <p:cNvSpPr txBox="1">
                <a:spLocks noRot="1" noChangeAspect="1" noMove="1" noResize="1" noEditPoints="1" noAdjustHandles="1" noChangeArrowheads="1" noChangeShapeType="1" noTextEdit="1"/>
              </p:cNvSpPr>
              <p:nvPr/>
            </p:nvSpPr>
            <p:spPr>
              <a:xfrm>
                <a:off x="819584" y="2068028"/>
                <a:ext cx="10728960" cy="1158843"/>
              </a:xfrm>
              <a:prstGeom prst="rect">
                <a:avLst/>
              </a:prstGeom>
              <a:blipFill>
                <a:blip r:embed="rId4"/>
                <a:stretch>
                  <a:fillRect l="-118" b="-9783"/>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10" name="Tekstvak 9">
                <a:extLst>
                  <a:ext uri="{FF2B5EF4-FFF2-40B4-BE49-F238E27FC236}">
                    <a16:creationId xmlns:a16="http://schemas.microsoft.com/office/drawing/2014/main" id="{4F47D892-2A8C-0377-0CB6-FEBFD7F94DAD}"/>
                  </a:ext>
                </a:extLst>
              </p:cNvPr>
              <p:cNvSpPr txBox="1"/>
              <p:nvPr/>
            </p:nvSpPr>
            <p:spPr>
              <a:xfrm>
                <a:off x="416655" y="3692460"/>
                <a:ext cx="10728960" cy="1158843"/>
              </a:xfrm>
              <a:prstGeom prst="rect">
                <a:avLst/>
              </a:prstGeom>
              <a:noFill/>
            </p:spPr>
            <p:txBody>
              <a:bodyPr wrap="square">
                <a:spAutoFit/>
              </a:bodyPr>
              <a:lstStyle/>
              <a:p>
                <a14:m>
                  <m:oMath xmlns:m="http://schemas.openxmlformats.org/officeDocument/2006/math">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𝜇</m:t>
                    </m:r>
                    <m:d>
                      <m:dPr>
                        <m:ctrlPr>
                          <a:rPr lang="nl-BE" sz="2400" b="0" i="1" smtClean="0">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𝑚</m:t>
                    </m:r>
                    <m:d>
                      <m:dPr>
                        <m:ctrlPr>
                          <a:rPr lang="nl-BE" sz="2400" b="0" i="1" smtClean="0">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b="0" i="1" smtClean="0">
                        <a:latin typeface="Cambria Math" panose="02040503050406030204" pitchFamily="18" charset="0"/>
                        <a:ea typeface="Cambria Math" panose="02040503050406030204" pitchFamily="18" charset="0"/>
                      </a:rPr>
                      <m:t>+</m:t>
                    </m:r>
                    <m:sSup>
                      <m:sSupPr>
                        <m:ctrlPr>
                          <a:rPr lang="nl-BE" sz="2400" b="0" i="1" smtClean="0">
                            <a:latin typeface="Cambria Math" panose="02040503050406030204" pitchFamily="18" charset="0"/>
                            <a:ea typeface="Cambria Math" panose="02040503050406030204" pitchFamily="18" charset="0"/>
                          </a:rPr>
                        </m:ctrlPr>
                      </m:sSup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𝒆</m:t>
                            </m:r>
                          </m:e>
                          <m:sub>
                            <m:r>
                              <a:rPr lang="nl-BE" sz="2400" i="1">
                                <a:latin typeface="Cambria Math" panose="02040503050406030204" pitchFamily="18" charset="0"/>
                                <a:ea typeface="Cambria Math" panose="02040503050406030204" pitchFamily="18" charset="0"/>
                              </a:rPr>
                              <m:t>𝑖</m:t>
                            </m:r>
                          </m:sub>
                        </m:sSub>
                      </m:e>
                      <m:sup>
                        <m:r>
                          <a:rPr lang="nl-BE" sz="2400" b="0" i="1" smtClean="0">
                            <a:latin typeface="Cambria Math" panose="02040503050406030204" pitchFamily="18" charset="0"/>
                            <a:ea typeface="Cambria Math" panose="02040503050406030204" pitchFamily="18" charset="0"/>
                          </a:rPr>
                          <m:t>𝑇</m:t>
                        </m:r>
                      </m:sup>
                    </m:sSup>
                    <m:sSup>
                      <m:sSupPr>
                        <m:ctrlPr>
                          <a:rPr lang="nl-BE" sz="2400" b="0" i="1" smtClean="0">
                            <a:latin typeface="Cambria Math" panose="02040503050406030204" pitchFamily="18" charset="0"/>
                            <a:ea typeface="Cambria Math" panose="02040503050406030204" pitchFamily="18" charset="0"/>
                          </a:rPr>
                        </m:ctrlPr>
                      </m:sSupPr>
                      <m:e>
                        <m:r>
                          <a:rPr lang="nl-BE" sz="2400" b="0" i="1" smtClean="0">
                            <a:latin typeface="Cambria Math" panose="02040503050406030204" pitchFamily="18" charset="0"/>
                            <a:ea typeface="Cambria Math" panose="02040503050406030204" pitchFamily="18" charset="0"/>
                          </a:rPr>
                          <m:t> × </m:t>
                        </m:r>
                        <m:r>
                          <a:rPr lang="nl-BE" sz="2400" i="1">
                            <a:latin typeface="Cambria Math" panose="02040503050406030204" pitchFamily="18" charset="0"/>
                            <a:ea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r>
                              <a:rPr lang="nl-BE" sz="2400" b="1" i="1" smtClean="0">
                                <a:latin typeface="Cambria Math" panose="02040503050406030204" pitchFamily="18" charset="0"/>
                                <a:ea typeface="Cambria Math" panose="02040503050406030204" pitchFamily="18" charset="0"/>
                              </a:rPr>
                              <m:t>𝑿</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e>
                      <m:sup>
                        <m:r>
                          <a:rPr lang="nl-BE" sz="2400" b="0" i="1" smtClean="0">
                            <a:latin typeface="Cambria Math" panose="02040503050406030204" pitchFamily="18" charset="0"/>
                            <a:ea typeface="Cambria Math" panose="02040503050406030204" pitchFamily="18" charset="0"/>
                          </a:rPr>
                          <m:t>𝑇</m:t>
                        </m:r>
                      </m:sup>
                    </m:sSup>
                    <m:sSup>
                      <m:sSupPr>
                        <m:ctrlPr>
                          <a:rPr lang="nl-BE" sz="2400" b="0" i="1" smtClean="0">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r>
                              <a:rPr lang="nl-BE" sz="2400" b="1" i="1" smtClean="0">
                                <a:latin typeface="Cambria Math" panose="02040503050406030204" pitchFamily="18" charset="0"/>
                                <a:ea typeface="Cambria Math" panose="02040503050406030204" pitchFamily="18" charset="0"/>
                              </a:rPr>
                              <m:t>𝑿</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e>
                      <m:sup>
                        <m:r>
                          <a:rPr lang="nl-BE" sz="2400" b="0" i="1" smtClean="0">
                            <a:latin typeface="Cambria Math" panose="02040503050406030204" pitchFamily="18" charset="0"/>
                            <a:ea typeface="Cambria Math" panose="02040503050406030204" pitchFamily="18" charset="0"/>
                          </a:rPr>
                          <m:t>−1</m:t>
                        </m:r>
                      </m:sup>
                    </m:sSup>
                  </m:oMath>
                </a14:m>
                <a:r>
                  <a:rPr lang="nl-BE" sz="2400" dirty="0">
                    <a:ea typeface="Cambria Math" panose="02040503050406030204" pitchFamily="18" charset="0"/>
                  </a:rPr>
                  <a:t> </a:t>
                </a:r>
                <a14:m>
                  <m:oMath xmlns:m="http://schemas.openxmlformats.org/officeDocument/2006/math">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a:rPr lang="nl-BE" sz="2400" b="0" i="1" smtClean="0">
                                  <a:latin typeface="Cambria Math" panose="02040503050406030204" pitchFamily="18" charset="0"/>
                                  <a:ea typeface="Cambria Math" panose="02040503050406030204" pitchFamily="18" charset="0"/>
                                </a:rPr>
                                <m:t>𝑓</m:t>
                              </m:r>
                              <m:d>
                                <m:dPr>
                                  <m:ctrlPr>
                                    <a:rPr lang="nl-BE" sz="2400" b="0" i="1" smtClean="0">
                                      <a:latin typeface="Cambria Math" panose="02040503050406030204" pitchFamily="18" charset="0"/>
                                      <a:ea typeface="Cambria Math" panose="02040503050406030204" pitchFamily="18" charset="0"/>
                                    </a:rPr>
                                  </m:ctrlPr>
                                </m:dPr>
                                <m:e>
                                  <m:sSub>
                                    <m:sSubPr>
                                      <m:ctrlPr>
                                        <a:rPr lang="nl-BE" sz="2400" b="0" i="1" smtClean="0">
                                          <a:latin typeface="Cambria Math" panose="02040503050406030204" pitchFamily="18" charset="0"/>
                                          <a:ea typeface="Cambria Math" panose="02040503050406030204" pitchFamily="18" charset="0"/>
                                        </a:rPr>
                                      </m:ctrlPr>
                                    </m:sSubPr>
                                    <m:e>
                                      <m:r>
                                        <a:rPr lang="nl-BE" sz="2400" b="1" i="1" smtClean="0">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1</m:t>
                                      </m:r>
                                    </m:sub>
                                  </m:sSub>
                                </m:e>
                              </m:d>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𝑚</m:t>
                              </m:r>
                              <m:r>
                                <a:rPr lang="nl-BE" sz="2400" b="0" i="1" smtClean="0">
                                  <a:latin typeface="Cambria Math" panose="02040503050406030204" pitchFamily="18" charset="0"/>
                                  <a:ea typeface="Cambria Math" panose="02040503050406030204" pitchFamily="18" charset="0"/>
                                </a:rPr>
                                <m:t>(</m:t>
                              </m:r>
                              <m:sSub>
                                <m:sSubPr>
                                  <m:ctrlPr>
                                    <a:rPr lang="nl-BE" sz="2400" b="0" i="1" smtClean="0">
                                      <a:latin typeface="Cambria Math" panose="02040503050406030204" pitchFamily="18" charset="0"/>
                                      <a:ea typeface="Cambria Math" panose="02040503050406030204" pitchFamily="18" charset="0"/>
                                    </a:rPr>
                                  </m:ctrlPr>
                                </m:sSubPr>
                                <m:e>
                                  <m:r>
                                    <a:rPr lang="nl-BE" sz="2400" b="1" i="1" smtClean="0">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1</m:t>
                                  </m:r>
                                </m:sub>
                              </m:sSub>
                              <m:r>
                                <a:rPr lang="nl-BE" sz="2400" b="0" i="1" smtClean="0">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𝑓</m:t>
                              </m:r>
                              <m:d>
                                <m:dPr>
                                  <m:ctrlPr>
                                    <a:rPr lang="nl-BE" sz="2400" i="1">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𝑡</m:t>
                                      </m:r>
                                    </m:sub>
                                  </m:sSub>
                                </m:e>
                              </m:d>
                              <m:r>
                                <a:rPr lang="nl-BE" sz="2400" i="1">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𝑚</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oMath>
                </a14:m>
                <a:endParaRPr lang="nl-BE" sz="2400" dirty="0"/>
              </a:p>
            </p:txBody>
          </p:sp>
        </mc:Choice>
        <mc:Fallback xmlns="">
          <p:sp>
            <p:nvSpPr>
              <p:cNvPr id="10" name="Tekstvak 9">
                <a:extLst>
                  <a:ext uri="{FF2B5EF4-FFF2-40B4-BE49-F238E27FC236}">
                    <a16:creationId xmlns:a16="http://schemas.microsoft.com/office/drawing/2014/main" id="{4F47D892-2A8C-0377-0CB6-FEBFD7F94DAD}"/>
                  </a:ext>
                </a:extLst>
              </p:cNvPr>
              <p:cNvSpPr txBox="1">
                <a:spLocks noRot="1" noChangeAspect="1" noMove="1" noResize="1" noEditPoints="1" noAdjustHandles="1" noChangeArrowheads="1" noChangeShapeType="1" noTextEdit="1"/>
              </p:cNvSpPr>
              <p:nvPr/>
            </p:nvSpPr>
            <p:spPr>
              <a:xfrm>
                <a:off x="416655" y="3692460"/>
                <a:ext cx="10728960" cy="1158843"/>
              </a:xfrm>
              <a:prstGeom prst="rect">
                <a:avLst/>
              </a:prstGeom>
              <a:blipFill>
                <a:blip r:embed="rId5"/>
                <a:stretch>
                  <a:fillRect b="-7527"/>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11" name="Tekstvak 10">
                <a:extLst>
                  <a:ext uri="{FF2B5EF4-FFF2-40B4-BE49-F238E27FC236}">
                    <a16:creationId xmlns:a16="http://schemas.microsoft.com/office/drawing/2014/main" id="{70011773-58D1-862C-8DC3-D600B1AD9045}"/>
                  </a:ext>
                </a:extLst>
              </p:cNvPr>
              <p:cNvSpPr txBox="1"/>
              <p:nvPr/>
            </p:nvSpPr>
            <p:spPr>
              <a:xfrm>
                <a:off x="416655" y="5350584"/>
                <a:ext cx="10728960" cy="1158843"/>
              </a:xfrm>
              <a:prstGeom prst="rect">
                <a:avLst/>
              </a:prstGeom>
              <a:noFill/>
            </p:spPr>
            <p:txBody>
              <a:bodyPr wrap="square">
                <a:spAutoFit/>
              </a:bodyPr>
              <a:lstStyle/>
              <a:p>
                <a14:m>
                  <m:oMath xmlns:m="http://schemas.openxmlformats.org/officeDocument/2006/math">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𝜇</m:t>
                    </m:r>
                    <m:d>
                      <m:dPr>
                        <m:ctrlPr>
                          <a:rPr lang="nl-BE" sz="2400" b="0" i="1" smtClean="0">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𝑚</m:t>
                    </m:r>
                    <m:d>
                      <m:dPr>
                        <m:ctrlPr>
                          <a:rPr lang="nl-BE" sz="2400" b="0" i="1" smtClean="0">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b="0" i="1" smtClean="0">
                        <a:latin typeface="Cambria Math" panose="02040503050406030204" pitchFamily="18" charset="0"/>
                        <a:ea typeface="Cambria Math" panose="02040503050406030204" pitchFamily="18" charset="0"/>
                      </a:rPr>
                      <m:t>+</m:t>
                    </m:r>
                    <m:sSup>
                      <m:sSupPr>
                        <m:ctrlPr>
                          <a:rPr lang="nl-BE" sz="2400" i="1">
                            <a:latin typeface="Cambria Math" panose="02040503050406030204" pitchFamily="18" charset="0"/>
                            <a:ea typeface="Cambria Math" panose="02040503050406030204" pitchFamily="18" charset="0"/>
                          </a:rPr>
                        </m:ctrlPr>
                      </m:sSup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𝒆</m:t>
                            </m:r>
                          </m:e>
                          <m:sub>
                            <m:r>
                              <a:rPr lang="nl-BE" sz="2400" i="1">
                                <a:latin typeface="Cambria Math" panose="02040503050406030204" pitchFamily="18" charset="0"/>
                                <a:ea typeface="Cambria Math" panose="02040503050406030204" pitchFamily="18" charset="0"/>
                              </a:rPr>
                              <m:t>𝑖</m:t>
                            </m:r>
                          </m:sub>
                        </m:sSub>
                      </m:e>
                      <m:sup>
                        <m:r>
                          <a:rPr lang="nl-BE" sz="2400" i="1">
                            <a:latin typeface="Cambria Math" panose="02040503050406030204" pitchFamily="18" charset="0"/>
                            <a:ea typeface="Cambria Math" panose="02040503050406030204" pitchFamily="18" charset="0"/>
                          </a:rPr>
                          <m:t>𝑇</m:t>
                        </m:r>
                      </m:sup>
                    </m:sSup>
                    <m:r>
                      <a:rPr lang="nl-BE" sz="2400" i="1">
                        <a:latin typeface="Cambria Math" panose="02040503050406030204" pitchFamily="18" charset="0"/>
                        <a:ea typeface="Cambria Math" panose="02040503050406030204" pitchFamily="18" charset="0"/>
                      </a:rPr>
                      <m:t>×</m:t>
                    </m:r>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a:rPr lang="nl-BE" sz="2400" b="0" i="1" smtClean="0">
                                  <a:latin typeface="Cambria Math" panose="02040503050406030204" pitchFamily="18" charset="0"/>
                                  <a:ea typeface="Cambria Math" panose="02040503050406030204" pitchFamily="18" charset="0"/>
                                </a:rPr>
                                <m:t>𝑓</m:t>
                              </m:r>
                              <m:d>
                                <m:dPr>
                                  <m:ctrlPr>
                                    <a:rPr lang="nl-BE" sz="2400" b="0" i="1" smtClean="0">
                                      <a:latin typeface="Cambria Math" panose="02040503050406030204" pitchFamily="18" charset="0"/>
                                      <a:ea typeface="Cambria Math" panose="02040503050406030204" pitchFamily="18" charset="0"/>
                                    </a:rPr>
                                  </m:ctrlPr>
                                </m:dPr>
                                <m:e>
                                  <m:sSub>
                                    <m:sSubPr>
                                      <m:ctrlPr>
                                        <a:rPr lang="nl-BE" sz="2400" b="0" i="1" smtClean="0">
                                          <a:latin typeface="Cambria Math" panose="02040503050406030204" pitchFamily="18" charset="0"/>
                                          <a:ea typeface="Cambria Math" panose="02040503050406030204" pitchFamily="18" charset="0"/>
                                        </a:rPr>
                                      </m:ctrlPr>
                                    </m:sSubPr>
                                    <m:e>
                                      <m:r>
                                        <a:rPr lang="nl-BE" sz="2400" b="1" i="1" smtClean="0">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1</m:t>
                                      </m:r>
                                    </m:sub>
                                  </m:sSub>
                                </m:e>
                              </m:d>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𝑚</m:t>
                              </m:r>
                              <m:r>
                                <a:rPr lang="nl-BE" sz="2400" b="0" i="1" smtClean="0">
                                  <a:latin typeface="Cambria Math" panose="02040503050406030204" pitchFamily="18" charset="0"/>
                                  <a:ea typeface="Cambria Math" panose="02040503050406030204" pitchFamily="18" charset="0"/>
                                </a:rPr>
                                <m:t>(</m:t>
                              </m:r>
                              <m:sSub>
                                <m:sSubPr>
                                  <m:ctrlPr>
                                    <a:rPr lang="nl-BE" sz="2400" b="0" i="1" smtClean="0">
                                      <a:latin typeface="Cambria Math" panose="02040503050406030204" pitchFamily="18" charset="0"/>
                                      <a:ea typeface="Cambria Math" panose="02040503050406030204" pitchFamily="18" charset="0"/>
                                    </a:rPr>
                                  </m:ctrlPr>
                                </m:sSubPr>
                                <m:e>
                                  <m:r>
                                    <a:rPr lang="nl-BE" sz="2400" b="1" i="1" smtClean="0">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1</m:t>
                                  </m:r>
                                </m:sub>
                              </m:sSub>
                              <m:r>
                                <a:rPr lang="nl-BE" sz="2400" b="0" i="1" smtClean="0">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𝑓</m:t>
                              </m:r>
                              <m:d>
                                <m:dPr>
                                  <m:ctrlPr>
                                    <a:rPr lang="nl-BE" sz="2400" i="1">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𝑡</m:t>
                                      </m:r>
                                    </m:sub>
                                  </m:sSub>
                                </m:e>
                              </m:d>
                              <m:r>
                                <a:rPr lang="nl-BE" sz="2400" i="1">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𝑚</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r>
                      <a:rPr lang="nl-BE" sz="2400" i="1">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𝑚</m:t>
                    </m:r>
                    <m:d>
                      <m:dPr>
                        <m:ctrlPr>
                          <a:rPr lang="nl-BE" sz="2400" i="1">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i="1">
                        <a:latin typeface="Cambria Math" panose="02040503050406030204" pitchFamily="18" charset="0"/>
                        <a:ea typeface="Cambria Math" panose="02040503050406030204" pitchFamily="18" charset="0"/>
                      </a:rPr>
                      <m:t>+</m:t>
                    </m:r>
                  </m:oMath>
                </a14:m>
                <a:r>
                  <a:rPr lang="nl-BE" sz="2400" dirty="0">
                    <a:ea typeface="Cambria Math" panose="02040503050406030204" pitchFamily="18" charset="0"/>
                  </a:rPr>
                  <a:t> </a:t>
                </a:r>
                <a14:m>
                  <m:oMath xmlns:m="http://schemas.openxmlformats.org/officeDocument/2006/math">
                    <m:r>
                      <a:rPr lang="nl-BE" sz="2400" i="1">
                        <a:latin typeface="Cambria Math" panose="02040503050406030204" pitchFamily="18" charset="0"/>
                        <a:ea typeface="Cambria Math" panose="02040503050406030204" pitchFamily="18" charset="0"/>
                      </a:rPr>
                      <m:t>𝑓</m:t>
                    </m:r>
                    <m:d>
                      <m:dPr>
                        <m:ctrlPr>
                          <a:rPr lang="nl-BE" sz="2400" i="1">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𝑖</m:t>
                            </m:r>
                          </m:sub>
                        </m:sSub>
                      </m:e>
                    </m:d>
                    <m:r>
                      <a:rPr lang="nl-BE" sz="2400" i="1">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𝑚</m:t>
                    </m:r>
                    <m:d>
                      <m:dPr>
                        <m:ctrlPr>
                          <a:rPr lang="nl-BE" sz="2400" i="1">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𝑖</m:t>
                            </m:r>
                          </m:sub>
                        </m:sSub>
                      </m:e>
                    </m:d>
                    <m:r>
                      <a:rPr lang="nl-BE" sz="2400" b="0" i="1" smtClean="0">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𝑓</m:t>
                    </m:r>
                    <m:d>
                      <m:dPr>
                        <m:ctrlPr>
                          <a:rPr lang="nl-BE" sz="2400" i="1">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oMath>
                </a14:m>
                <a:endParaRPr lang="nl-BE" sz="2400" dirty="0"/>
              </a:p>
            </p:txBody>
          </p:sp>
        </mc:Choice>
        <mc:Fallback xmlns="">
          <p:sp>
            <p:nvSpPr>
              <p:cNvPr id="11" name="Tekstvak 10">
                <a:extLst>
                  <a:ext uri="{FF2B5EF4-FFF2-40B4-BE49-F238E27FC236}">
                    <a16:creationId xmlns:a16="http://schemas.microsoft.com/office/drawing/2014/main" id="{70011773-58D1-862C-8DC3-D600B1AD9045}"/>
                  </a:ext>
                </a:extLst>
              </p:cNvPr>
              <p:cNvSpPr txBox="1">
                <a:spLocks noRot="1" noChangeAspect="1" noMove="1" noResize="1" noEditPoints="1" noAdjustHandles="1" noChangeArrowheads="1" noChangeShapeType="1" noTextEdit="1"/>
              </p:cNvSpPr>
              <p:nvPr/>
            </p:nvSpPr>
            <p:spPr>
              <a:xfrm>
                <a:off x="416655" y="5350584"/>
                <a:ext cx="10728960" cy="1158843"/>
              </a:xfrm>
              <a:prstGeom prst="rect">
                <a:avLst/>
              </a:prstGeom>
              <a:blipFill>
                <a:blip r:embed="rId6"/>
                <a:stretch>
                  <a:fillRect b="-8696"/>
                </a:stretch>
              </a:blipFill>
            </p:spPr>
            <p:txBody>
              <a:bodyPr/>
              <a:lstStyle/>
              <a:p>
                <a:r>
                  <a:rPr lang="nl-BE">
                    <a:noFill/>
                  </a:rPr>
                  <a:t> </a:t>
                </a:r>
              </a:p>
            </p:txBody>
          </p:sp>
        </mc:Fallback>
      </mc:AlternateContent>
      <p:sp>
        <p:nvSpPr>
          <p:cNvPr id="3" name="Tijdelijke aanduiding voor dianummer 2">
            <a:extLst>
              <a:ext uri="{FF2B5EF4-FFF2-40B4-BE49-F238E27FC236}">
                <a16:creationId xmlns:a16="http://schemas.microsoft.com/office/drawing/2014/main" id="{280D9547-E99C-8FA8-6B1C-6E0EDE736EF9}"/>
              </a:ext>
            </a:extLst>
          </p:cNvPr>
          <p:cNvSpPr>
            <a:spLocks noGrp="1"/>
          </p:cNvSpPr>
          <p:nvPr>
            <p:ph type="sldNum" sz="quarter" idx="12"/>
          </p:nvPr>
        </p:nvSpPr>
        <p:spPr/>
        <p:txBody>
          <a:bodyPr/>
          <a:lstStyle/>
          <a:p>
            <a:fld id="{45E6605D-1E32-D542-B458-1FC57A046453}" type="slidenum">
              <a:rPr lang="nl-BE" smtClean="0"/>
              <a:t>17</a:t>
            </a:fld>
            <a:endParaRPr lang="nl-BE"/>
          </a:p>
        </p:txBody>
      </p:sp>
    </p:spTree>
    <p:extLst>
      <p:ext uri="{BB962C8B-B14F-4D97-AF65-F5344CB8AC3E}">
        <p14:creationId xmlns:p14="http://schemas.microsoft.com/office/powerpoint/2010/main" val="2685034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CA838-0E33-130F-D126-FCC708DDB03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AEBA2C3-76DC-528B-F3A8-080A7A97BAA7}"/>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Defining the prior</a:t>
            </a:r>
          </a:p>
        </p:txBody>
      </p:sp>
      <mc:AlternateContent xmlns:mc="http://schemas.openxmlformats.org/markup-compatibility/2006" xmlns:a14="http://schemas.microsoft.com/office/drawing/2010/main">
        <mc:Choice Requires="a14">
          <p:sp>
            <p:nvSpPr>
              <p:cNvPr id="4" name="Tekstvak 3">
                <a:extLst>
                  <a:ext uri="{FF2B5EF4-FFF2-40B4-BE49-F238E27FC236}">
                    <a16:creationId xmlns:a16="http://schemas.microsoft.com/office/drawing/2014/main" id="{88A2A763-3E46-C44E-35F2-D93137E33E19}"/>
                  </a:ext>
                </a:extLst>
              </p:cNvPr>
              <p:cNvSpPr txBox="1"/>
              <p:nvPr/>
            </p:nvSpPr>
            <p:spPr>
              <a:xfrm>
                <a:off x="971258" y="1395498"/>
                <a:ext cx="10425612" cy="461665"/>
              </a:xfrm>
              <a:prstGeom prst="rect">
                <a:avLst/>
              </a:prstGeom>
              <a:noFill/>
            </p:spPr>
            <p:txBody>
              <a:bodyPr wrap="square">
                <a:spAutoFit/>
              </a:bodyPr>
              <a:lstStyle/>
              <a:p>
                <a:r>
                  <a:rPr lang="nl-BE" sz="2400" dirty="0"/>
                  <a:t>Similarly, we get for </a:t>
                </a:r>
                <a14:m>
                  <m:oMath xmlns:m="http://schemas.openxmlformats.org/officeDocument/2006/math">
                    <m:sSup>
                      <m:sSupPr>
                        <m:ctrlPr>
                          <a:rPr lang="nl-BE" sz="2400" i="1">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𝜎</m:t>
                        </m:r>
                      </m:e>
                      <m:sup>
                        <m:r>
                          <a:rPr lang="nl-BE" sz="2400" i="1">
                            <a:latin typeface="Cambria Math" panose="02040503050406030204" pitchFamily="18" charset="0"/>
                            <a:ea typeface="Cambria Math" panose="02040503050406030204" pitchFamily="18" charset="0"/>
                          </a:rPr>
                          <m:t>2</m:t>
                        </m:r>
                      </m:sup>
                    </m:sSup>
                    <m:r>
                      <a:rPr lang="nl-BE" sz="2400" b="0" i="1" smtClean="0">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r>
                      <a:rPr lang="nl-BE" sz="2400" b="0" i="1" smtClean="0">
                        <a:latin typeface="Cambria Math" panose="02040503050406030204" pitchFamily="18" charset="0"/>
                        <a:ea typeface="Cambria Math" panose="02040503050406030204" pitchFamily="18" charset="0"/>
                      </a:rPr>
                      <m:t>)</m:t>
                    </m:r>
                  </m:oMath>
                </a14:m>
                <a:r>
                  <a:rPr lang="nl-BE" sz="2400" dirty="0"/>
                  <a:t>:</a:t>
                </a:r>
              </a:p>
            </p:txBody>
          </p:sp>
        </mc:Choice>
        <mc:Fallback xmlns="">
          <p:sp>
            <p:nvSpPr>
              <p:cNvPr id="4" name="Tekstvak 3">
                <a:extLst>
                  <a:ext uri="{FF2B5EF4-FFF2-40B4-BE49-F238E27FC236}">
                    <a16:creationId xmlns:a16="http://schemas.microsoft.com/office/drawing/2014/main" id="{88A2A763-3E46-C44E-35F2-D93137E33E19}"/>
                  </a:ext>
                </a:extLst>
              </p:cNvPr>
              <p:cNvSpPr txBox="1">
                <a:spLocks noRot="1" noChangeAspect="1" noMove="1" noResize="1" noEditPoints="1" noAdjustHandles="1" noChangeArrowheads="1" noChangeShapeType="1" noTextEdit="1"/>
              </p:cNvSpPr>
              <p:nvPr/>
            </p:nvSpPr>
            <p:spPr>
              <a:xfrm>
                <a:off x="971258" y="1395498"/>
                <a:ext cx="10425612" cy="461665"/>
              </a:xfrm>
              <a:prstGeom prst="rect">
                <a:avLst/>
              </a:prstGeom>
              <a:blipFill>
                <a:blip r:embed="rId3"/>
                <a:stretch>
                  <a:fillRect l="-852" t="-7895" b="-28947"/>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9" name="Tekstvak 8">
                <a:extLst>
                  <a:ext uri="{FF2B5EF4-FFF2-40B4-BE49-F238E27FC236}">
                    <a16:creationId xmlns:a16="http://schemas.microsoft.com/office/drawing/2014/main" id="{8D8B542F-340D-326E-FA79-6106261E226B}"/>
                  </a:ext>
                </a:extLst>
              </p:cNvPr>
              <p:cNvSpPr txBox="1"/>
              <p:nvPr/>
            </p:nvSpPr>
            <p:spPr>
              <a:xfrm>
                <a:off x="971258" y="2308062"/>
                <a:ext cx="10728960" cy="461665"/>
              </a:xfrm>
              <a:prstGeom prst="rect">
                <a:avLst/>
              </a:prstGeom>
              <a:noFill/>
            </p:spPr>
            <p:txBody>
              <a:bodyPr wrap="square">
                <a:spAutoFit/>
              </a:bodyPr>
              <a:lstStyle/>
              <a:p>
                <a14:m>
                  <m:oMath xmlns:m="http://schemas.openxmlformats.org/officeDocument/2006/math">
                    <m:sSup>
                      <m:sSupPr>
                        <m:ctrlPr>
                          <a:rPr lang="nl-BE" sz="2400" i="1">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𝜎</m:t>
                        </m:r>
                      </m:e>
                      <m:sup>
                        <m:r>
                          <a:rPr lang="nl-BE" sz="2400" i="1">
                            <a:latin typeface="Cambria Math" panose="02040503050406030204" pitchFamily="18" charset="0"/>
                            <a:ea typeface="Cambria Math" panose="02040503050406030204" pitchFamily="18" charset="0"/>
                          </a:rPr>
                          <m:t>2</m:t>
                        </m:r>
                      </m:sup>
                    </m:sSup>
                    <m:d>
                      <m:dPr>
                        <m:ctrlPr>
                          <a:rPr lang="nl-BE" sz="2400" b="0" i="1" smtClean="0">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b="0" i="1" smtClean="0">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r>
                      <a:rPr lang="nl-BE" sz="2400" i="1" smtClean="0">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m:t>
                    </m:r>
                    <m:sSup>
                      <m:sSupPr>
                        <m:ctrlPr>
                          <a:rPr lang="nl-BE" sz="2400" b="0" i="1" smtClean="0">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e>
                      <m:sup>
                        <m:r>
                          <a:rPr lang="nl-BE" sz="2400" b="0" i="1" smtClean="0">
                            <a:latin typeface="Cambria Math" panose="02040503050406030204" pitchFamily="18" charset="0"/>
                            <a:ea typeface="Cambria Math" panose="02040503050406030204" pitchFamily="18" charset="0"/>
                          </a:rPr>
                          <m:t>𝑇</m:t>
                        </m:r>
                      </m:sup>
                    </m:sSup>
                    <m:sSup>
                      <m:sSupPr>
                        <m:ctrlPr>
                          <a:rPr lang="nl-BE" sz="2400" b="0" i="1" smtClean="0">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r>
                              <a:rPr lang="nl-BE" sz="2400" b="1" i="1" smtClean="0">
                                <a:latin typeface="Cambria Math" panose="02040503050406030204" pitchFamily="18" charset="0"/>
                                <a:ea typeface="Cambria Math" panose="02040503050406030204" pitchFamily="18" charset="0"/>
                              </a:rPr>
                              <m:t>𝑿</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e>
                      <m:sup>
                        <m:r>
                          <a:rPr lang="nl-BE" sz="2400" b="0" i="1" smtClean="0">
                            <a:latin typeface="Cambria Math" panose="02040503050406030204" pitchFamily="18" charset="0"/>
                            <a:ea typeface="Cambria Math" panose="02040503050406030204" pitchFamily="18" charset="0"/>
                          </a:rPr>
                          <m:t>−1</m:t>
                        </m:r>
                      </m:sup>
                    </m:sSup>
                  </m:oMath>
                </a14:m>
                <a:r>
                  <a:rPr lang="nl-BE" sz="2400" dirty="0">
                    <a:ea typeface="Cambria Math" panose="02040503050406030204" pitchFamily="18" charset="0"/>
                  </a:rPr>
                  <a:t> </a:t>
                </a:r>
                <a14:m>
                  <m:oMath xmlns:m="http://schemas.openxmlformats.org/officeDocument/2006/math">
                    <m:r>
                      <a:rPr lang="nl-BE" sz="2400" i="1">
                        <a:latin typeface="Cambria Math" panose="02040503050406030204" pitchFamily="18" charset="0"/>
                        <a:ea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oMath>
                </a14:m>
                <a:endParaRPr lang="nl-BE" sz="2400" dirty="0"/>
              </a:p>
            </p:txBody>
          </p:sp>
        </mc:Choice>
        <mc:Fallback xmlns="">
          <p:sp>
            <p:nvSpPr>
              <p:cNvPr id="9" name="Tekstvak 8">
                <a:extLst>
                  <a:ext uri="{FF2B5EF4-FFF2-40B4-BE49-F238E27FC236}">
                    <a16:creationId xmlns:a16="http://schemas.microsoft.com/office/drawing/2014/main" id="{8D8B542F-340D-326E-FA79-6106261E226B}"/>
                  </a:ext>
                </a:extLst>
              </p:cNvPr>
              <p:cNvSpPr txBox="1">
                <a:spLocks noRot="1" noChangeAspect="1" noMove="1" noResize="1" noEditPoints="1" noAdjustHandles="1" noChangeArrowheads="1" noChangeShapeType="1" noTextEdit="1"/>
              </p:cNvSpPr>
              <p:nvPr/>
            </p:nvSpPr>
            <p:spPr>
              <a:xfrm>
                <a:off x="971258" y="2308062"/>
                <a:ext cx="10728960" cy="461665"/>
              </a:xfrm>
              <a:prstGeom prst="rect">
                <a:avLst/>
              </a:prstGeom>
              <a:blipFill>
                <a:blip r:embed="rId4"/>
                <a:stretch>
                  <a:fillRect b="-16216"/>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10" name="Tekstvak 9">
                <a:extLst>
                  <a:ext uri="{FF2B5EF4-FFF2-40B4-BE49-F238E27FC236}">
                    <a16:creationId xmlns:a16="http://schemas.microsoft.com/office/drawing/2014/main" id="{DFB21474-934A-0C85-8D84-9F347AF98887}"/>
                  </a:ext>
                </a:extLst>
              </p:cNvPr>
              <p:cNvSpPr txBox="1"/>
              <p:nvPr/>
            </p:nvSpPr>
            <p:spPr>
              <a:xfrm>
                <a:off x="-272002" y="3719906"/>
                <a:ext cx="1072896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nl-BE" sz="2400" b="0" i="1" smtClean="0">
                          <a:latin typeface="Cambria Math" panose="02040503050406030204" pitchFamily="18" charset="0"/>
                          <a:ea typeface="Cambria Math" panose="02040503050406030204" pitchFamily="18" charset="0"/>
                        </a:rPr>
                        <m:t>⇔</m:t>
                      </m:r>
                      <m:sSup>
                        <m:sSupPr>
                          <m:ctrlPr>
                            <a:rPr lang="nl-BE" sz="2400" i="1">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𝜎</m:t>
                          </m:r>
                        </m:e>
                        <m:sup>
                          <m:r>
                            <a:rPr lang="nl-BE" sz="2400" i="1">
                              <a:latin typeface="Cambria Math" panose="02040503050406030204" pitchFamily="18" charset="0"/>
                              <a:ea typeface="Cambria Math" panose="02040503050406030204" pitchFamily="18" charset="0"/>
                            </a:rPr>
                            <m:t>2</m:t>
                          </m:r>
                        </m:sup>
                      </m:sSup>
                      <m:d>
                        <m:dPr>
                          <m:ctrlPr>
                            <a:rPr lang="nl-BE" sz="2400" i="1">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i="1">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i="1">
                          <a:latin typeface="Cambria Math" panose="02040503050406030204" pitchFamily="18" charset="0"/>
                          <a:ea typeface="Cambria Math" panose="02040503050406030204" pitchFamily="18" charset="0"/>
                        </a:rPr>
                        <m:t>+</m:t>
                      </m:r>
                      <m:sSup>
                        <m:sSupPr>
                          <m:ctrlPr>
                            <a:rPr lang="nl-BE" sz="2400" i="1">
                              <a:latin typeface="Cambria Math" panose="02040503050406030204" pitchFamily="18" charset="0"/>
                              <a:ea typeface="Cambria Math" panose="02040503050406030204" pitchFamily="18" charset="0"/>
                            </a:rPr>
                          </m:ctrlPr>
                        </m:sSup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𝒆</m:t>
                              </m:r>
                            </m:e>
                            <m:sub>
                              <m:r>
                                <a:rPr lang="nl-BE" sz="2400" i="1">
                                  <a:latin typeface="Cambria Math" panose="02040503050406030204" pitchFamily="18" charset="0"/>
                                  <a:ea typeface="Cambria Math" panose="02040503050406030204" pitchFamily="18" charset="0"/>
                                </a:rPr>
                                <m:t>𝑖</m:t>
                              </m:r>
                            </m:sub>
                          </m:sSub>
                        </m:e>
                        <m:sup>
                          <m:r>
                            <a:rPr lang="nl-BE" sz="2400" i="1">
                              <a:latin typeface="Cambria Math" panose="02040503050406030204" pitchFamily="18" charset="0"/>
                              <a:ea typeface="Cambria Math" panose="02040503050406030204" pitchFamily="18" charset="0"/>
                            </a:rPr>
                            <m:t>𝑇</m:t>
                          </m:r>
                        </m:sup>
                      </m:sSup>
                      <m:r>
                        <a:rPr lang="nl-BE" sz="2400" i="1">
                          <a:latin typeface="Cambria Math" panose="02040503050406030204" pitchFamily="18" charset="0"/>
                          <a:ea typeface="Cambria Math" panose="02040503050406030204" pitchFamily="18" charset="0"/>
                        </a:rPr>
                        <m:t>× </m:t>
                      </m:r>
                      <m:r>
                        <a:rPr lang="nl-BE" sz="2400" i="1">
                          <a:latin typeface="Cambria Math" panose="02040503050406030204" pitchFamily="18" charset="0"/>
                          <a:ea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r>
                            <a:rPr lang="nl-BE" sz="2400" b="1" i="1">
                              <a:latin typeface="Cambria Math" panose="02040503050406030204" pitchFamily="18" charset="0"/>
                              <a:ea typeface="Cambria Math" panose="02040503050406030204" pitchFamily="18" charset="0"/>
                            </a:rPr>
                            <m:t>𝑿</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r>
                        <a:rPr lang="nl-BE" sz="2400" b="1" i="1">
                          <a:latin typeface="Cambria Math" panose="02040503050406030204" pitchFamily="18" charset="0"/>
                          <a:ea typeface="Cambria Math" panose="02040503050406030204" pitchFamily="18" charset="0"/>
                        </a:rPr>
                        <m:t> × </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𝒆</m:t>
                          </m:r>
                        </m:e>
                        <m:sub>
                          <m:r>
                            <a:rPr lang="nl-BE" sz="2400" i="1">
                              <a:latin typeface="Cambria Math" panose="02040503050406030204" pitchFamily="18" charset="0"/>
                              <a:ea typeface="Cambria Math" panose="02040503050406030204" pitchFamily="18" charset="0"/>
                            </a:rPr>
                            <m:t>𝑖</m:t>
                          </m:r>
                        </m:sub>
                      </m:sSub>
                      <m:r>
                        <a:rPr lang="nl-BE" sz="2400" b="0" i="1" smtClean="0">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b="0" i="1" smtClean="0">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b="0" i="1" smtClean="0">
                          <a:latin typeface="Cambria Math" panose="02040503050406030204" pitchFamily="18" charset="0"/>
                          <a:ea typeface="Cambria Math" panose="02040503050406030204" pitchFamily="18" charset="0"/>
                        </a:rPr>
                        <m:t>=0</m:t>
                      </m:r>
                    </m:oMath>
                  </m:oMathPara>
                </a14:m>
                <a:endParaRPr lang="nl-BE" sz="2400" dirty="0"/>
              </a:p>
            </p:txBody>
          </p:sp>
        </mc:Choice>
        <mc:Fallback xmlns="">
          <p:sp>
            <p:nvSpPr>
              <p:cNvPr id="10" name="Tekstvak 9">
                <a:extLst>
                  <a:ext uri="{FF2B5EF4-FFF2-40B4-BE49-F238E27FC236}">
                    <a16:creationId xmlns:a16="http://schemas.microsoft.com/office/drawing/2014/main" id="{DFB21474-934A-0C85-8D84-9F347AF98887}"/>
                  </a:ext>
                </a:extLst>
              </p:cNvPr>
              <p:cNvSpPr txBox="1">
                <a:spLocks noRot="1" noChangeAspect="1" noMove="1" noResize="1" noEditPoints="1" noAdjustHandles="1" noChangeArrowheads="1" noChangeShapeType="1" noTextEdit="1"/>
              </p:cNvSpPr>
              <p:nvPr/>
            </p:nvSpPr>
            <p:spPr>
              <a:xfrm>
                <a:off x="-272002" y="3719906"/>
                <a:ext cx="10728960" cy="461665"/>
              </a:xfrm>
              <a:prstGeom prst="rect">
                <a:avLst/>
              </a:prstGeom>
              <a:blipFill>
                <a:blip r:embed="rId5"/>
                <a:stretch>
                  <a:fillRect b="-15789"/>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3" name="Tekstvak 2">
                <a:extLst>
                  <a:ext uri="{FF2B5EF4-FFF2-40B4-BE49-F238E27FC236}">
                    <a16:creationId xmlns:a16="http://schemas.microsoft.com/office/drawing/2014/main" id="{EE013926-198A-156C-7B84-4D1B416F0103}"/>
                  </a:ext>
                </a:extLst>
              </p:cNvPr>
              <p:cNvSpPr txBox="1"/>
              <p:nvPr/>
            </p:nvSpPr>
            <p:spPr>
              <a:xfrm>
                <a:off x="488091" y="3013984"/>
                <a:ext cx="10728960" cy="461665"/>
              </a:xfrm>
              <a:prstGeom prst="rect">
                <a:avLst/>
              </a:prstGeom>
              <a:noFill/>
            </p:spPr>
            <p:txBody>
              <a:bodyPr wrap="square">
                <a:spAutoFit/>
              </a:bodyPr>
              <a:lstStyle/>
              <a:p>
                <a14:m>
                  <m:oMath xmlns:m="http://schemas.openxmlformats.org/officeDocument/2006/math">
                    <m:r>
                      <a:rPr lang="nl-BE" sz="2400" i="1" smtClean="0">
                        <a:latin typeface="Cambria Math" panose="02040503050406030204" pitchFamily="18" charset="0"/>
                        <a:ea typeface="Cambria Math" panose="02040503050406030204" pitchFamily="18" charset="0"/>
                      </a:rPr>
                      <m:t>⇔</m:t>
                    </m:r>
                    <m:sSup>
                      <m:sSupPr>
                        <m:ctrlPr>
                          <a:rPr lang="nl-BE" sz="2400" i="1">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𝜎</m:t>
                        </m:r>
                      </m:e>
                      <m:sup>
                        <m:r>
                          <a:rPr lang="nl-BE" sz="2400" i="1">
                            <a:latin typeface="Cambria Math" panose="02040503050406030204" pitchFamily="18" charset="0"/>
                            <a:ea typeface="Cambria Math" panose="02040503050406030204" pitchFamily="18" charset="0"/>
                          </a:rPr>
                          <m:t>2</m:t>
                        </m:r>
                      </m:sup>
                    </m:sSup>
                    <m:d>
                      <m:dPr>
                        <m:ctrlPr>
                          <a:rPr lang="nl-BE" sz="2400" b="0" i="1" smtClean="0">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b="0" i="1" smtClean="0">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r>
                          <a:rPr lang="nl-BE" sz="2400" i="1">
                            <a:latin typeface="Cambria Math" panose="02040503050406030204" pitchFamily="18" charset="0"/>
                            <a:ea typeface="Cambria Math" panose="02040503050406030204" pitchFamily="18" charset="0"/>
                          </a:rPr>
                          <m:t>,</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i="1">
                        <a:latin typeface="Cambria Math" panose="02040503050406030204" pitchFamily="18" charset="0"/>
                        <a:ea typeface="Cambria Math" panose="02040503050406030204" pitchFamily="18" charset="0"/>
                      </a:rPr>
                      <m:t>+</m:t>
                    </m:r>
                    <m:sSup>
                      <m:sSupPr>
                        <m:ctrlPr>
                          <a:rPr lang="nl-BE" sz="2400" i="1">
                            <a:latin typeface="Cambria Math" panose="02040503050406030204" pitchFamily="18" charset="0"/>
                            <a:ea typeface="Cambria Math" panose="02040503050406030204" pitchFamily="18" charset="0"/>
                          </a:rPr>
                        </m:ctrlPr>
                      </m:sSupPr>
                      <m:e>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𝒆</m:t>
                            </m:r>
                          </m:e>
                          <m:sub>
                            <m:r>
                              <a:rPr lang="nl-BE" sz="2400" i="1">
                                <a:latin typeface="Cambria Math" panose="02040503050406030204" pitchFamily="18" charset="0"/>
                                <a:ea typeface="Cambria Math" panose="02040503050406030204" pitchFamily="18" charset="0"/>
                              </a:rPr>
                              <m:t>𝑖</m:t>
                            </m:r>
                          </m:sub>
                        </m:sSub>
                      </m:e>
                      <m:sup>
                        <m:r>
                          <a:rPr lang="nl-BE" sz="2400" i="1">
                            <a:latin typeface="Cambria Math" panose="02040503050406030204" pitchFamily="18" charset="0"/>
                            <a:ea typeface="Cambria Math" panose="02040503050406030204" pitchFamily="18" charset="0"/>
                          </a:rPr>
                          <m:t>𝑇</m:t>
                        </m:r>
                      </m:sup>
                    </m:sSup>
                    <m:r>
                      <a:rPr lang="nl-BE" sz="2400" i="1">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 </m:t>
                    </m:r>
                    <m:sSup>
                      <m:sSupPr>
                        <m:ctrlPr>
                          <a:rPr lang="nl-BE" sz="2400" b="0" i="1" smtClean="0">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r>
                              <a:rPr lang="nl-BE" sz="2400" b="1" i="1">
                                <a:latin typeface="Cambria Math" panose="02040503050406030204" pitchFamily="18" charset="0"/>
                                <a:ea typeface="Cambria Math" panose="02040503050406030204" pitchFamily="18" charset="0"/>
                              </a:rPr>
                              <m:t>𝑿</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e>
                      <m:sup>
                        <m:r>
                          <a:rPr lang="nl-BE" sz="2400" b="0" i="1" smtClean="0">
                            <a:latin typeface="Cambria Math" panose="02040503050406030204" pitchFamily="18" charset="0"/>
                            <a:ea typeface="Cambria Math" panose="02040503050406030204" pitchFamily="18" charset="0"/>
                          </a:rPr>
                          <m:t>𝑇</m:t>
                        </m:r>
                      </m:sup>
                    </m:sSup>
                    <m:sSup>
                      <m:sSupPr>
                        <m:ctrlPr>
                          <a:rPr lang="nl-BE" sz="2400" b="0" i="1" smtClean="0">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r>
                              <a:rPr lang="nl-BE" sz="2400" b="1" i="1" smtClean="0">
                                <a:latin typeface="Cambria Math" panose="02040503050406030204" pitchFamily="18" charset="0"/>
                                <a:ea typeface="Cambria Math" panose="02040503050406030204" pitchFamily="18" charset="0"/>
                              </a:rPr>
                              <m:t>𝑿</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e>
                      <m:sup>
                        <m:r>
                          <a:rPr lang="nl-BE" sz="2400" b="0" i="1" smtClean="0">
                            <a:latin typeface="Cambria Math" panose="02040503050406030204" pitchFamily="18" charset="0"/>
                            <a:ea typeface="Cambria Math" panose="02040503050406030204" pitchFamily="18" charset="0"/>
                          </a:rPr>
                          <m:t>−1</m:t>
                        </m:r>
                      </m:sup>
                    </m:sSup>
                  </m:oMath>
                </a14:m>
                <a:r>
                  <a:rPr lang="nl-BE" sz="2400" dirty="0">
                    <a:ea typeface="Cambria Math" panose="02040503050406030204" pitchFamily="18" charset="0"/>
                  </a:rPr>
                  <a:t> </a:t>
                </a:r>
                <a14:m>
                  <m:oMath xmlns:m="http://schemas.openxmlformats.org/officeDocument/2006/math">
                    <m:r>
                      <a:rPr lang="nl-BE" sz="2400" i="1">
                        <a:latin typeface="Cambria Math" panose="02040503050406030204" pitchFamily="18" charset="0"/>
                        <a:ea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r>
                          <a:rPr lang="nl-BE" sz="2400" b="1" i="1">
                            <a:latin typeface="Cambria Math" panose="02040503050406030204" pitchFamily="18" charset="0"/>
                            <a:ea typeface="Cambria Math" panose="02040503050406030204" pitchFamily="18" charset="0"/>
                          </a:rPr>
                          <m:t>𝑿</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r>
                      <a:rPr lang="nl-BE" sz="2400" b="1" i="1" smtClean="0">
                        <a:latin typeface="Cambria Math" panose="02040503050406030204" pitchFamily="18" charset="0"/>
                        <a:ea typeface="Cambria Math" panose="02040503050406030204" pitchFamily="18" charset="0"/>
                      </a:rPr>
                      <m:t> × </m:t>
                    </m:r>
                    <m:sSub>
                      <m:sSubPr>
                        <m:ctrlPr>
                          <a:rPr lang="nl-BE" sz="2400"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𝒆</m:t>
                        </m:r>
                      </m:e>
                      <m:sub>
                        <m:r>
                          <a:rPr lang="nl-BE" sz="2400" i="1">
                            <a:latin typeface="Cambria Math" panose="02040503050406030204" pitchFamily="18" charset="0"/>
                            <a:ea typeface="Cambria Math" panose="02040503050406030204" pitchFamily="18" charset="0"/>
                          </a:rPr>
                          <m:t>𝑖</m:t>
                        </m:r>
                      </m:sub>
                    </m:sSub>
                  </m:oMath>
                </a14:m>
                <a:endParaRPr lang="nl-BE" sz="2400" dirty="0"/>
              </a:p>
            </p:txBody>
          </p:sp>
        </mc:Choice>
        <mc:Fallback xmlns="">
          <p:sp>
            <p:nvSpPr>
              <p:cNvPr id="3" name="Tekstvak 2">
                <a:extLst>
                  <a:ext uri="{FF2B5EF4-FFF2-40B4-BE49-F238E27FC236}">
                    <a16:creationId xmlns:a16="http://schemas.microsoft.com/office/drawing/2014/main" id="{EE013926-198A-156C-7B84-4D1B416F0103}"/>
                  </a:ext>
                </a:extLst>
              </p:cNvPr>
              <p:cNvSpPr txBox="1">
                <a:spLocks noRot="1" noChangeAspect="1" noMove="1" noResize="1" noEditPoints="1" noAdjustHandles="1" noChangeArrowheads="1" noChangeShapeType="1" noTextEdit="1"/>
              </p:cNvSpPr>
              <p:nvPr/>
            </p:nvSpPr>
            <p:spPr>
              <a:xfrm>
                <a:off x="488091" y="3013984"/>
                <a:ext cx="10728960" cy="461665"/>
              </a:xfrm>
              <a:prstGeom prst="rect">
                <a:avLst/>
              </a:prstGeom>
              <a:blipFill>
                <a:blip r:embed="rId6"/>
                <a:stretch>
                  <a:fillRect b="-18919"/>
                </a:stretch>
              </a:blipFill>
            </p:spPr>
            <p:txBody>
              <a:bodyPr/>
              <a:lstStyle/>
              <a:p>
                <a:r>
                  <a:rPr lang="nl-BE">
                    <a:noFill/>
                  </a:rPr>
                  <a:t> </a:t>
                </a:r>
              </a:p>
            </p:txBody>
          </p:sp>
        </mc:Fallback>
      </mc:AlternateContent>
      <p:sp>
        <p:nvSpPr>
          <p:cNvPr id="5" name="Tijdelijke aanduiding voor dianummer 4">
            <a:extLst>
              <a:ext uri="{FF2B5EF4-FFF2-40B4-BE49-F238E27FC236}">
                <a16:creationId xmlns:a16="http://schemas.microsoft.com/office/drawing/2014/main" id="{33A1BE35-9E10-6676-CD45-2D7BA68DA698}"/>
              </a:ext>
            </a:extLst>
          </p:cNvPr>
          <p:cNvSpPr>
            <a:spLocks noGrp="1"/>
          </p:cNvSpPr>
          <p:nvPr>
            <p:ph type="sldNum" sz="quarter" idx="12"/>
          </p:nvPr>
        </p:nvSpPr>
        <p:spPr/>
        <p:txBody>
          <a:bodyPr/>
          <a:lstStyle/>
          <a:p>
            <a:fld id="{45E6605D-1E32-D542-B458-1FC57A046453}" type="slidenum">
              <a:rPr lang="nl-BE" smtClean="0"/>
              <a:t>18</a:t>
            </a:fld>
            <a:endParaRPr lang="nl-BE"/>
          </a:p>
        </p:txBody>
      </p:sp>
    </p:spTree>
    <p:extLst>
      <p:ext uri="{BB962C8B-B14F-4D97-AF65-F5344CB8AC3E}">
        <p14:creationId xmlns:p14="http://schemas.microsoft.com/office/powerpoint/2010/main" val="4017444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F88AC-8796-021A-249C-4B1EC1031B63}"/>
            </a:ext>
          </a:extLst>
        </p:cNvPr>
        <p:cNvGrpSpPr/>
        <p:nvPr/>
      </p:nvGrpSpPr>
      <p:grpSpPr>
        <a:xfrm>
          <a:off x="0" y="0"/>
          <a:ext cx="0" cy="0"/>
          <a:chOff x="0" y="0"/>
          <a:chExt cx="0" cy="0"/>
        </a:xfrm>
      </p:grpSpPr>
      <p:sp>
        <p:nvSpPr>
          <p:cNvPr id="32" name="Ring 31">
            <a:extLst>
              <a:ext uri="{FF2B5EF4-FFF2-40B4-BE49-F238E27FC236}">
                <a16:creationId xmlns:a16="http://schemas.microsoft.com/office/drawing/2014/main" id="{13585BAB-8118-14BA-34CD-137531249084}"/>
              </a:ext>
            </a:extLst>
          </p:cNvPr>
          <p:cNvSpPr/>
          <p:nvPr/>
        </p:nvSpPr>
        <p:spPr>
          <a:xfrm>
            <a:off x="5575616" y="2079666"/>
            <a:ext cx="3317372" cy="3132268"/>
          </a:xfrm>
          <a:prstGeom prst="donut">
            <a:avLst>
              <a:gd name="adj" fmla="val 57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 name="Titel 1">
            <a:extLst>
              <a:ext uri="{FF2B5EF4-FFF2-40B4-BE49-F238E27FC236}">
                <a16:creationId xmlns:a16="http://schemas.microsoft.com/office/drawing/2014/main" id="{FF38D41A-BAC7-AE02-BBB7-6C8F7B4DB73B}"/>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Bayesian Optimization cycle</a:t>
            </a:r>
          </a:p>
        </p:txBody>
      </p:sp>
      <p:sp>
        <p:nvSpPr>
          <p:cNvPr id="8" name="Tekstvak 7">
            <a:extLst>
              <a:ext uri="{FF2B5EF4-FFF2-40B4-BE49-F238E27FC236}">
                <a16:creationId xmlns:a16="http://schemas.microsoft.com/office/drawing/2014/main" id="{6DF5B31F-8809-255A-84B8-459E91717A92}"/>
              </a:ext>
            </a:extLst>
          </p:cNvPr>
          <p:cNvSpPr txBox="1"/>
          <p:nvPr/>
        </p:nvSpPr>
        <p:spPr>
          <a:xfrm>
            <a:off x="1183497" y="3429000"/>
            <a:ext cx="2915366" cy="1200329"/>
          </a:xfrm>
          <a:prstGeom prst="rect">
            <a:avLst/>
          </a:prstGeom>
          <a:noFill/>
        </p:spPr>
        <p:txBody>
          <a:bodyPr wrap="square">
            <a:spAutoFit/>
          </a:bodyPr>
          <a:lstStyle/>
          <a:p>
            <a:pPr algn="ctr"/>
            <a:r>
              <a:rPr lang="nl-BE" sz="2400" dirty="0"/>
              <a:t>previous measurements</a:t>
            </a:r>
          </a:p>
          <a:p>
            <a:pPr algn="ctr"/>
            <a:r>
              <a:rPr lang="nl-BE" sz="2400" dirty="0"/>
              <a:t>{</a:t>
            </a:r>
            <a:r>
              <a:rPr lang="nl-BE" sz="2400" b="1" dirty="0"/>
              <a:t>x</a:t>
            </a:r>
            <a:r>
              <a:rPr lang="nl-BE" sz="2400" baseline="-25000" dirty="0"/>
              <a:t>i</a:t>
            </a:r>
            <a:r>
              <a:rPr lang="nl-BE" sz="2400" dirty="0"/>
              <a:t>, f(</a:t>
            </a:r>
            <a:r>
              <a:rPr lang="nl-BE" sz="2400" b="1" dirty="0"/>
              <a:t>x</a:t>
            </a:r>
            <a:r>
              <a:rPr lang="nl-BE" sz="2400" baseline="-25000" dirty="0"/>
              <a:t>i</a:t>
            </a:r>
            <a:r>
              <a:rPr lang="nl-BE" sz="2400" dirty="0"/>
              <a:t>)}</a:t>
            </a:r>
          </a:p>
        </p:txBody>
      </p:sp>
      <p:sp>
        <p:nvSpPr>
          <p:cNvPr id="3" name="Tijdelijke aanduiding voor dianummer 2">
            <a:extLst>
              <a:ext uri="{FF2B5EF4-FFF2-40B4-BE49-F238E27FC236}">
                <a16:creationId xmlns:a16="http://schemas.microsoft.com/office/drawing/2014/main" id="{C0C407B3-9C97-0371-500D-EE57A5A4550A}"/>
              </a:ext>
            </a:extLst>
          </p:cNvPr>
          <p:cNvSpPr>
            <a:spLocks noGrp="1"/>
          </p:cNvSpPr>
          <p:nvPr>
            <p:ph type="sldNum" sz="quarter" idx="12"/>
          </p:nvPr>
        </p:nvSpPr>
        <p:spPr>
          <a:xfrm>
            <a:off x="8776394" y="6149044"/>
            <a:ext cx="2743200" cy="365125"/>
          </a:xfrm>
        </p:spPr>
        <p:txBody>
          <a:bodyPr/>
          <a:lstStyle/>
          <a:p>
            <a:fld id="{45E6605D-1E32-D542-B458-1FC57A046453}" type="slidenum">
              <a:rPr lang="nl-BE" smtClean="0"/>
              <a:t>19</a:t>
            </a:fld>
            <a:endParaRPr lang="nl-BE"/>
          </a:p>
        </p:txBody>
      </p:sp>
      <p:sp>
        <p:nvSpPr>
          <p:cNvPr id="9" name="Tekstvak 8">
            <a:extLst>
              <a:ext uri="{FF2B5EF4-FFF2-40B4-BE49-F238E27FC236}">
                <a16:creationId xmlns:a16="http://schemas.microsoft.com/office/drawing/2014/main" id="{43943A9F-DE09-9E9C-2714-A72C2CD94331}"/>
              </a:ext>
            </a:extLst>
          </p:cNvPr>
          <p:cNvSpPr txBox="1"/>
          <p:nvPr/>
        </p:nvSpPr>
        <p:spPr>
          <a:xfrm>
            <a:off x="4591114" y="3590366"/>
            <a:ext cx="2396862" cy="1200329"/>
          </a:xfrm>
          <a:prstGeom prst="rect">
            <a:avLst/>
          </a:prstGeom>
          <a:solidFill>
            <a:schemeClr val="bg1"/>
          </a:solidFill>
        </p:spPr>
        <p:txBody>
          <a:bodyPr wrap="square">
            <a:spAutoFit/>
          </a:bodyPr>
          <a:lstStyle/>
          <a:p>
            <a:pPr algn="ctr"/>
            <a:r>
              <a:rPr lang="nl-BE" sz="2400" dirty="0"/>
              <a:t>function distribution:</a:t>
            </a:r>
          </a:p>
          <a:p>
            <a:pPr algn="ctr"/>
            <a:r>
              <a:rPr lang="nl-BE" sz="2400" b="1" dirty="0"/>
              <a:t>prior</a:t>
            </a:r>
          </a:p>
        </p:txBody>
      </p:sp>
      <p:sp>
        <p:nvSpPr>
          <p:cNvPr id="13" name="Tekstvak 12">
            <a:extLst>
              <a:ext uri="{FF2B5EF4-FFF2-40B4-BE49-F238E27FC236}">
                <a16:creationId xmlns:a16="http://schemas.microsoft.com/office/drawing/2014/main" id="{534E1CB2-0CD2-42F0-C835-5CFD81D1C5F8}"/>
              </a:ext>
            </a:extLst>
          </p:cNvPr>
          <p:cNvSpPr txBox="1"/>
          <p:nvPr/>
        </p:nvSpPr>
        <p:spPr>
          <a:xfrm>
            <a:off x="6944125" y="1492295"/>
            <a:ext cx="2643188" cy="1200329"/>
          </a:xfrm>
          <a:prstGeom prst="rect">
            <a:avLst/>
          </a:prstGeom>
          <a:solidFill>
            <a:schemeClr val="bg1"/>
          </a:solidFill>
        </p:spPr>
        <p:txBody>
          <a:bodyPr wrap="square">
            <a:spAutoFit/>
          </a:bodyPr>
          <a:lstStyle/>
          <a:p>
            <a:pPr algn="ctr"/>
            <a:r>
              <a:rPr lang="nl-BE" sz="2400" dirty="0"/>
              <a:t>new measurements</a:t>
            </a:r>
          </a:p>
          <a:p>
            <a:pPr algn="ctr"/>
            <a:r>
              <a:rPr lang="nl-BE" sz="2400" dirty="0"/>
              <a:t>{</a:t>
            </a:r>
            <a:r>
              <a:rPr lang="nl-BE" sz="2400" b="1" dirty="0"/>
              <a:t>x</a:t>
            </a:r>
            <a:r>
              <a:rPr lang="nl-BE" sz="2400" b="1" baseline="-25000" dirty="0"/>
              <a:t>j</a:t>
            </a:r>
            <a:r>
              <a:rPr lang="nl-BE" sz="2400" dirty="0"/>
              <a:t>, f(</a:t>
            </a:r>
            <a:r>
              <a:rPr lang="nl-BE" sz="2400" b="1" dirty="0"/>
              <a:t>x</a:t>
            </a:r>
            <a:r>
              <a:rPr lang="nl-BE" sz="2400" b="1" baseline="-25000" dirty="0"/>
              <a:t>j</a:t>
            </a:r>
            <a:r>
              <a:rPr lang="nl-BE" sz="2400" dirty="0"/>
              <a:t>)}</a:t>
            </a:r>
          </a:p>
        </p:txBody>
      </p:sp>
      <p:sp>
        <p:nvSpPr>
          <p:cNvPr id="23" name="Tekstvak 22">
            <a:extLst>
              <a:ext uri="{FF2B5EF4-FFF2-40B4-BE49-F238E27FC236}">
                <a16:creationId xmlns:a16="http://schemas.microsoft.com/office/drawing/2014/main" id="{F2CE2B24-BE1E-7BFE-9C53-884FC9BC13D9}"/>
              </a:ext>
            </a:extLst>
          </p:cNvPr>
          <p:cNvSpPr txBox="1"/>
          <p:nvPr/>
        </p:nvSpPr>
        <p:spPr>
          <a:xfrm>
            <a:off x="7234302" y="4165376"/>
            <a:ext cx="2643188" cy="1200329"/>
          </a:xfrm>
          <a:prstGeom prst="rect">
            <a:avLst/>
          </a:prstGeom>
          <a:solidFill>
            <a:schemeClr val="bg1"/>
          </a:solidFill>
        </p:spPr>
        <p:txBody>
          <a:bodyPr wrap="square">
            <a:spAutoFit/>
          </a:bodyPr>
          <a:lstStyle/>
          <a:p>
            <a:pPr algn="ctr"/>
            <a:r>
              <a:rPr lang="nl-BE" sz="2400" dirty="0"/>
              <a:t>Updated function distribution:</a:t>
            </a:r>
          </a:p>
          <a:p>
            <a:pPr algn="ctr"/>
            <a:r>
              <a:rPr lang="nl-BE" sz="2400" b="1" dirty="0"/>
              <a:t>posterior</a:t>
            </a:r>
          </a:p>
        </p:txBody>
      </p:sp>
      <p:cxnSp>
        <p:nvCxnSpPr>
          <p:cNvPr id="5" name="Rechte verbindingslijn met pijl 4">
            <a:extLst>
              <a:ext uri="{FF2B5EF4-FFF2-40B4-BE49-F238E27FC236}">
                <a16:creationId xmlns:a16="http://schemas.microsoft.com/office/drawing/2014/main" id="{2716AAD4-453D-36E8-3520-0AB3163B13CF}"/>
              </a:ext>
            </a:extLst>
          </p:cNvPr>
          <p:cNvCxnSpPr>
            <a:cxnSpLocks/>
          </p:cNvCxnSpPr>
          <p:nvPr/>
        </p:nvCxnSpPr>
        <p:spPr>
          <a:xfrm>
            <a:off x="3783786" y="4029165"/>
            <a:ext cx="95726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5" name="Driehoek 34">
            <a:extLst>
              <a:ext uri="{FF2B5EF4-FFF2-40B4-BE49-F238E27FC236}">
                <a16:creationId xmlns:a16="http://schemas.microsoft.com/office/drawing/2014/main" id="{72894F08-0A30-A79E-A19A-736EA7A86B59}"/>
              </a:ext>
            </a:extLst>
          </p:cNvPr>
          <p:cNvSpPr/>
          <p:nvPr/>
        </p:nvSpPr>
        <p:spPr>
          <a:xfrm rot="4312836">
            <a:off x="6696863" y="2003508"/>
            <a:ext cx="394291" cy="219635"/>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BE"/>
          </a:p>
        </p:txBody>
      </p:sp>
      <p:sp>
        <p:nvSpPr>
          <p:cNvPr id="36" name="Driehoek 35">
            <a:extLst>
              <a:ext uri="{FF2B5EF4-FFF2-40B4-BE49-F238E27FC236}">
                <a16:creationId xmlns:a16="http://schemas.microsoft.com/office/drawing/2014/main" id="{AC5D8B25-5A6E-C1F0-7000-50EAF1EB329A}"/>
              </a:ext>
            </a:extLst>
          </p:cNvPr>
          <p:cNvSpPr/>
          <p:nvPr/>
        </p:nvSpPr>
        <p:spPr>
          <a:xfrm rot="11809894">
            <a:off x="8579249" y="3971980"/>
            <a:ext cx="394291" cy="219635"/>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BE"/>
          </a:p>
        </p:txBody>
      </p:sp>
      <p:sp>
        <p:nvSpPr>
          <p:cNvPr id="37" name="Driehoek 36">
            <a:extLst>
              <a:ext uri="{FF2B5EF4-FFF2-40B4-BE49-F238E27FC236}">
                <a16:creationId xmlns:a16="http://schemas.microsoft.com/office/drawing/2014/main" id="{35537CDB-3EE2-FE12-44C3-BAB7E2816EBC}"/>
              </a:ext>
            </a:extLst>
          </p:cNvPr>
          <p:cNvSpPr/>
          <p:nvPr/>
        </p:nvSpPr>
        <p:spPr>
          <a:xfrm rot="18561669">
            <a:off x="5983261" y="4722235"/>
            <a:ext cx="394291" cy="219635"/>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BE"/>
          </a:p>
        </p:txBody>
      </p:sp>
      <p:sp>
        <p:nvSpPr>
          <p:cNvPr id="4" name="Tekstvak 3">
            <a:extLst>
              <a:ext uri="{FF2B5EF4-FFF2-40B4-BE49-F238E27FC236}">
                <a16:creationId xmlns:a16="http://schemas.microsoft.com/office/drawing/2014/main" id="{F237A9D8-1EA8-8FDD-28EA-CF0DF0C253FF}"/>
              </a:ext>
            </a:extLst>
          </p:cNvPr>
          <p:cNvSpPr txBox="1"/>
          <p:nvPr/>
        </p:nvSpPr>
        <p:spPr>
          <a:xfrm>
            <a:off x="1210736" y="1492294"/>
            <a:ext cx="3872629" cy="1200329"/>
          </a:xfrm>
          <a:prstGeom prst="rect">
            <a:avLst/>
          </a:prstGeom>
          <a:noFill/>
        </p:spPr>
        <p:txBody>
          <a:bodyPr wrap="square">
            <a:spAutoFit/>
          </a:bodyPr>
          <a:lstStyle/>
          <a:p>
            <a:pPr algn="ctr"/>
            <a:r>
              <a:rPr lang="nl-BE" sz="2400" dirty="0">
                <a:solidFill>
                  <a:srgbClr val="FF0000"/>
                </a:solidFill>
              </a:rPr>
              <a:t>Regression algorithm (Gaussian Processes) + covariance function (RBF)</a:t>
            </a:r>
          </a:p>
        </p:txBody>
      </p:sp>
      <p:cxnSp>
        <p:nvCxnSpPr>
          <p:cNvPr id="6" name="Rechte verbindingslijn met pijl 5">
            <a:extLst>
              <a:ext uri="{FF2B5EF4-FFF2-40B4-BE49-F238E27FC236}">
                <a16:creationId xmlns:a16="http://schemas.microsoft.com/office/drawing/2014/main" id="{904AEAA7-BCAB-47AE-0D61-63A218A1DF1E}"/>
              </a:ext>
            </a:extLst>
          </p:cNvPr>
          <p:cNvCxnSpPr>
            <a:cxnSpLocks/>
          </p:cNvCxnSpPr>
          <p:nvPr/>
        </p:nvCxnSpPr>
        <p:spPr>
          <a:xfrm>
            <a:off x="3901640" y="2692624"/>
            <a:ext cx="0" cy="1226975"/>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7" name="Tekstvak 6">
            <a:extLst>
              <a:ext uri="{FF2B5EF4-FFF2-40B4-BE49-F238E27FC236}">
                <a16:creationId xmlns:a16="http://schemas.microsoft.com/office/drawing/2014/main" id="{CFC580AE-E399-D15D-3752-E8A0BE11AFC8}"/>
              </a:ext>
            </a:extLst>
          </p:cNvPr>
          <p:cNvSpPr txBox="1"/>
          <p:nvPr/>
        </p:nvSpPr>
        <p:spPr>
          <a:xfrm>
            <a:off x="5546112" y="2004019"/>
            <a:ext cx="503664" cy="830997"/>
          </a:xfrm>
          <a:prstGeom prst="rect">
            <a:avLst/>
          </a:prstGeom>
          <a:noFill/>
        </p:spPr>
        <p:txBody>
          <a:bodyPr wrap="none" rtlCol="0">
            <a:spAutoFit/>
          </a:bodyPr>
          <a:lstStyle/>
          <a:p>
            <a:r>
              <a:rPr lang="nl-BE" sz="4800" b="1" dirty="0">
                <a:solidFill>
                  <a:srgbClr val="FF0000"/>
                </a:solidFill>
              </a:rPr>
              <a:t>?</a:t>
            </a:r>
          </a:p>
        </p:txBody>
      </p:sp>
    </p:spTree>
    <p:extLst>
      <p:ext uri="{BB962C8B-B14F-4D97-AF65-F5344CB8AC3E}">
        <p14:creationId xmlns:p14="http://schemas.microsoft.com/office/powerpoint/2010/main" val="4178529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6056B-407E-3679-9B56-A7D5E54DF81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11D9309-A022-84FE-13BC-BBF456E094E1}"/>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Acquisition functions</a:t>
            </a:r>
          </a:p>
        </p:txBody>
      </p:sp>
      <p:sp>
        <p:nvSpPr>
          <p:cNvPr id="4" name="Tekstvak 3">
            <a:extLst>
              <a:ext uri="{FF2B5EF4-FFF2-40B4-BE49-F238E27FC236}">
                <a16:creationId xmlns:a16="http://schemas.microsoft.com/office/drawing/2014/main" id="{D295DB8F-5FBC-4F81-E533-62E77475525A}"/>
              </a:ext>
            </a:extLst>
          </p:cNvPr>
          <p:cNvSpPr txBox="1"/>
          <p:nvPr/>
        </p:nvSpPr>
        <p:spPr>
          <a:xfrm>
            <a:off x="971257" y="1223328"/>
            <a:ext cx="10425612" cy="461665"/>
          </a:xfrm>
          <a:prstGeom prst="rect">
            <a:avLst/>
          </a:prstGeom>
          <a:noFill/>
        </p:spPr>
        <p:txBody>
          <a:bodyPr wrap="square">
            <a:spAutoFit/>
          </a:bodyPr>
          <a:lstStyle/>
          <a:p>
            <a:r>
              <a:rPr lang="nl-BE" sz="2400" dirty="0"/>
              <a:t>Now, what policy do we use to decide which points to sample/acquire next?</a:t>
            </a:r>
          </a:p>
        </p:txBody>
      </p:sp>
      <p:pic>
        <p:nvPicPr>
          <p:cNvPr id="3" name="Afbeelding 2" descr="Afbeelding met lijn, diagram, Perceel, kaart&#10;&#10;Door AI gegenereerde inhoud is mogelijk onjuist.">
            <a:extLst>
              <a:ext uri="{FF2B5EF4-FFF2-40B4-BE49-F238E27FC236}">
                <a16:creationId xmlns:a16="http://schemas.microsoft.com/office/drawing/2014/main" id="{23DB2E15-25B3-6ECF-0C39-B20756BE6634}"/>
              </a:ext>
            </a:extLst>
          </p:cNvPr>
          <p:cNvPicPr>
            <a:picLocks noChangeAspect="1"/>
          </p:cNvPicPr>
          <p:nvPr/>
        </p:nvPicPr>
        <p:blipFill>
          <a:blip r:embed="rId3"/>
          <a:stretch>
            <a:fillRect/>
          </a:stretch>
        </p:blipFill>
        <p:spPr>
          <a:xfrm>
            <a:off x="2174972" y="1885304"/>
            <a:ext cx="8018183" cy="4788637"/>
          </a:xfrm>
          <a:prstGeom prst="rect">
            <a:avLst/>
          </a:prstGeom>
        </p:spPr>
      </p:pic>
      <p:sp>
        <p:nvSpPr>
          <p:cNvPr id="5" name="Tijdelijke aanduiding voor dianummer 4">
            <a:extLst>
              <a:ext uri="{FF2B5EF4-FFF2-40B4-BE49-F238E27FC236}">
                <a16:creationId xmlns:a16="http://schemas.microsoft.com/office/drawing/2014/main" id="{03D2D175-C838-A099-62E5-9F3D070A0378}"/>
              </a:ext>
            </a:extLst>
          </p:cNvPr>
          <p:cNvSpPr>
            <a:spLocks noGrp="1"/>
          </p:cNvSpPr>
          <p:nvPr>
            <p:ph type="sldNum" sz="quarter" idx="12"/>
          </p:nvPr>
        </p:nvSpPr>
        <p:spPr/>
        <p:txBody>
          <a:bodyPr/>
          <a:lstStyle/>
          <a:p>
            <a:fld id="{45E6605D-1E32-D542-B458-1FC57A046453}" type="slidenum">
              <a:rPr lang="nl-BE" smtClean="0"/>
              <a:t>20</a:t>
            </a:fld>
            <a:endParaRPr lang="nl-BE"/>
          </a:p>
        </p:txBody>
      </p:sp>
    </p:spTree>
    <p:extLst>
      <p:ext uri="{BB962C8B-B14F-4D97-AF65-F5344CB8AC3E}">
        <p14:creationId xmlns:p14="http://schemas.microsoft.com/office/powerpoint/2010/main" val="1492068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B3FCC-AE1C-4BD1-157A-631E596184F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6AE7263-E64B-E6CF-ACBB-9205955BC042}"/>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Acquisition functions</a:t>
            </a:r>
          </a:p>
        </p:txBody>
      </p:sp>
      <mc:AlternateContent xmlns:mc="http://schemas.openxmlformats.org/markup-compatibility/2006" xmlns:a14="http://schemas.microsoft.com/office/drawing/2010/main">
        <mc:Choice Requires="a14">
          <p:sp>
            <p:nvSpPr>
              <p:cNvPr id="4" name="Tekstvak 3">
                <a:extLst>
                  <a:ext uri="{FF2B5EF4-FFF2-40B4-BE49-F238E27FC236}">
                    <a16:creationId xmlns:a16="http://schemas.microsoft.com/office/drawing/2014/main" id="{7234778E-64E0-8398-EA58-6362C3948F0C}"/>
                  </a:ext>
                </a:extLst>
              </p:cNvPr>
              <p:cNvSpPr txBox="1"/>
              <p:nvPr/>
            </p:nvSpPr>
            <p:spPr>
              <a:xfrm>
                <a:off x="720003" y="1209761"/>
                <a:ext cx="10425612" cy="1200329"/>
              </a:xfrm>
              <a:prstGeom prst="rect">
                <a:avLst/>
              </a:prstGeom>
              <a:noFill/>
            </p:spPr>
            <p:txBody>
              <a:bodyPr wrap="square">
                <a:spAutoFit/>
              </a:bodyPr>
              <a:lstStyle/>
              <a:p>
                <a:r>
                  <a:rPr lang="nl-BE" sz="2400" dirty="0"/>
                  <a:t>Typically, we will use the derived </a:t>
                </a:r>
                <a14:m>
                  <m:oMath xmlns:m="http://schemas.openxmlformats.org/officeDocument/2006/math">
                    <m:r>
                      <a:rPr lang="nl-BE" sz="2400" i="1">
                        <a:latin typeface="Cambria Math" panose="02040503050406030204" pitchFamily="18" charset="0"/>
                        <a:ea typeface="Cambria Math" panose="02040503050406030204" pitchFamily="18" charset="0"/>
                      </a:rPr>
                      <m:t>𝜇</m:t>
                    </m:r>
                    <m:d>
                      <m:dPr>
                        <m:ctrlPr>
                          <a:rPr lang="nl-BE" sz="2400" i="1">
                            <a:latin typeface="Cambria Math" panose="02040503050406030204" pitchFamily="18" charset="0"/>
                            <a:ea typeface="Cambria Math" panose="02040503050406030204" pitchFamily="18" charset="0"/>
                          </a:rPr>
                        </m:ctrlPr>
                      </m:dPr>
                      <m:e>
                        <m:r>
                          <a:rPr lang="nl-BE" sz="2400" b="1" i="1">
                            <a:latin typeface="Cambria Math" panose="02040503050406030204" pitchFamily="18" charset="0"/>
                            <a:ea typeface="Cambria Math" panose="02040503050406030204" pitchFamily="18" charset="0"/>
                          </a:rPr>
                          <m:t>𝒙</m:t>
                        </m:r>
                      </m:e>
                    </m:d>
                  </m:oMath>
                </a14:m>
                <a:r>
                  <a:rPr lang="nl-BE" sz="2400" dirty="0"/>
                  <a:t> and </a:t>
                </a:r>
                <a14:m>
                  <m:oMath xmlns:m="http://schemas.openxmlformats.org/officeDocument/2006/math">
                    <m:sSup>
                      <m:sSupPr>
                        <m:ctrlPr>
                          <a:rPr lang="nl-BE" sz="2400" i="1">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𝜎</m:t>
                        </m:r>
                      </m:e>
                      <m:sup>
                        <m:r>
                          <a:rPr lang="nl-BE" sz="2400" i="1">
                            <a:latin typeface="Cambria Math" panose="02040503050406030204" pitchFamily="18" charset="0"/>
                            <a:ea typeface="Cambria Math" panose="02040503050406030204" pitchFamily="18" charset="0"/>
                          </a:rPr>
                          <m:t>2</m:t>
                        </m:r>
                      </m:sup>
                    </m:sSup>
                    <m:d>
                      <m:dPr>
                        <m:ctrlPr>
                          <a:rPr lang="nl-BE" sz="2400" i="1">
                            <a:latin typeface="Cambria Math" panose="02040503050406030204" pitchFamily="18" charset="0"/>
                            <a:ea typeface="Cambria Math" panose="02040503050406030204" pitchFamily="18" charset="0"/>
                          </a:rPr>
                        </m:ctrlPr>
                      </m:dPr>
                      <m:e>
                        <m:r>
                          <a:rPr lang="nl-BE" sz="2400" b="1" i="1">
                            <a:latin typeface="Cambria Math" panose="02040503050406030204" pitchFamily="18" charset="0"/>
                            <a:ea typeface="Cambria Math" panose="02040503050406030204" pitchFamily="18" charset="0"/>
                          </a:rPr>
                          <m:t>𝒙</m:t>
                        </m:r>
                      </m:e>
                    </m:d>
                  </m:oMath>
                </a14:m>
                <a:r>
                  <a:rPr lang="nl-BE" sz="2400" dirty="0"/>
                  <a:t> to define an acquisition function; the (local) maxima/minima of this acquisition function are then sampled </a:t>
                </a:r>
              </a:p>
            </p:txBody>
          </p:sp>
        </mc:Choice>
        <mc:Fallback xmlns="">
          <p:sp>
            <p:nvSpPr>
              <p:cNvPr id="4" name="Tekstvak 3">
                <a:extLst>
                  <a:ext uri="{FF2B5EF4-FFF2-40B4-BE49-F238E27FC236}">
                    <a16:creationId xmlns:a16="http://schemas.microsoft.com/office/drawing/2014/main" id="{7234778E-64E0-8398-EA58-6362C3948F0C}"/>
                  </a:ext>
                </a:extLst>
              </p:cNvPr>
              <p:cNvSpPr txBox="1">
                <a:spLocks noRot="1" noChangeAspect="1" noMove="1" noResize="1" noEditPoints="1" noAdjustHandles="1" noChangeArrowheads="1" noChangeShapeType="1" noTextEdit="1"/>
              </p:cNvSpPr>
              <p:nvPr/>
            </p:nvSpPr>
            <p:spPr>
              <a:xfrm>
                <a:off x="720003" y="1209761"/>
                <a:ext cx="10425612" cy="1200329"/>
              </a:xfrm>
              <a:prstGeom prst="rect">
                <a:avLst/>
              </a:prstGeom>
              <a:blipFill>
                <a:blip r:embed="rId3"/>
                <a:stretch>
                  <a:fillRect l="-973" t="-4211" b="-11579"/>
                </a:stretch>
              </a:blipFill>
            </p:spPr>
            <p:txBody>
              <a:bodyPr/>
              <a:lstStyle/>
              <a:p>
                <a:r>
                  <a:rPr lang="nl-BE">
                    <a:noFill/>
                  </a:rPr>
                  <a:t> </a:t>
                </a:r>
              </a:p>
            </p:txBody>
          </p:sp>
        </mc:Fallback>
      </mc:AlternateContent>
      <p:sp>
        <p:nvSpPr>
          <p:cNvPr id="5" name="Tekstvak 4">
            <a:extLst>
              <a:ext uri="{FF2B5EF4-FFF2-40B4-BE49-F238E27FC236}">
                <a16:creationId xmlns:a16="http://schemas.microsoft.com/office/drawing/2014/main" id="{B245A666-8EC8-4606-741F-D84616B81409}"/>
              </a:ext>
            </a:extLst>
          </p:cNvPr>
          <p:cNvSpPr txBox="1"/>
          <p:nvPr/>
        </p:nvSpPr>
        <p:spPr>
          <a:xfrm>
            <a:off x="591414" y="3692173"/>
            <a:ext cx="10425612" cy="830997"/>
          </a:xfrm>
          <a:prstGeom prst="rect">
            <a:avLst/>
          </a:prstGeom>
          <a:noFill/>
        </p:spPr>
        <p:txBody>
          <a:bodyPr wrap="square">
            <a:spAutoFit/>
          </a:bodyPr>
          <a:lstStyle/>
          <a:p>
            <a:r>
              <a:rPr lang="nl-BE" sz="2400" dirty="0"/>
              <a:t>Other types of acquisition functions have been </a:t>
            </a:r>
          </a:p>
          <a:p>
            <a:r>
              <a:rPr lang="nl-BE" sz="2400" dirty="0"/>
              <a:t>proposed over the years:</a:t>
            </a:r>
          </a:p>
        </p:txBody>
      </p:sp>
      <p:sp>
        <p:nvSpPr>
          <p:cNvPr id="6" name="Tekstvak 5">
            <a:extLst>
              <a:ext uri="{FF2B5EF4-FFF2-40B4-BE49-F238E27FC236}">
                <a16:creationId xmlns:a16="http://schemas.microsoft.com/office/drawing/2014/main" id="{2D5766AF-FE69-B9AA-2FA9-2540958203F1}"/>
              </a:ext>
            </a:extLst>
          </p:cNvPr>
          <p:cNvSpPr txBox="1"/>
          <p:nvPr/>
        </p:nvSpPr>
        <p:spPr>
          <a:xfrm>
            <a:off x="720003" y="4723027"/>
            <a:ext cx="10425612" cy="461665"/>
          </a:xfrm>
          <a:prstGeom prst="rect">
            <a:avLst/>
          </a:prstGeom>
          <a:noFill/>
        </p:spPr>
        <p:txBody>
          <a:bodyPr wrap="square">
            <a:spAutoFit/>
          </a:bodyPr>
          <a:lstStyle/>
          <a:p>
            <a:pPr marL="342900" indent="-342900">
              <a:buFont typeface="Arial" panose="020B0604020202020204" pitchFamily="34" charset="0"/>
              <a:buChar char="•"/>
            </a:pPr>
            <a:r>
              <a:rPr lang="nl-BE" sz="2400" b="1" dirty="0"/>
              <a:t>Expected Improvement </a:t>
            </a:r>
            <a:r>
              <a:rPr lang="nl-BE" sz="2400" dirty="0"/>
              <a:t>(EI):  </a:t>
            </a:r>
          </a:p>
        </p:txBody>
      </p:sp>
      <mc:AlternateContent xmlns:mc="http://schemas.openxmlformats.org/markup-compatibility/2006" xmlns:a14="http://schemas.microsoft.com/office/drawing/2010/main">
        <mc:Choice Requires="a14">
          <p:sp>
            <p:nvSpPr>
              <p:cNvPr id="7" name="Tekstvak 6">
                <a:extLst>
                  <a:ext uri="{FF2B5EF4-FFF2-40B4-BE49-F238E27FC236}">
                    <a16:creationId xmlns:a16="http://schemas.microsoft.com/office/drawing/2014/main" id="{52B44E2B-7ADC-2F15-D9FC-4DCB2A7A9E63}"/>
                  </a:ext>
                </a:extLst>
              </p:cNvPr>
              <p:cNvSpPr txBox="1"/>
              <p:nvPr/>
            </p:nvSpPr>
            <p:spPr>
              <a:xfrm>
                <a:off x="591414" y="5384549"/>
                <a:ext cx="5895106" cy="128939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nl-BE" sz="2400" b="0" i="1" smtClean="0">
                          <a:latin typeface="Cambria Math" panose="02040503050406030204" pitchFamily="18" charset="0"/>
                        </a:rPr>
                        <m:t>𝐸𝐼</m:t>
                      </m:r>
                      <m:d>
                        <m:dPr>
                          <m:ctrlPr>
                            <a:rPr lang="nl-BE" sz="2400" b="0" i="1" smtClean="0">
                              <a:latin typeface="Cambria Math" panose="02040503050406030204" pitchFamily="18" charset="0"/>
                            </a:rPr>
                          </m:ctrlPr>
                        </m:dPr>
                        <m:e>
                          <m:r>
                            <a:rPr lang="nl-BE" sz="2400" b="1" i="1" smtClean="0">
                              <a:latin typeface="Cambria Math" panose="02040503050406030204" pitchFamily="18" charset="0"/>
                            </a:rPr>
                            <m:t>𝒙</m:t>
                          </m:r>
                        </m:e>
                      </m:d>
                      <m:r>
                        <a:rPr lang="nl-BE" sz="2400" b="1" i="1" smtClean="0">
                          <a:latin typeface="Cambria Math" panose="02040503050406030204" pitchFamily="18" charset="0"/>
                        </a:rPr>
                        <m:t>≔</m:t>
                      </m:r>
                      <m:sSub>
                        <m:sSubPr>
                          <m:ctrlPr>
                            <a:rPr lang="nl-BE" sz="2400" b="1" i="1" smtClean="0">
                              <a:latin typeface="Cambria Math" panose="02040503050406030204" pitchFamily="18" charset="0"/>
                            </a:rPr>
                          </m:ctrlPr>
                        </m:sSubPr>
                        <m:e>
                          <m:r>
                            <a:rPr lang="nl-BE" sz="2400" b="1" i="1" smtClean="0">
                              <a:latin typeface="Cambria Math" panose="02040503050406030204" pitchFamily="18" charset="0"/>
                              <a:ea typeface="Cambria Math" panose="02040503050406030204" pitchFamily="18" charset="0"/>
                            </a:rPr>
                            <m:t>𝔼</m:t>
                          </m:r>
                        </m:e>
                        <m:sub>
                          <m:acc>
                            <m:accPr>
                              <m:chr m:val="̃"/>
                              <m:ctrlPr>
                                <a:rPr lang="nl-BE" sz="2400" b="1" i="1" smtClean="0">
                                  <a:latin typeface="Cambria Math" panose="02040503050406030204" pitchFamily="18" charset="0"/>
                                </a:rPr>
                              </m:ctrlPr>
                            </m:accPr>
                            <m:e>
                              <m:r>
                                <a:rPr lang="nl-BE" sz="2400" b="0" i="1" smtClean="0">
                                  <a:latin typeface="Cambria Math" panose="02040503050406030204" pitchFamily="18" charset="0"/>
                                </a:rPr>
                                <m:t>𝑓</m:t>
                              </m:r>
                            </m:e>
                          </m:acc>
                        </m:sub>
                      </m:sSub>
                      <m:d>
                        <m:dPr>
                          <m:begChr m:val="["/>
                          <m:endChr m:val="]"/>
                          <m:ctrlPr>
                            <a:rPr lang="nl-BE" sz="2400" i="1" smtClean="0">
                              <a:latin typeface="Cambria Math" panose="02040503050406030204" pitchFamily="18" charset="0"/>
                            </a:rPr>
                          </m:ctrlPr>
                        </m:dPr>
                        <m:e>
                          <m:func>
                            <m:funcPr>
                              <m:ctrlPr>
                                <a:rPr lang="nl-BE" sz="2400" b="0" i="1" smtClean="0">
                                  <a:latin typeface="Cambria Math" panose="02040503050406030204" pitchFamily="18" charset="0"/>
                                </a:rPr>
                              </m:ctrlPr>
                            </m:funcPr>
                            <m:fName>
                              <m:r>
                                <m:rPr>
                                  <m:sty m:val="p"/>
                                </m:rPr>
                                <a:rPr lang="nl-BE" sz="2400" b="0" i="0" smtClean="0">
                                  <a:latin typeface="Cambria Math" panose="02040503050406030204" pitchFamily="18" charset="0"/>
                                </a:rPr>
                                <m:t>max</m:t>
                              </m:r>
                            </m:fName>
                            <m:e>
                              <m:d>
                                <m:dPr>
                                  <m:begChr m:val="{"/>
                                  <m:endChr m:val="}"/>
                                  <m:ctrlPr>
                                    <a:rPr lang="nl-BE" sz="2400" b="0" i="1" smtClean="0">
                                      <a:latin typeface="Cambria Math" panose="02040503050406030204" pitchFamily="18" charset="0"/>
                                    </a:rPr>
                                  </m:ctrlPr>
                                </m:dPr>
                                <m:e>
                                  <m:r>
                                    <a:rPr lang="nl-BE" sz="2400" b="0" i="1" smtClean="0">
                                      <a:latin typeface="Cambria Math" panose="02040503050406030204" pitchFamily="18" charset="0"/>
                                    </a:rPr>
                                    <m:t>0, </m:t>
                                  </m:r>
                                  <m:acc>
                                    <m:accPr>
                                      <m:chr m:val="̃"/>
                                      <m:ctrlPr>
                                        <a:rPr lang="nl-BE" sz="2400" b="0" i="1" smtClean="0">
                                          <a:latin typeface="Cambria Math" panose="02040503050406030204" pitchFamily="18" charset="0"/>
                                        </a:rPr>
                                      </m:ctrlPr>
                                    </m:accPr>
                                    <m:e>
                                      <m:r>
                                        <a:rPr lang="nl-BE" sz="2400" b="0" i="1" smtClean="0">
                                          <a:latin typeface="Cambria Math" panose="02040503050406030204" pitchFamily="18" charset="0"/>
                                        </a:rPr>
                                        <m:t>𝑓</m:t>
                                      </m:r>
                                    </m:e>
                                  </m:acc>
                                  <m:d>
                                    <m:dPr>
                                      <m:ctrlPr>
                                        <a:rPr lang="nl-BE" sz="2400" b="0" i="1" smtClean="0">
                                          <a:latin typeface="Cambria Math" panose="02040503050406030204" pitchFamily="18" charset="0"/>
                                        </a:rPr>
                                      </m:ctrlPr>
                                    </m:dPr>
                                    <m:e>
                                      <m:r>
                                        <a:rPr lang="nl-BE" sz="2400" b="0" i="1" smtClean="0">
                                          <a:latin typeface="Cambria Math" panose="02040503050406030204" pitchFamily="18" charset="0"/>
                                        </a:rPr>
                                        <m:t>𝑥</m:t>
                                      </m:r>
                                    </m:e>
                                  </m:d>
                                  <m:r>
                                    <a:rPr lang="nl-BE" sz="2400" b="0" i="1" smtClean="0">
                                      <a:latin typeface="Cambria Math" panose="02040503050406030204" pitchFamily="18" charset="0"/>
                                    </a:rPr>
                                    <m:t>−</m:t>
                                  </m:r>
                                  <m:sSub>
                                    <m:sSubPr>
                                      <m:ctrlPr>
                                        <a:rPr lang="nl-BE" sz="2400" i="1" smtClean="0">
                                          <a:latin typeface="Cambria Math" panose="02040503050406030204" pitchFamily="18" charset="0"/>
                                        </a:rPr>
                                      </m:ctrlPr>
                                    </m:sSubPr>
                                    <m:e>
                                      <m:r>
                                        <a:rPr lang="nl-BE" sz="2400" b="0" i="1" smtClean="0">
                                          <a:latin typeface="Cambria Math" panose="02040503050406030204" pitchFamily="18" charset="0"/>
                                        </a:rPr>
                                        <m:t>𝑓</m:t>
                                      </m:r>
                                    </m:e>
                                    <m:sub>
                                      <m:r>
                                        <a:rPr lang="nl-BE" sz="2400" b="0" i="1" smtClean="0">
                                          <a:latin typeface="Cambria Math" panose="02040503050406030204" pitchFamily="18" charset="0"/>
                                        </a:rPr>
                                        <m:t>∗</m:t>
                                      </m:r>
                                    </m:sub>
                                  </m:sSub>
                                </m:e>
                              </m:d>
                            </m:e>
                          </m:func>
                        </m:e>
                      </m:d>
                      <m:r>
                        <a:rPr lang="nl-BE" sz="2400" b="0" i="0" smtClean="0">
                          <a:latin typeface="Cambria Math" panose="02040503050406030204" pitchFamily="18" charset="0"/>
                        </a:rPr>
                        <m:t> </m:t>
                      </m:r>
                    </m:oMath>
                  </m:oMathPara>
                </a14:m>
                <a:endParaRPr lang="nl-BE" sz="2400" b="0" i="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m:rPr>
                          <m:sty m:val="p"/>
                        </m:rPr>
                        <a:rPr lang="nl-BE" sz="2400">
                          <a:latin typeface="Cambria Math" panose="02040503050406030204" pitchFamily="18" charset="0"/>
                        </a:rPr>
                        <m:t>where</m:t>
                      </m:r>
                      <m:sSub>
                        <m:sSubPr>
                          <m:ctrlPr>
                            <a:rPr lang="nl-BE" sz="2400" i="1">
                              <a:latin typeface="Cambria Math" panose="02040503050406030204" pitchFamily="18" charset="0"/>
                            </a:rPr>
                          </m:ctrlPr>
                        </m:sSubPr>
                        <m:e>
                          <m:r>
                            <a:rPr lang="nl-BE" sz="2400" i="1">
                              <a:latin typeface="Cambria Math" panose="02040503050406030204" pitchFamily="18" charset="0"/>
                            </a:rPr>
                            <m:t> </m:t>
                          </m:r>
                          <m:r>
                            <a:rPr lang="nl-BE" sz="2400" i="1">
                              <a:latin typeface="Cambria Math" panose="02040503050406030204" pitchFamily="18" charset="0"/>
                            </a:rPr>
                            <m:t>𝑓</m:t>
                          </m:r>
                        </m:e>
                        <m:sub>
                          <m:r>
                            <a:rPr lang="nl-BE" sz="2400" i="1">
                              <a:latin typeface="Cambria Math" panose="02040503050406030204" pitchFamily="18" charset="0"/>
                            </a:rPr>
                            <m:t>∗</m:t>
                          </m:r>
                        </m:sub>
                      </m:sSub>
                      <m:r>
                        <a:rPr lang="nl-BE" sz="2400" i="1">
                          <a:latin typeface="Cambria Math" panose="02040503050406030204" pitchFamily="18" charset="0"/>
                        </a:rPr>
                        <m:t>=</m:t>
                      </m:r>
                      <m:func>
                        <m:funcPr>
                          <m:ctrlPr>
                            <a:rPr lang="nl-BE" sz="2400" i="1">
                              <a:latin typeface="Cambria Math" panose="02040503050406030204" pitchFamily="18" charset="0"/>
                            </a:rPr>
                          </m:ctrlPr>
                        </m:funcPr>
                        <m:fName>
                          <m:r>
                            <m:rPr>
                              <m:sty m:val="p"/>
                            </m:rPr>
                            <a:rPr lang="nl-BE" sz="2400">
                              <a:latin typeface="Cambria Math" panose="02040503050406030204" pitchFamily="18" charset="0"/>
                            </a:rPr>
                            <m:t>max</m:t>
                          </m:r>
                        </m:fName>
                        <m:e>
                          <m:d>
                            <m:dPr>
                              <m:ctrlPr>
                                <a:rPr lang="nl-BE" sz="2400" i="1">
                                  <a:latin typeface="Cambria Math" panose="02040503050406030204" pitchFamily="18" charset="0"/>
                                </a:rPr>
                              </m:ctrlPr>
                            </m:dPr>
                            <m:e>
                              <m:r>
                                <a:rPr lang="nl-BE" sz="2400" i="1">
                                  <a:latin typeface="Cambria Math" panose="02040503050406030204" pitchFamily="18" charset="0"/>
                                </a:rPr>
                                <m:t>𝑓</m:t>
                              </m:r>
                            </m:e>
                          </m:d>
                        </m:e>
                      </m:func>
                      <m:r>
                        <a:rPr lang="nl-BE" sz="2400" i="1">
                          <a:latin typeface="Cambria Math" panose="02040503050406030204" pitchFamily="18" charset="0"/>
                        </a:rPr>
                        <m:t>;</m:t>
                      </m:r>
                      <m:acc>
                        <m:accPr>
                          <m:chr m:val="̃"/>
                          <m:ctrlPr>
                            <a:rPr lang="nl-BE" sz="2400" i="1">
                              <a:latin typeface="Cambria Math" panose="02040503050406030204" pitchFamily="18" charset="0"/>
                            </a:rPr>
                          </m:ctrlPr>
                        </m:accPr>
                        <m:e>
                          <m:r>
                            <a:rPr lang="nl-BE" sz="2400" i="1">
                              <a:latin typeface="Cambria Math" panose="02040503050406030204" pitchFamily="18" charset="0"/>
                            </a:rPr>
                            <m:t>𝑓</m:t>
                          </m:r>
                        </m:e>
                      </m:acc>
                      <m:d>
                        <m:dPr>
                          <m:ctrlPr>
                            <a:rPr lang="nl-BE" sz="2400" i="1">
                              <a:latin typeface="Cambria Math" panose="02040503050406030204" pitchFamily="18" charset="0"/>
                            </a:rPr>
                          </m:ctrlPr>
                        </m:dPr>
                        <m:e>
                          <m:r>
                            <a:rPr lang="nl-BE" sz="2400" i="1">
                              <a:latin typeface="Cambria Math" panose="02040503050406030204" pitchFamily="18" charset="0"/>
                            </a:rPr>
                            <m:t>𝑥</m:t>
                          </m:r>
                        </m:e>
                      </m:d>
                      <m:r>
                        <a:rPr lang="nl-BE" sz="2400" i="1">
                          <a:latin typeface="Cambria Math" panose="02040503050406030204" pitchFamily="18" charset="0"/>
                        </a:rPr>
                        <m:t>∼</m:t>
                      </m:r>
                      <m:r>
                        <a:rPr lang="nl-BE" sz="2400" i="1">
                          <a:latin typeface="Cambria Math" panose="02040503050406030204" pitchFamily="18" charset="0"/>
                        </a:rPr>
                        <m:t>𝑁</m:t>
                      </m:r>
                      <m:r>
                        <a:rPr lang="nl-BE" sz="2400" i="1">
                          <a:latin typeface="Cambria Math" panose="02040503050406030204" pitchFamily="18" charset="0"/>
                        </a:rPr>
                        <m:t>(</m:t>
                      </m:r>
                      <m:r>
                        <a:rPr lang="el-GR" sz="2400" i="1">
                          <a:latin typeface="Cambria Math" panose="02040503050406030204" pitchFamily="18" charset="0"/>
                        </a:rPr>
                        <m:t>𝜇</m:t>
                      </m:r>
                      <m:r>
                        <a:rPr lang="el-GR" sz="2400" i="1">
                          <a:latin typeface="Cambria Math" panose="02040503050406030204" pitchFamily="18" charset="0"/>
                        </a:rPr>
                        <m:t>(</m:t>
                      </m:r>
                      <m:r>
                        <a:rPr lang="nl-BE" sz="2400" i="1">
                          <a:latin typeface="Cambria Math" panose="02040503050406030204" pitchFamily="18" charset="0"/>
                        </a:rPr>
                        <m:t>𝑥</m:t>
                      </m:r>
                      <m:r>
                        <a:rPr lang="nl-BE" sz="2400" i="1">
                          <a:latin typeface="Cambria Math" panose="02040503050406030204" pitchFamily="18" charset="0"/>
                        </a:rPr>
                        <m:t>),</m:t>
                      </m:r>
                      <m:r>
                        <a:rPr lang="el-GR" sz="2400" i="1">
                          <a:latin typeface="Cambria Math" panose="02040503050406030204" pitchFamily="18" charset="0"/>
                        </a:rPr>
                        <m:t>𝜎</m:t>
                      </m:r>
                      <m:r>
                        <a:rPr lang="el-GR" sz="2400" i="1" baseline="30000">
                          <a:latin typeface="Cambria Math" panose="02040503050406030204" pitchFamily="18" charset="0"/>
                        </a:rPr>
                        <m:t>2</m:t>
                      </m:r>
                      <m:r>
                        <a:rPr lang="el-GR" sz="2400" i="1">
                          <a:latin typeface="Cambria Math" panose="02040503050406030204" pitchFamily="18" charset="0"/>
                        </a:rPr>
                        <m:t>(</m:t>
                      </m:r>
                      <m:r>
                        <a:rPr lang="nl-BE" sz="2400" i="1">
                          <a:latin typeface="Cambria Math" panose="02040503050406030204" pitchFamily="18" charset="0"/>
                        </a:rPr>
                        <m:t>𝑥</m:t>
                      </m:r>
                      <m:r>
                        <a:rPr lang="nl-BE" sz="2400" i="1">
                          <a:latin typeface="Cambria Math" panose="02040503050406030204" pitchFamily="18" charset="0"/>
                        </a:rPr>
                        <m:t>))</m:t>
                      </m:r>
                    </m:oMath>
                  </m:oMathPara>
                </a14:m>
                <a:endParaRPr lang="nl-BE" sz="2400" dirty="0"/>
              </a:p>
              <a:p>
                <a:endParaRPr lang="nl-BE" sz="2400" b="0" i="0" dirty="0">
                  <a:latin typeface="Cambria Math" panose="02040503050406030204" pitchFamily="18" charset="0"/>
                </a:endParaRPr>
              </a:p>
            </p:txBody>
          </p:sp>
        </mc:Choice>
        <mc:Fallback xmlns="">
          <p:sp>
            <p:nvSpPr>
              <p:cNvPr id="7" name="Tekstvak 6">
                <a:extLst>
                  <a:ext uri="{FF2B5EF4-FFF2-40B4-BE49-F238E27FC236}">
                    <a16:creationId xmlns:a16="http://schemas.microsoft.com/office/drawing/2014/main" id="{52B44E2B-7ADC-2F15-D9FC-4DCB2A7A9E63}"/>
                  </a:ext>
                </a:extLst>
              </p:cNvPr>
              <p:cNvSpPr txBox="1">
                <a:spLocks noRot="1" noChangeAspect="1" noMove="1" noResize="1" noEditPoints="1" noAdjustHandles="1" noChangeArrowheads="1" noChangeShapeType="1" noTextEdit="1"/>
              </p:cNvSpPr>
              <p:nvPr/>
            </p:nvSpPr>
            <p:spPr>
              <a:xfrm>
                <a:off x="591414" y="5384549"/>
                <a:ext cx="5895106" cy="1289392"/>
              </a:xfrm>
              <a:prstGeom prst="rect">
                <a:avLst/>
              </a:prstGeom>
              <a:blipFill>
                <a:blip r:embed="rId4"/>
                <a:stretch>
                  <a:fillRect l="-215"/>
                </a:stretch>
              </a:blipFill>
            </p:spPr>
            <p:txBody>
              <a:bodyPr/>
              <a:lstStyle/>
              <a:p>
                <a:r>
                  <a:rPr lang="nl-BE">
                    <a:noFill/>
                  </a:rPr>
                  <a:t> </a:t>
                </a:r>
              </a:p>
            </p:txBody>
          </p:sp>
        </mc:Fallback>
      </mc:AlternateContent>
      <p:sp>
        <p:nvSpPr>
          <p:cNvPr id="8" name="Tekstvak 7">
            <a:extLst>
              <a:ext uri="{FF2B5EF4-FFF2-40B4-BE49-F238E27FC236}">
                <a16:creationId xmlns:a16="http://schemas.microsoft.com/office/drawing/2014/main" id="{7AD693C9-5836-4D5F-C8F6-BFD443933145}"/>
              </a:ext>
            </a:extLst>
          </p:cNvPr>
          <p:cNvSpPr txBox="1"/>
          <p:nvPr/>
        </p:nvSpPr>
        <p:spPr>
          <a:xfrm>
            <a:off x="720003" y="2564433"/>
            <a:ext cx="10425612" cy="461665"/>
          </a:xfrm>
          <a:prstGeom prst="rect">
            <a:avLst/>
          </a:prstGeom>
          <a:noFill/>
        </p:spPr>
        <p:txBody>
          <a:bodyPr wrap="square">
            <a:spAutoFit/>
          </a:bodyPr>
          <a:lstStyle/>
          <a:p>
            <a:pPr marL="342900" indent="-342900">
              <a:buFont typeface="Arial" panose="020B0604020202020204" pitchFamily="34" charset="0"/>
              <a:buChar char="•"/>
            </a:pPr>
            <a:r>
              <a:rPr lang="nl-BE" sz="2400" b="1" dirty="0"/>
              <a:t>Lower/Upper Confidence Bound </a:t>
            </a:r>
            <a:r>
              <a:rPr lang="nl-BE" sz="2400" dirty="0"/>
              <a:t>(LCB/UCB):  </a:t>
            </a:r>
          </a:p>
        </p:txBody>
      </p:sp>
      <mc:AlternateContent xmlns:mc="http://schemas.openxmlformats.org/markup-compatibility/2006" xmlns:a14="http://schemas.microsoft.com/office/drawing/2010/main">
        <mc:Choice Requires="a14">
          <p:sp>
            <p:nvSpPr>
              <p:cNvPr id="10" name="Tekstvak 9">
                <a:extLst>
                  <a:ext uri="{FF2B5EF4-FFF2-40B4-BE49-F238E27FC236}">
                    <a16:creationId xmlns:a16="http://schemas.microsoft.com/office/drawing/2014/main" id="{311A7F67-6901-CEC9-C901-E42F117D740D}"/>
                  </a:ext>
                </a:extLst>
              </p:cNvPr>
              <p:cNvSpPr txBox="1"/>
              <p:nvPr/>
            </p:nvSpPr>
            <p:spPr>
              <a:xfrm>
                <a:off x="0" y="3193714"/>
                <a:ext cx="736672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nl-BE" sz="2400" b="0" i="1" smtClean="0">
                          <a:latin typeface="Cambria Math" panose="02040503050406030204" pitchFamily="18" charset="0"/>
                        </a:rPr>
                        <m:t>𝑈𝐶𝐵</m:t>
                      </m:r>
                      <m:d>
                        <m:dPr>
                          <m:ctrlPr>
                            <a:rPr lang="nl-BE" sz="2400" b="0" i="1" smtClean="0">
                              <a:latin typeface="Cambria Math" panose="02040503050406030204" pitchFamily="18" charset="0"/>
                            </a:rPr>
                          </m:ctrlPr>
                        </m:dPr>
                        <m:e>
                          <m:r>
                            <a:rPr lang="nl-BE" sz="2400" b="1" i="1" smtClean="0">
                              <a:latin typeface="Cambria Math" panose="02040503050406030204" pitchFamily="18" charset="0"/>
                            </a:rPr>
                            <m:t>𝒙</m:t>
                          </m:r>
                        </m:e>
                      </m:d>
                      <m:r>
                        <a:rPr lang="nl-BE" sz="2400" b="1" i="1" smtClean="0">
                          <a:latin typeface="Cambria Math" panose="02040503050406030204" pitchFamily="18" charset="0"/>
                        </a:rPr>
                        <m:t>≔</m:t>
                      </m:r>
                      <m:r>
                        <a:rPr lang="nl-BE" sz="2400" i="1">
                          <a:latin typeface="Cambria Math" panose="02040503050406030204" pitchFamily="18" charset="0"/>
                          <a:ea typeface="Cambria Math" panose="02040503050406030204" pitchFamily="18" charset="0"/>
                        </a:rPr>
                        <m:t>𝜇</m:t>
                      </m:r>
                      <m:d>
                        <m:dPr>
                          <m:ctrlPr>
                            <a:rPr lang="nl-BE" sz="2400" i="1">
                              <a:latin typeface="Cambria Math" panose="02040503050406030204" pitchFamily="18" charset="0"/>
                              <a:ea typeface="Cambria Math" panose="02040503050406030204" pitchFamily="18" charset="0"/>
                            </a:rPr>
                          </m:ctrlPr>
                        </m:dPr>
                        <m:e>
                          <m:r>
                            <a:rPr lang="nl-BE" sz="2400" b="1" i="1">
                              <a:latin typeface="Cambria Math" panose="02040503050406030204" pitchFamily="18" charset="0"/>
                              <a:ea typeface="Cambria Math" panose="02040503050406030204" pitchFamily="18" charset="0"/>
                            </a:rPr>
                            <m:t>𝒙</m:t>
                          </m:r>
                        </m:e>
                      </m:d>
                      <m:r>
                        <a:rPr lang="nl-BE" sz="2400" b="0" i="0" smtClean="0">
                          <a:latin typeface="Cambria Math" panose="02040503050406030204" pitchFamily="18" charset="0"/>
                          <a:ea typeface="Cambria Math" panose="02040503050406030204" pitchFamily="18" charset="0"/>
                        </a:rPr>
                        <m:t>+</m:t>
                      </m:r>
                      <m:r>
                        <m:rPr>
                          <m:sty m:val="p"/>
                        </m:rPr>
                        <a:rPr lang="el-GR" sz="2400" b="0" i="1" smtClean="0">
                          <a:latin typeface="Cambria Math" panose="02040503050406030204" pitchFamily="18" charset="0"/>
                          <a:ea typeface="Cambria Math" panose="02040503050406030204" pitchFamily="18" charset="0"/>
                        </a:rPr>
                        <m:t>β</m:t>
                      </m:r>
                      <m:r>
                        <a:rPr lang="nl-BE" sz="2400" b="0" i="1" smtClean="0">
                          <a:latin typeface="Cambria Math" panose="02040503050406030204" pitchFamily="18" charset="0"/>
                          <a:ea typeface="Cambria Math" panose="02040503050406030204" pitchFamily="18" charset="0"/>
                        </a:rPr>
                        <m:t>∗</m:t>
                      </m:r>
                      <m:sSup>
                        <m:sSupPr>
                          <m:ctrlPr>
                            <a:rPr lang="nl-BE" sz="2400" i="1">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𝜎</m:t>
                          </m:r>
                        </m:e>
                        <m:sup>
                          <m:r>
                            <a:rPr lang="nl-BE" sz="2400" i="1">
                              <a:latin typeface="Cambria Math" panose="02040503050406030204" pitchFamily="18" charset="0"/>
                              <a:ea typeface="Cambria Math" panose="02040503050406030204" pitchFamily="18" charset="0"/>
                            </a:rPr>
                            <m:t>2</m:t>
                          </m:r>
                        </m:sup>
                      </m:sSup>
                      <m:d>
                        <m:dPr>
                          <m:ctrlPr>
                            <a:rPr lang="nl-BE" sz="2400" i="1">
                              <a:latin typeface="Cambria Math" panose="02040503050406030204" pitchFamily="18" charset="0"/>
                            </a:rPr>
                          </m:ctrlPr>
                        </m:dPr>
                        <m:e>
                          <m:r>
                            <a:rPr lang="nl-BE" sz="2400" b="1" i="1">
                              <a:latin typeface="Cambria Math" panose="02040503050406030204" pitchFamily="18" charset="0"/>
                            </a:rPr>
                            <m:t>𝒙</m:t>
                          </m:r>
                        </m:e>
                      </m:d>
                      <m:r>
                        <a:rPr lang="nl-BE" sz="2400" b="0" i="1" smtClean="0">
                          <a:latin typeface="Cambria Math" panose="02040503050406030204" pitchFamily="18" charset="0"/>
                        </a:rPr>
                        <m:t>          </m:t>
                      </m:r>
                      <m:r>
                        <a:rPr lang="nl-BE" sz="2400" b="0" i="1" smtClean="0">
                          <a:latin typeface="Cambria Math" panose="02040503050406030204" pitchFamily="18" charset="0"/>
                        </a:rPr>
                        <m:t>𝑤h𝑒𝑟𝑒</m:t>
                      </m:r>
                      <m:r>
                        <a:rPr lang="nl-BE" sz="2400" b="0" i="1" smtClean="0">
                          <a:latin typeface="Cambria Math" panose="02040503050406030204" pitchFamily="18" charset="0"/>
                        </a:rPr>
                        <m:t> </m:t>
                      </m:r>
                      <m:r>
                        <m:rPr>
                          <m:sty m:val="p"/>
                        </m:rPr>
                        <a:rPr lang="el-GR" sz="2400" i="1">
                          <a:latin typeface="Cambria Math" panose="02040503050406030204" pitchFamily="18" charset="0"/>
                          <a:ea typeface="Cambria Math" panose="02040503050406030204" pitchFamily="18" charset="0"/>
                        </a:rPr>
                        <m:t>β</m:t>
                      </m:r>
                      <m:r>
                        <a:rPr lang="el-GR" sz="240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0</m:t>
                      </m:r>
                    </m:oMath>
                  </m:oMathPara>
                </a14:m>
                <a:endParaRPr lang="nl-BE" sz="2400" dirty="0"/>
              </a:p>
            </p:txBody>
          </p:sp>
        </mc:Choice>
        <mc:Fallback xmlns="">
          <p:sp>
            <p:nvSpPr>
              <p:cNvPr id="10" name="Tekstvak 9">
                <a:extLst>
                  <a:ext uri="{FF2B5EF4-FFF2-40B4-BE49-F238E27FC236}">
                    <a16:creationId xmlns:a16="http://schemas.microsoft.com/office/drawing/2014/main" id="{311A7F67-6901-CEC9-C901-E42F117D740D}"/>
                  </a:ext>
                </a:extLst>
              </p:cNvPr>
              <p:cNvSpPr txBox="1">
                <a:spLocks noRot="1" noChangeAspect="1" noMove="1" noResize="1" noEditPoints="1" noAdjustHandles="1" noChangeArrowheads="1" noChangeShapeType="1" noTextEdit="1"/>
              </p:cNvSpPr>
              <p:nvPr/>
            </p:nvSpPr>
            <p:spPr>
              <a:xfrm>
                <a:off x="0" y="3193714"/>
                <a:ext cx="7366723" cy="461665"/>
              </a:xfrm>
              <a:prstGeom prst="rect">
                <a:avLst/>
              </a:prstGeom>
              <a:blipFill>
                <a:blip r:embed="rId5"/>
                <a:stretch>
                  <a:fillRect b="-18919"/>
                </a:stretch>
              </a:blipFill>
            </p:spPr>
            <p:txBody>
              <a:bodyPr/>
              <a:lstStyle/>
              <a:p>
                <a:r>
                  <a:rPr lang="nl-BE">
                    <a:noFill/>
                  </a:rPr>
                  <a:t> </a:t>
                </a:r>
              </a:p>
            </p:txBody>
          </p:sp>
        </mc:Fallback>
      </mc:AlternateContent>
      <p:sp>
        <p:nvSpPr>
          <p:cNvPr id="3" name="Tijdelijke aanduiding voor dianummer 2">
            <a:extLst>
              <a:ext uri="{FF2B5EF4-FFF2-40B4-BE49-F238E27FC236}">
                <a16:creationId xmlns:a16="http://schemas.microsoft.com/office/drawing/2014/main" id="{81A500FC-A6F6-F0C9-234D-0DF6D15EE2B7}"/>
              </a:ext>
            </a:extLst>
          </p:cNvPr>
          <p:cNvSpPr>
            <a:spLocks noGrp="1"/>
          </p:cNvSpPr>
          <p:nvPr>
            <p:ph type="sldNum" sz="quarter" idx="12"/>
          </p:nvPr>
        </p:nvSpPr>
        <p:spPr/>
        <p:txBody>
          <a:bodyPr/>
          <a:lstStyle/>
          <a:p>
            <a:fld id="{45E6605D-1E32-D542-B458-1FC57A046453}" type="slidenum">
              <a:rPr lang="nl-BE" smtClean="0"/>
              <a:t>21</a:t>
            </a:fld>
            <a:endParaRPr lang="nl-BE"/>
          </a:p>
        </p:txBody>
      </p:sp>
      <p:pic>
        <p:nvPicPr>
          <p:cNvPr id="1026" name="Picture 2" descr="Tutorial #8: Bayesian optimization - Research Blog | RBC Borealis">
            <a:extLst>
              <a:ext uri="{FF2B5EF4-FFF2-40B4-BE49-F238E27FC236}">
                <a16:creationId xmlns:a16="http://schemas.microsoft.com/office/drawing/2014/main" id="{A67EA71C-E457-50BA-E39E-8ECC4BAE9CC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53740" r="52417"/>
          <a:stretch>
            <a:fillRect/>
          </a:stretch>
        </p:blipFill>
        <p:spPr bwMode="auto">
          <a:xfrm>
            <a:off x="6803808" y="4308181"/>
            <a:ext cx="3739783" cy="254981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Tutorial #8: Bayesian optimization - Research Blog | RBC Borealis">
            <a:extLst>
              <a:ext uri="{FF2B5EF4-FFF2-40B4-BE49-F238E27FC236}">
                <a16:creationId xmlns:a16="http://schemas.microsoft.com/office/drawing/2014/main" id="{96BDD5DF-C7F9-17CC-7327-BB931FF9A7C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901" t="3142" r="53318" b="53711"/>
          <a:stretch>
            <a:fillRect/>
          </a:stretch>
        </p:blipFill>
        <p:spPr bwMode="auto">
          <a:xfrm>
            <a:off x="7214401" y="1950037"/>
            <a:ext cx="3739783" cy="23782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5456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27D5F-411D-78CD-14A7-C9DFCF4FB8B0}"/>
            </a:ext>
          </a:extLst>
        </p:cNvPr>
        <p:cNvGrpSpPr/>
        <p:nvPr/>
      </p:nvGrpSpPr>
      <p:grpSpPr>
        <a:xfrm>
          <a:off x="0" y="0"/>
          <a:ext cx="0" cy="0"/>
          <a:chOff x="0" y="0"/>
          <a:chExt cx="0" cy="0"/>
        </a:xfrm>
      </p:grpSpPr>
      <p:sp>
        <p:nvSpPr>
          <p:cNvPr id="32" name="Ring 31">
            <a:extLst>
              <a:ext uri="{FF2B5EF4-FFF2-40B4-BE49-F238E27FC236}">
                <a16:creationId xmlns:a16="http://schemas.microsoft.com/office/drawing/2014/main" id="{6F9EC1A3-B1B9-BBDD-C063-EDCDF42B9EB0}"/>
              </a:ext>
            </a:extLst>
          </p:cNvPr>
          <p:cNvSpPr/>
          <p:nvPr/>
        </p:nvSpPr>
        <p:spPr>
          <a:xfrm>
            <a:off x="5557687" y="3083713"/>
            <a:ext cx="3317372" cy="3132268"/>
          </a:xfrm>
          <a:prstGeom prst="donut">
            <a:avLst>
              <a:gd name="adj" fmla="val 57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 name="Titel 1">
            <a:extLst>
              <a:ext uri="{FF2B5EF4-FFF2-40B4-BE49-F238E27FC236}">
                <a16:creationId xmlns:a16="http://schemas.microsoft.com/office/drawing/2014/main" id="{AA4559EF-31A0-5E0D-68D8-E8C19E80C20C}"/>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Bayesian Optimization cycle</a:t>
            </a:r>
          </a:p>
        </p:txBody>
      </p:sp>
      <p:sp>
        <p:nvSpPr>
          <p:cNvPr id="8" name="Tekstvak 7">
            <a:extLst>
              <a:ext uri="{FF2B5EF4-FFF2-40B4-BE49-F238E27FC236}">
                <a16:creationId xmlns:a16="http://schemas.microsoft.com/office/drawing/2014/main" id="{F967827B-B0AE-4BE2-7CFE-C8E44C098583}"/>
              </a:ext>
            </a:extLst>
          </p:cNvPr>
          <p:cNvSpPr txBox="1"/>
          <p:nvPr/>
        </p:nvSpPr>
        <p:spPr>
          <a:xfrm>
            <a:off x="1165568" y="4433047"/>
            <a:ext cx="2915366" cy="1200329"/>
          </a:xfrm>
          <a:prstGeom prst="rect">
            <a:avLst/>
          </a:prstGeom>
          <a:noFill/>
        </p:spPr>
        <p:txBody>
          <a:bodyPr wrap="square">
            <a:spAutoFit/>
          </a:bodyPr>
          <a:lstStyle/>
          <a:p>
            <a:pPr algn="ctr"/>
            <a:r>
              <a:rPr lang="nl-BE" sz="2400" dirty="0"/>
              <a:t>previous measurements</a:t>
            </a:r>
          </a:p>
          <a:p>
            <a:pPr algn="ctr"/>
            <a:r>
              <a:rPr lang="nl-BE" sz="2400" dirty="0"/>
              <a:t>{</a:t>
            </a:r>
            <a:r>
              <a:rPr lang="nl-BE" sz="2400" b="1" dirty="0"/>
              <a:t>x</a:t>
            </a:r>
            <a:r>
              <a:rPr lang="nl-BE" sz="2400" baseline="-25000" dirty="0"/>
              <a:t>i</a:t>
            </a:r>
            <a:r>
              <a:rPr lang="nl-BE" sz="2400" dirty="0"/>
              <a:t>, f(</a:t>
            </a:r>
            <a:r>
              <a:rPr lang="nl-BE" sz="2400" b="1" dirty="0"/>
              <a:t>x</a:t>
            </a:r>
            <a:r>
              <a:rPr lang="nl-BE" sz="2400" baseline="-25000" dirty="0"/>
              <a:t>i</a:t>
            </a:r>
            <a:r>
              <a:rPr lang="nl-BE" sz="2400" dirty="0"/>
              <a:t>)}</a:t>
            </a:r>
          </a:p>
        </p:txBody>
      </p:sp>
      <p:sp>
        <p:nvSpPr>
          <p:cNvPr id="3" name="Tijdelijke aanduiding voor dianummer 2">
            <a:extLst>
              <a:ext uri="{FF2B5EF4-FFF2-40B4-BE49-F238E27FC236}">
                <a16:creationId xmlns:a16="http://schemas.microsoft.com/office/drawing/2014/main" id="{0D7EA1F1-5345-B9D6-74B1-3034A6EC4AC3}"/>
              </a:ext>
            </a:extLst>
          </p:cNvPr>
          <p:cNvSpPr>
            <a:spLocks noGrp="1"/>
          </p:cNvSpPr>
          <p:nvPr>
            <p:ph type="sldNum" sz="quarter" idx="12"/>
          </p:nvPr>
        </p:nvSpPr>
        <p:spPr>
          <a:xfrm>
            <a:off x="9201153" y="6308816"/>
            <a:ext cx="2743200" cy="365125"/>
          </a:xfrm>
        </p:spPr>
        <p:txBody>
          <a:bodyPr/>
          <a:lstStyle/>
          <a:p>
            <a:fld id="{45E6605D-1E32-D542-B458-1FC57A046453}" type="slidenum">
              <a:rPr lang="nl-BE" smtClean="0"/>
              <a:t>22</a:t>
            </a:fld>
            <a:endParaRPr lang="nl-BE" dirty="0"/>
          </a:p>
        </p:txBody>
      </p:sp>
      <p:sp>
        <p:nvSpPr>
          <p:cNvPr id="9" name="Tekstvak 8">
            <a:extLst>
              <a:ext uri="{FF2B5EF4-FFF2-40B4-BE49-F238E27FC236}">
                <a16:creationId xmlns:a16="http://schemas.microsoft.com/office/drawing/2014/main" id="{0B312801-12DC-3B6F-526B-8EDB107F954B}"/>
              </a:ext>
            </a:extLst>
          </p:cNvPr>
          <p:cNvSpPr txBox="1"/>
          <p:nvPr/>
        </p:nvSpPr>
        <p:spPr>
          <a:xfrm>
            <a:off x="4573185" y="4594413"/>
            <a:ext cx="2396862" cy="1200329"/>
          </a:xfrm>
          <a:prstGeom prst="rect">
            <a:avLst/>
          </a:prstGeom>
          <a:solidFill>
            <a:schemeClr val="bg1"/>
          </a:solidFill>
        </p:spPr>
        <p:txBody>
          <a:bodyPr wrap="square">
            <a:spAutoFit/>
          </a:bodyPr>
          <a:lstStyle/>
          <a:p>
            <a:pPr algn="ctr"/>
            <a:r>
              <a:rPr lang="nl-BE" sz="2400" dirty="0"/>
              <a:t>function distribution:</a:t>
            </a:r>
          </a:p>
          <a:p>
            <a:pPr algn="ctr"/>
            <a:r>
              <a:rPr lang="nl-BE" sz="2400" b="1" dirty="0"/>
              <a:t>prior</a:t>
            </a:r>
          </a:p>
        </p:txBody>
      </p:sp>
      <p:sp>
        <p:nvSpPr>
          <p:cNvPr id="13" name="Tekstvak 12">
            <a:extLst>
              <a:ext uri="{FF2B5EF4-FFF2-40B4-BE49-F238E27FC236}">
                <a16:creationId xmlns:a16="http://schemas.microsoft.com/office/drawing/2014/main" id="{15604781-B2A7-3733-DEAC-B598FAD38414}"/>
              </a:ext>
            </a:extLst>
          </p:cNvPr>
          <p:cNvSpPr txBox="1"/>
          <p:nvPr/>
        </p:nvSpPr>
        <p:spPr>
          <a:xfrm>
            <a:off x="6926196" y="2496342"/>
            <a:ext cx="2643188" cy="1200329"/>
          </a:xfrm>
          <a:prstGeom prst="rect">
            <a:avLst/>
          </a:prstGeom>
          <a:solidFill>
            <a:schemeClr val="bg1"/>
          </a:solidFill>
        </p:spPr>
        <p:txBody>
          <a:bodyPr wrap="square">
            <a:spAutoFit/>
          </a:bodyPr>
          <a:lstStyle/>
          <a:p>
            <a:pPr algn="ctr"/>
            <a:r>
              <a:rPr lang="nl-BE" sz="2400" dirty="0"/>
              <a:t>new measurements</a:t>
            </a:r>
          </a:p>
          <a:p>
            <a:pPr algn="ctr"/>
            <a:r>
              <a:rPr lang="nl-BE" sz="2400" dirty="0"/>
              <a:t>{</a:t>
            </a:r>
            <a:r>
              <a:rPr lang="nl-BE" sz="2400" b="1" dirty="0"/>
              <a:t>x</a:t>
            </a:r>
            <a:r>
              <a:rPr lang="nl-BE" sz="2400" b="1" baseline="-25000" dirty="0"/>
              <a:t>j</a:t>
            </a:r>
            <a:r>
              <a:rPr lang="nl-BE" sz="2400" dirty="0"/>
              <a:t>, f(</a:t>
            </a:r>
            <a:r>
              <a:rPr lang="nl-BE" sz="2400" b="1" dirty="0"/>
              <a:t>x</a:t>
            </a:r>
            <a:r>
              <a:rPr lang="nl-BE" sz="2400" b="1" baseline="-25000" dirty="0"/>
              <a:t>j</a:t>
            </a:r>
            <a:r>
              <a:rPr lang="nl-BE" sz="2400" dirty="0"/>
              <a:t>)}</a:t>
            </a:r>
          </a:p>
        </p:txBody>
      </p:sp>
      <p:sp>
        <p:nvSpPr>
          <p:cNvPr id="23" name="Tekstvak 22">
            <a:extLst>
              <a:ext uri="{FF2B5EF4-FFF2-40B4-BE49-F238E27FC236}">
                <a16:creationId xmlns:a16="http://schemas.microsoft.com/office/drawing/2014/main" id="{8FA1D2FC-9C42-431F-A949-E91CD7A2682B}"/>
              </a:ext>
            </a:extLst>
          </p:cNvPr>
          <p:cNvSpPr txBox="1"/>
          <p:nvPr/>
        </p:nvSpPr>
        <p:spPr>
          <a:xfrm>
            <a:off x="7216373" y="5169423"/>
            <a:ext cx="2643188" cy="1200329"/>
          </a:xfrm>
          <a:prstGeom prst="rect">
            <a:avLst/>
          </a:prstGeom>
          <a:solidFill>
            <a:schemeClr val="bg1"/>
          </a:solidFill>
        </p:spPr>
        <p:txBody>
          <a:bodyPr wrap="square">
            <a:spAutoFit/>
          </a:bodyPr>
          <a:lstStyle/>
          <a:p>
            <a:pPr algn="ctr"/>
            <a:r>
              <a:rPr lang="nl-BE" sz="2400" dirty="0"/>
              <a:t>Updated function distribution:</a:t>
            </a:r>
          </a:p>
          <a:p>
            <a:pPr algn="ctr"/>
            <a:r>
              <a:rPr lang="nl-BE" sz="2400" b="1" dirty="0"/>
              <a:t>posterior</a:t>
            </a:r>
          </a:p>
        </p:txBody>
      </p:sp>
      <p:cxnSp>
        <p:nvCxnSpPr>
          <p:cNvPr id="5" name="Rechte verbindingslijn met pijl 4">
            <a:extLst>
              <a:ext uri="{FF2B5EF4-FFF2-40B4-BE49-F238E27FC236}">
                <a16:creationId xmlns:a16="http://schemas.microsoft.com/office/drawing/2014/main" id="{9FE4BB1D-9C63-38AB-62A6-5D0F60C75392}"/>
              </a:ext>
            </a:extLst>
          </p:cNvPr>
          <p:cNvCxnSpPr>
            <a:cxnSpLocks/>
          </p:cNvCxnSpPr>
          <p:nvPr/>
        </p:nvCxnSpPr>
        <p:spPr>
          <a:xfrm>
            <a:off x="3765857" y="5033212"/>
            <a:ext cx="95726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5" name="Driehoek 34">
            <a:extLst>
              <a:ext uri="{FF2B5EF4-FFF2-40B4-BE49-F238E27FC236}">
                <a16:creationId xmlns:a16="http://schemas.microsoft.com/office/drawing/2014/main" id="{382ACD5C-DA90-9112-0C82-C52192E0CA5E}"/>
              </a:ext>
            </a:extLst>
          </p:cNvPr>
          <p:cNvSpPr/>
          <p:nvPr/>
        </p:nvSpPr>
        <p:spPr>
          <a:xfrm rot="4312836">
            <a:off x="6678934" y="3007555"/>
            <a:ext cx="394291" cy="219635"/>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BE"/>
          </a:p>
        </p:txBody>
      </p:sp>
      <p:sp>
        <p:nvSpPr>
          <p:cNvPr id="36" name="Driehoek 35">
            <a:extLst>
              <a:ext uri="{FF2B5EF4-FFF2-40B4-BE49-F238E27FC236}">
                <a16:creationId xmlns:a16="http://schemas.microsoft.com/office/drawing/2014/main" id="{51817D64-1275-1DA2-F19C-B6D04B7FF5AA}"/>
              </a:ext>
            </a:extLst>
          </p:cNvPr>
          <p:cNvSpPr/>
          <p:nvPr/>
        </p:nvSpPr>
        <p:spPr>
          <a:xfrm rot="11809894">
            <a:off x="8561320" y="4976027"/>
            <a:ext cx="394291" cy="219635"/>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BE"/>
          </a:p>
        </p:txBody>
      </p:sp>
      <p:sp>
        <p:nvSpPr>
          <p:cNvPr id="37" name="Driehoek 36">
            <a:extLst>
              <a:ext uri="{FF2B5EF4-FFF2-40B4-BE49-F238E27FC236}">
                <a16:creationId xmlns:a16="http://schemas.microsoft.com/office/drawing/2014/main" id="{DBC14A9F-79BE-2D8E-F986-F1FAE671230B}"/>
              </a:ext>
            </a:extLst>
          </p:cNvPr>
          <p:cNvSpPr/>
          <p:nvPr/>
        </p:nvSpPr>
        <p:spPr>
          <a:xfrm rot="18561669">
            <a:off x="5965332" y="5726282"/>
            <a:ext cx="394291" cy="219635"/>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BE"/>
          </a:p>
        </p:txBody>
      </p:sp>
      <p:sp>
        <p:nvSpPr>
          <p:cNvPr id="4" name="Tekstvak 3">
            <a:extLst>
              <a:ext uri="{FF2B5EF4-FFF2-40B4-BE49-F238E27FC236}">
                <a16:creationId xmlns:a16="http://schemas.microsoft.com/office/drawing/2014/main" id="{317689CF-9CEF-6D23-B5FB-112F5A0C304F}"/>
              </a:ext>
            </a:extLst>
          </p:cNvPr>
          <p:cNvSpPr txBox="1"/>
          <p:nvPr/>
        </p:nvSpPr>
        <p:spPr>
          <a:xfrm>
            <a:off x="1192807" y="2496341"/>
            <a:ext cx="3872629" cy="1200329"/>
          </a:xfrm>
          <a:prstGeom prst="rect">
            <a:avLst/>
          </a:prstGeom>
          <a:noFill/>
        </p:spPr>
        <p:txBody>
          <a:bodyPr wrap="square">
            <a:spAutoFit/>
          </a:bodyPr>
          <a:lstStyle/>
          <a:p>
            <a:pPr algn="ctr"/>
            <a:r>
              <a:rPr lang="nl-BE" sz="2400" dirty="0">
                <a:solidFill>
                  <a:srgbClr val="FF0000"/>
                </a:solidFill>
              </a:rPr>
              <a:t>Regression algorithm (Gaussian Processes) + covariance function (RBF)</a:t>
            </a:r>
          </a:p>
        </p:txBody>
      </p:sp>
      <p:cxnSp>
        <p:nvCxnSpPr>
          <p:cNvPr id="6" name="Rechte verbindingslijn met pijl 5">
            <a:extLst>
              <a:ext uri="{FF2B5EF4-FFF2-40B4-BE49-F238E27FC236}">
                <a16:creationId xmlns:a16="http://schemas.microsoft.com/office/drawing/2014/main" id="{25ECA8D7-DEBE-1314-499D-EC6C46F3D4C5}"/>
              </a:ext>
            </a:extLst>
          </p:cNvPr>
          <p:cNvCxnSpPr>
            <a:cxnSpLocks/>
          </p:cNvCxnSpPr>
          <p:nvPr/>
        </p:nvCxnSpPr>
        <p:spPr>
          <a:xfrm>
            <a:off x="3883711" y="3696671"/>
            <a:ext cx="0" cy="1226975"/>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0" name="Rechte verbindingslijn met pijl 9">
            <a:extLst>
              <a:ext uri="{FF2B5EF4-FFF2-40B4-BE49-F238E27FC236}">
                <a16:creationId xmlns:a16="http://schemas.microsoft.com/office/drawing/2014/main" id="{F4447D7D-B926-C7A0-E82C-CA25AA6474C4}"/>
              </a:ext>
            </a:extLst>
          </p:cNvPr>
          <p:cNvCxnSpPr>
            <a:cxnSpLocks/>
            <a:stCxn id="12" idx="2"/>
          </p:cNvCxnSpPr>
          <p:nvPr/>
        </p:nvCxnSpPr>
        <p:spPr>
          <a:xfrm>
            <a:off x="5739405" y="2526519"/>
            <a:ext cx="0" cy="1196797"/>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12" name="Tekstvak 11">
            <a:extLst>
              <a:ext uri="{FF2B5EF4-FFF2-40B4-BE49-F238E27FC236}">
                <a16:creationId xmlns:a16="http://schemas.microsoft.com/office/drawing/2014/main" id="{80BB855F-E806-6A81-EB5F-BF9D3B72C6F4}"/>
              </a:ext>
            </a:extLst>
          </p:cNvPr>
          <p:cNvSpPr txBox="1"/>
          <p:nvPr/>
        </p:nvSpPr>
        <p:spPr>
          <a:xfrm>
            <a:off x="3803090" y="2064854"/>
            <a:ext cx="3872629" cy="461665"/>
          </a:xfrm>
          <a:prstGeom prst="rect">
            <a:avLst/>
          </a:prstGeom>
          <a:noFill/>
        </p:spPr>
        <p:txBody>
          <a:bodyPr wrap="square">
            <a:spAutoFit/>
          </a:bodyPr>
          <a:lstStyle/>
          <a:p>
            <a:pPr algn="ctr"/>
            <a:r>
              <a:rPr lang="nl-BE" sz="2400" dirty="0">
                <a:solidFill>
                  <a:srgbClr val="FF0000"/>
                </a:solidFill>
              </a:rPr>
              <a:t>Acquisition function</a:t>
            </a:r>
          </a:p>
        </p:txBody>
      </p:sp>
      <p:cxnSp>
        <p:nvCxnSpPr>
          <p:cNvPr id="15" name="Rechte verbindingslijn met pijl 14">
            <a:extLst>
              <a:ext uri="{FF2B5EF4-FFF2-40B4-BE49-F238E27FC236}">
                <a16:creationId xmlns:a16="http://schemas.microsoft.com/office/drawing/2014/main" id="{48500B11-C932-52A5-E941-A4894D1AC328}"/>
              </a:ext>
            </a:extLst>
          </p:cNvPr>
          <p:cNvCxnSpPr>
            <a:cxnSpLocks/>
          </p:cNvCxnSpPr>
          <p:nvPr/>
        </p:nvCxnSpPr>
        <p:spPr>
          <a:xfrm>
            <a:off x="4723120" y="3696670"/>
            <a:ext cx="4035345" cy="953177"/>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6899288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07875-533E-2E07-7E92-7B3741CFE8E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7F71F77-FCD0-7FAE-B0E5-81A79ADAC00E}"/>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Applications</a:t>
            </a:r>
          </a:p>
        </p:txBody>
      </p:sp>
      <p:pic>
        <p:nvPicPr>
          <p:cNvPr id="9" name="Afbeelding 8" descr="Afbeelding met tekst, schermopname, document, Lettertype&#10;&#10;Door AI gegenereerde inhoud is mogelijk onjuist.">
            <a:extLst>
              <a:ext uri="{FF2B5EF4-FFF2-40B4-BE49-F238E27FC236}">
                <a16:creationId xmlns:a16="http://schemas.microsoft.com/office/drawing/2014/main" id="{68A0369F-595D-BEE3-81D6-361227B577B8}"/>
              </a:ext>
            </a:extLst>
          </p:cNvPr>
          <p:cNvPicPr>
            <a:picLocks noChangeAspect="1"/>
          </p:cNvPicPr>
          <p:nvPr/>
        </p:nvPicPr>
        <p:blipFill>
          <a:blip r:embed="rId3"/>
          <a:stretch>
            <a:fillRect/>
          </a:stretch>
        </p:blipFill>
        <p:spPr>
          <a:xfrm>
            <a:off x="3106139" y="1023017"/>
            <a:ext cx="5904593" cy="5288948"/>
          </a:xfrm>
          <a:prstGeom prst="rect">
            <a:avLst/>
          </a:prstGeom>
        </p:spPr>
      </p:pic>
      <p:sp>
        <p:nvSpPr>
          <p:cNvPr id="3" name="Tijdelijke aanduiding voor dianummer 2">
            <a:extLst>
              <a:ext uri="{FF2B5EF4-FFF2-40B4-BE49-F238E27FC236}">
                <a16:creationId xmlns:a16="http://schemas.microsoft.com/office/drawing/2014/main" id="{96714776-47F6-4615-D2E0-FE67C8FDE746}"/>
              </a:ext>
            </a:extLst>
          </p:cNvPr>
          <p:cNvSpPr>
            <a:spLocks noGrp="1"/>
          </p:cNvSpPr>
          <p:nvPr>
            <p:ph type="sldNum" sz="quarter" idx="12"/>
          </p:nvPr>
        </p:nvSpPr>
        <p:spPr/>
        <p:txBody>
          <a:bodyPr/>
          <a:lstStyle/>
          <a:p>
            <a:fld id="{45E6605D-1E32-D542-B458-1FC57A046453}" type="slidenum">
              <a:rPr lang="nl-BE" smtClean="0"/>
              <a:t>23</a:t>
            </a:fld>
            <a:endParaRPr lang="nl-BE"/>
          </a:p>
        </p:txBody>
      </p:sp>
    </p:spTree>
    <p:extLst>
      <p:ext uri="{BB962C8B-B14F-4D97-AF65-F5344CB8AC3E}">
        <p14:creationId xmlns:p14="http://schemas.microsoft.com/office/powerpoint/2010/main" val="11302378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2DB63-7DC8-D027-3BDD-479BDAD2781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258017B-0C44-30CE-47FE-FBE273AF158A}"/>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Applications</a:t>
            </a:r>
          </a:p>
        </p:txBody>
      </p:sp>
      <p:sp>
        <p:nvSpPr>
          <p:cNvPr id="3" name="Tekstvak 2">
            <a:extLst>
              <a:ext uri="{FF2B5EF4-FFF2-40B4-BE49-F238E27FC236}">
                <a16:creationId xmlns:a16="http://schemas.microsoft.com/office/drawing/2014/main" id="{E0E9A348-5B40-1FB2-404F-E3FB04508C42}"/>
              </a:ext>
            </a:extLst>
          </p:cNvPr>
          <p:cNvSpPr txBox="1"/>
          <p:nvPr/>
        </p:nvSpPr>
        <p:spPr>
          <a:xfrm>
            <a:off x="241083" y="5483778"/>
            <a:ext cx="11709833" cy="1200329"/>
          </a:xfrm>
          <a:prstGeom prst="rect">
            <a:avLst/>
          </a:prstGeom>
          <a:noFill/>
        </p:spPr>
        <p:txBody>
          <a:bodyPr wrap="square" rtlCol="0">
            <a:spAutoFit/>
          </a:bodyPr>
          <a:lstStyle/>
          <a:p>
            <a:r>
              <a:rPr lang="nl-BE" sz="2400" dirty="0"/>
              <a:t>Problem: many of the variables (ligand, base, solvent) are categorical; how do I define distances between the different options, so that I can define a covariance function for them?</a:t>
            </a:r>
          </a:p>
        </p:txBody>
      </p:sp>
      <p:pic>
        <p:nvPicPr>
          <p:cNvPr id="8" name="Afbeelding 7" descr="Afbeelding met tekst, schermopname, diagram&#10;&#10;Door AI gegenereerde inhoud is mogelijk onjuist.">
            <a:extLst>
              <a:ext uri="{FF2B5EF4-FFF2-40B4-BE49-F238E27FC236}">
                <a16:creationId xmlns:a16="http://schemas.microsoft.com/office/drawing/2014/main" id="{EA3C26D3-7082-04FB-4EC6-860C48822A5D}"/>
              </a:ext>
            </a:extLst>
          </p:cNvPr>
          <p:cNvPicPr>
            <a:picLocks noChangeAspect="1"/>
          </p:cNvPicPr>
          <p:nvPr/>
        </p:nvPicPr>
        <p:blipFill>
          <a:blip r:embed="rId3"/>
          <a:srcRect l="46877" b="6988"/>
          <a:stretch>
            <a:fillRect/>
          </a:stretch>
        </p:blipFill>
        <p:spPr>
          <a:xfrm>
            <a:off x="4267199" y="1023018"/>
            <a:ext cx="4203025" cy="4149058"/>
          </a:xfrm>
          <a:prstGeom prst="rect">
            <a:avLst/>
          </a:prstGeom>
        </p:spPr>
      </p:pic>
      <p:sp>
        <p:nvSpPr>
          <p:cNvPr id="4" name="Tijdelijke aanduiding voor dianummer 3">
            <a:extLst>
              <a:ext uri="{FF2B5EF4-FFF2-40B4-BE49-F238E27FC236}">
                <a16:creationId xmlns:a16="http://schemas.microsoft.com/office/drawing/2014/main" id="{6D9A67C0-8BC5-6363-8ECB-376E8B84B909}"/>
              </a:ext>
            </a:extLst>
          </p:cNvPr>
          <p:cNvSpPr>
            <a:spLocks noGrp="1"/>
          </p:cNvSpPr>
          <p:nvPr>
            <p:ph type="sldNum" sz="quarter" idx="12"/>
          </p:nvPr>
        </p:nvSpPr>
        <p:spPr/>
        <p:txBody>
          <a:bodyPr/>
          <a:lstStyle/>
          <a:p>
            <a:fld id="{45E6605D-1E32-D542-B458-1FC57A046453}" type="slidenum">
              <a:rPr lang="nl-BE" smtClean="0"/>
              <a:t>24</a:t>
            </a:fld>
            <a:endParaRPr lang="nl-BE"/>
          </a:p>
        </p:txBody>
      </p:sp>
    </p:spTree>
    <p:extLst>
      <p:ext uri="{BB962C8B-B14F-4D97-AF65-F5344CB8AC3E}">
        <p14:creationId xmlns:p14="http://schemas.microsoft.com/office/powerpoint/2010/main" val="2655858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3A4C1-776A-CE8A-A049-3EFAB58FBC0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C7ABB47-488D-0A57-D85A-151625E330E0}"/>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Applications</a:t>
            </a:r>
          </a:p>
        </p:txBody>
      </p:sp>
      <p:sp>
        <p:nvSpPr>
          <p:cNvPr id="8" name="Tekstvak 7">
            <a:extLst>
              <a:ext uri="{FF2B5EF4-FFF2-40B4-BE49-F238E27FC236}">
                <a16:creationId xmlns:a16="http://schemas.microsoft.com/office/drawing/2014/main" id="{800D1245-114D-7F7D-5E65-694F5AB6C43A}"/>
              </a:ext>
            </a:extLst>
          </p:cNvPr>
          <p:cNvSpPr txBox="1"/>
          <p:nvPr/>
        </p:nvSpPr>
        <p:spPr>
          <a:xfrm>
            <a:off x="241083" y="1023017"/>
            <a:ext cx="11709833" cy="1200329"/>
          </a:xfrm>
          <a:prstGeom prst="rect">
            <a:avLst/>
          </a:prstGeom>
          <a:noFill/>
        </p:spPr>
        <p:txBody>
          <a:bodyPr wrap="square" rtlCol="0">
            <a:spAutoFit/>
          </a:bodyPr>
          <a:lstStyle/>
          <a:p>
            <a:r>
              <a:rPr lang="nl-BE" sz="2400" dirty="0"/>
              <a:t>Problem: many of the variables (ligand, base, solvent) are categorical; how do I define distances between the different options, so that I can define a covariance function for them?</a:t>
            </a:r>
          </a:p>
        </p:txBody>
      </p:sp>
      <p:sp>
        <p:nvSpPr>
          <p:cNvPr id="9" name="Tekstvak 8">
            <a:extLst>
              <a:ext uri="{FF2B5EF4-FFF2-40B4-BE49-F238E27FC236}">
                <a16:creationId xmlns:a16="http://schemas.microsoft.com/office/drawing/2014/main" id="{FD7FC66F-EE36-409F-710F-79433F43302C}"/>
              </a:ext>
            </a:extLst>
          </p:cNvPr>
          <p:cNvSpPr txBox="1"/>
          <p:nvPr/>
        </p:nvSpPr>
        <p:spPr>
          <a:xfrm>
            <a:off x="203519" y="2223346"/>
            <a:ext cx="11709833" cy="830997"/>
          </a:xfrm>
          <a:prstGeom prst="rect">
            <a:avLst/>
          </a:prstGeom>
          <a:noFill/>
        </p:spPr>
        <p:txBody>
          <a:bodyPr wrap="square" rtlCol="0">
            <a:spAutoFit/>
          </a:bodyPr>
          <a:lstStyle/>
          <a:p>
            <a:r>
              <a:rPr lang="nl-BE" sz="2400" dirty="0">
                <a:sym typeface="Wingdings" pitchFamily="2" charset="2"/>
              </a:rPr>
              <a:t> solution: common encoding, for example by computing DFT descriptors for each option (gives a position to each in chemical space, and distances become meaningful)</a:t>
            </a:r>
            <a:endParaRPr lang="nl-BE" sz="2400" dirty="0"/>
          </a:p>
        </p:txBody>
      </p:sp>
      <p:pic>
        <p:nvPicPr>
          <p:cNvPr id="11" name="Afbeelding 10" descr="Afbeelding met tekst, schermopname, diagram&#10;&#10;Door AI gegenereerde inhoud is mogelijk onjuist.">
            <a:extLst>
              <a:ext uri="{FF2B5EF4-FFF2-40B4-BE49-F238E27FC236}">
                <a16:creationId xmlns:a16="http://schemas.microsoft.com/office/drawing/2014/main" id="{0F554BBD-E79C-44C1-35F5-14B9D6FB6C5B}"/>
              </a:ext>
            </a:extLst>
          </p:cNvPr>
          <p:cNvPicPr>
            <a:picLocks noChangeAspect="1"/>
          </p:cNvPicPr>
          <p:nvPr/>
        </p:nvPicPr>
        <p:blipFill>
          <a:blip r:embed="rId3"/>
          <a:srcRect t="4773" r="54349" b="4200"/>
          <a:stretch/>
        </p:blipFill>
        <p:spPr>
          <a:xfrm>
            <a:off x="7015163" y="3089784"/>
            <a:ext cx="3351864" cy="3768216"/>
          </a:xfrm>
          <a:prstGeom prst="rect">
            <a:avLst/>
          </a:prstGeom>
        </p:spPr>
      </p:pic>
      <p:pic>
        <p:nvPicPr>
          <p:cNvPr id="13" name="Afbeelding 12" descr="Afbeelding met tekst, schermopname, tekenfilm, Lettertype&#10;&#10;Door AI gegenereerde inhoud is mogelijk onjuist.">
            <a:extLst>
              <a:ext uri="{FF2B5EF4-FFF2-40B4-BE49-F238E27FC236}">
                <a16:creationId xmlns:a16="http://schemas.microsoft.com/office/drawing/2014/main" id="{E0A3610B-E7A6-983B-A4C8-E865E569D90D}"/>
              </a:ext>
            </a:extLst>
          </p:cNvPr>
          <p:cNvPicPr>
            <a:picLocks noChangeAspect="1"/>
          </p:cNvPicPr>
          <p:nvPr/>
        </p:nvPicPr>
        <p:blipFill>
          <a:blip r:embed="rId4"/>
          <a:srcRect t="19987" b="24986"/>
          <a:stretch>
            <a:fillRect/>
          </a:stretch>
        </p:blipFill>
        <p:spPr>
          <a:xfrm>
            <a:off x="545036" y="3758652"/>
            <a:ext cx="6273800" cy="1775075"/>
          </a:xfrm>
          <a:prstGeom prst="rect">
            <a:avLst/>
          </a:prstGeom>
        </p:spPr>
      </p:pic>
      <p:sp>
        <p:nvSpPr>
          <p:cNvPr id="3" name="Tijdelijke aanduiding voor dianummer 2">
            <a:extLst>
              <a:ext uri="{FF2B5EF4-FFF2-40B4-BE49-F238E27FC236}">
                <a16:creationId xmlns:a16="http://schemas.microsoft.com/office/drawing/2014/main" id="{B7F2010C-290B-40D1-3D32-CC67513F6223}"/>
              </a:ext>
            </a:extLst>
          </p:cNvPr>
          <p:cNvSpPr>
            <a:spLocks noGrp="1"/>
          </p:cNvSpPr>
          <p:nvPr>
            <p:ph type="sldNum" sz="quarter" idx="12"/>
          </p:nvPr>
        </p:nvSpPr>
        <p:spPr/>
        <p:txBody>
          <a:bodyPr/>
          <a:lstStyle/>
          <a:p>
            <a:fld id="{45E6605D-1E32-D542-B458-1FC57A046453}" type="slidenum">
              <a:rPr lang="nl-BE" smtClean="0"/>
              <a:t>25</a:t>
            </a:fld>
            <a:endParaRPr lang="nl-BE"/>
          </a:p>
        </p:txBody>
      </p:sp>
    </p:spTree>
    <p:extLst>
      <p:ext uri="{BB962C8B-B14F-4D97-AF65-F5344CB8AC3E}">
        <p14:creationId xmlns:p14="http://schemas.microsoft.com/office/powerpoint/2010/main" val="978805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CD6E2-8753-3F91-08A1-264B6FE1ACF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79024BC-8CA6-1562-2417-AFB8F68CD3DC}"/>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Applications</a:t>
            </a:r>
          </a:p>
        </p:txBody>
      </p:sp>
      <p:pic>
        <p:nvPicPr>
          <p:cNvPr id="4" name="Afbeelding 3" descr="Afbeelding met tekst, diagram, schermopname, Plan&#10;&#10;Door AI gegenereerde inhoud is mogelijk onjuist.">
            <a:extLst>
              <a:ext uri="{FF2B5EF4-FFF2-40B4-BE49-F238E27FC236}">
                <a16:creationId xmlns:a16="http://schemas.microsoft.com/office/drawing/2014/main" id="{5199B45B-83C1-554C-9242-8198A073255D}"/>
              </a:ext>
            </a:extLst>
          </p:cNvPr>
          <p:cNvPicPr>
            <a:picLocks noChangeAspect="1"/>
          </p:cNvPicPr>
          <p:nvPr/>
        </p:nvPicPr>
        <p:blipFill>
          <a:blip r:embed="rId3"/>
          <a:stretch>
            <a:fillRect/>
          </a:stretch>
        </p:blipFill>
        <p:spPr>
          <a:xfrm>
            <a:off x="2382370" y="1031345"/>
            <a:ext cx="7772400" cy="5642596"/>
          </a:xfrm>
          <a:prstGeom prst="rect">
            <a:avLst/>
          </a:prstGeom>
        </p:spPr>
      </p:pic>
      <p:sp>
        <p:nvSpPr>
          <p:cNvPr id="3" name="Tijdelijke aanduiding voor dianummer 2">
            <a:extLst>
              <a:ext uri="{FF2B5EF4-FFF2-40B4-BE49-F238E27FC236}">
                <a16:creationId xmlns:a16="http://schemas.microsoft.com/office/drawing/2014/main" id="{CADFC318-0DC6-4122-D78A-B557197BE9A9}"/>
              </a:ext>
            </a:extLst>
          </p:cNvPr>
          <p:cNvSpPr>
            <a:spLocks noGrp="1"/>
          </p:cNvSpPr>
          <p:nvPr>
            <p:ph type="sldNum" sz="quarter" idx="12"/>
          </p:nvPr>
        </p:nvSpPr>
        <p:spPr/>
        <p:txBody>
          <a:bodyPr/>
          <a:lstStyle/>
          <a:p>
            <a:fld id="{45E6605D-1E32-D542-B458-1FC57A046453}" type="slidenum">
              <a:rPr lang="nl-BE" smtClean="0"/>
              <a:t>26</a:t>
            </a:fld>
            <a:endParaRPr lang="nl-BE"/>
          </a:p>
        </p:txBody>
      </p:sp>
    </p:spTree>
    <p:extLst>
      <p:ext uri="{BB962C8B-B14F-4D97-AF65-F5344CB8AC3E}">
        <p14:creationId xmlns:p14="http://schemas.microsoft.com/office/powerpoint/2010/main" val="2060205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CC496-099B-6F90-D49E-FE3E5FD48B03}"/>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43EEDA42-9A73-651F-F723-D3C6D86F4CD8}"/>
              </a:ext>
            </a:extLst>
          </p:cNvPr>
          <p:cNvSpPr>
            <a:spLocks noGrp="1"/>
          </p:cNvSpPr>
          <p:nvPr>
            <p:ph type="sldNum" sz="quarter" idx="12"/>
          </p:nvPr>
        </p:nvSpPr>
        <p:spPr>
          <a:xfrm>
            <a:off x="8996893" y="6308816"/>
            <a:ext cx="2743200" cy="365125"/>
          </a:xfrm>
        </p:spPr>
        <p:txBody>
          <a:bodyPr/>
          <a:lstStyle/>
          <a:p>
            <a:fld id="{45E6605D-1E32-D542-B458-1FC57A046453}" type="slidenum">
              <a:rPr lang="nl-BE" smtClean="0"/>
              <a:t>27</a:t>
            </a:fld>
            <a:endParaRPr lang="nl-BE"/>
          </a:p>
        </p:txBody>
      </p:sp>
      <p:sp>
        <p:nvSpPr>
          <p:cNvPr id="7" name="Titel 1">
            <a:extLst>
              <a:ext uri="{FF2B5EF4-FFF2-40B4-BE49-F238E27FC236}">
                <a16:creationId xmlns:a16="http://schemas.microsoft.com/office/drawing/2014/main" id="{7DD90821-C8CC-4E18-E931-D7B8483016FD}"/>
              </a:ext>
            </a:extLst>
          </p:cNvPr>
          <p:cNvSpPr>
            <a:spLocks noGrp="1"/>
          </p:cNvSpPr>
          <p:nvPr>
            <p:ph type="ctrTitle"/>
          </p:nvPr>
        </p:nvSpPr>
        <p:spPr>
          <a:xfrm>
            <a:off x="167189" y="-166078"/>
            <a:ext cx="11857621" cy="838958"/>
          </a:xfrm>
        </p:spPr>
        <p:txBody>
          <a:bodyPr>
            <a:noAutofit/>
          </a:bodyPr>
          <a:lstStyle/>
          <a:p>
            <a:pPr algn="l"/>
            <a:r>
              <a:rPr lang="nl-BE" sz="4000" b="1" dirty="0">
                <a:solidFill>
                  <a:srgbClr val="002060"/>
                </a:solidFill>
              </a:rPr>
              <a:t>Leveraging hidden-space representations in BO</a:t>
            </a:r>
          </a:p>
        </p:txBody>
      </p:sp>
      <p:sp>
        <p:nvSpPr>
          <p:cNvPr id="4" name="Google Shape;92;p14">
            <a:extLst>
              <a:ext uri="{FF2B5EF4-FFF2-40B4-BE49-F238E27FC236}">
                <a16:creationId xmlns:a16="http://schemas.microsoft.com/office/drawing/2014/main" id="{6C53856C-DAB6-4591-FB89-DC328575BAE0}"/>
              </a:ext>
            </a:extLst>
          </p:cNvPr>
          <p:cNvSpPr txBox="1">
            <a:spLocks noGrp="1"/>
          </p:cNvSpPr>
          <p:nvPr>
            <p:ph type="ftr" idx="11"/>
          </p:nvPr>
        </p:nvSpPr>
        <p:spPr>
          <a:xfrm>
            <a:off x="2896760" y="6457259"/>
            <a:ext cx="6398477" cy="365125"/>
          </a:xfrm>
          <a:prstGeom prst="rect">
            <a:avLst/>
          </a:prstGeom>
          <a:noFill/>
          <a:ln>
            <a:noFill/>
          </a:ln>
        </p:spPr>
        <p:txBody>
          <a:bodyPr spcFirstLastPara="1" wrap="square" lIns="91425" tIns="45700" rIns="91425" bIns="45700" anchor="ctr" anchorCtr="0">
            <a:noAutofit/>
          </a:bodyPr>
          <a:lstStyle/>
          <a:p>
            <a:r>
              <a:rPr lang="nl-BE" dirty="0">
                <a:solidFill>
                  <a:srgbClr val="222222"/>
                </a:solidFill>
                <a:latin typeface="Arial" panose="020B0604020202020204" pitchFamily="34" charset="0"/>
              </a:rPr>
              <a:t>G. Chen, M. Fleck, T. Stuyver, </a:t>
            </a:r>
            <a:r>
              <a:rPr lang="nl-BE" i="1" dirty="0">
                <a:solidFill>
                  <a:srgbClr val="222222"/>
                </a:solidFill>
                <a:latin typeface="Arial" panose="020B0604020202020204" pitchFamily="34" charset="0"/>
              </a:rPr>
              <a:t>ChemRxiv</a:t>
            </a:r>
            <a:r>
              <a:rPr lang="nl-BE" dirty="0">
                <a:solidFill>
                  <a:srgbClr val="222222"/>
                </a:solidFill>
                <a:latin typeface="Arial" panose="020B0604020202020204" pitchFamily="34" charset="0"/>
              </a:rPr>
              <a:t> </a:t>
            </a:r>
            <a:r>
              <a:rPr lang="nl-BE" b="1" dirty="0">
                <a:solidFill>
                  <a:srgbClr val="222222"/>
                </a:solidFill>
                <a:latin typeface="Arial" panose="020B0604020202020204" pitchFamily="34" charset="0"/>
              </a:rPr>
              <a:t>2026</a:t>
            </a:r>
            <a:r>
              <a:rPr lang="nl-BE" dirty="0">
                <a:solidFill>
                  <a:srgbClr val="222222"/>
                </a:solidFill>
                <a:latin typeface="Arial" panose="020B0604020202020204" pitchFamily="34" charset="0"/>
              </a:rPr>
              <a:t>, DOI: 10.26434/chemrxiv.10001986 </a:t>
            </a:r>
            <a:endParaRPr lang="nl-BE" dirty="0"/>
          </a:p>
        </p:txBody>
      </p:sp>
      <p:pic>
        <p:nvPicPr>
          <p:cNvPr id="6" name="Afbeelding 5">
            <a:extLst>
              <a:ext uri="{FF2B5EF4-FFF2-40B4-BE49-F238E27FC236}">
                <a16:creationId xmlns:a16="http://schemas.microsoft.com/office/drawing/2014/main" id="{1EAF7DE8-B7F0-FBC4-C8AC-2CB78FE71308}"/>
              </a:ext>
            </a:extLst>
          </p:cNvPr>
          <p:cNvPicPr>
            <a:picLocks noChangeAspect="1"/>
          </p:cNvPicPr>
          <p:nvPr/>
        </p:nvPicPr>
        <p:blipFill>
          <a:blip r:embed="rId3"/>
          <a:stretch>
            <a:fillRect/>
          </a:stretch>
        </p:blipFill>
        <p:spPr>
          <a:xfrm>
            <a:off x="289511" y="1455526"/>
            <a:ext cx="3382837" cy="5035851"/>
          </a:xfrm>
          <a:prstGeom prst="rect">
            <a:avLst/>
          </a:prstGeom>
        </p:spPr>
      </p:pic>
      <p:sp>
        <p:nvSpPr>
          <p:cNvPr id="5" name="Tekstvak 4">
            <a:extLst>
              <a:ext uri="{FF2B5EF4-FFF2-40B4-BE49-F238E27FC236}">
                <a16:creationId xmlns:a16="http://schemas.microsoft.com/office/drawing/2014/main" id="{1F746C1D-3149-A184-AC05-C945F576D0D1}"/>
              </a:ext>
            </a:extLst>
          </p:cNvPr>
          <p:cNvSpPr txBox="1"/>
          <p:nvPr/>
        </p:nvSpPr>
        <p:spPr>
          <a:xfrm>
            <a:off x="289511" y="774949"/>
            <a:ext cx="10619789" cy="461665"/>
          </a:xfrm>
          <a:prstGeom prst="rect">
            <a:avLst/>
          </a:prstGeom>
          <a:noFill/>
        </p:spPr>
        <p:txBody>
          <a:bodyPr wrap="square">
            <a:spAutoFit/>
          </a:bodyPr>
          <a:lstStyle/>
          <a:p>
            <a:r>
              <a:rPr lang="nl-BE" sz="2400" dirty="0"/>
              <a:t>How to define similarity between chemical options in the BO search space?</a:t>
            </a:r>
          </a:p>
        </p:txBody>
      </p:sp>
      <p:pic>
        <p:nvPicPr>
          <p:cNvPr id="2" name="Afbeelding 1" descr="Afbeelding met tekst, schermopname, diagram, lijn&#10;&#10;Door AI gegenereerde inhoud is mogelijk onjuist.">
            <a:extLst>
              <a:ext uri="{FF2B5EF4-FFF2-40B4-BE49-F238E27FC236}">
                <a16:creationId xmlns:a16="http://schemas.microsoft.com/office/drawing/2014/main" id="{8AF9E18E-3B5E-4543-E8D8-BBB247EAB538}"/>
              </a:ext>
            </a:extLst>
          </p:cNvPr>
          <p:cNvPicPr>
            <a:picLocks noChangeAspect="1"/>
          </p:cNvPicPr>
          <p:nvPr/>
        </p:nvPicPr>
        <p:blipFill>
          <a:blip r:embed="rId4"/>
          <a:stretch>
            <a:fillRect/>
          </a:stretch>
        </p:blipFill>
        <p:spPr>
          <a:xfrm>
            <a:off x="3809767" y="2328931"/>
            <a:ext cx="3850367" cy="2423981"/>
          </a:xfrm>
          <a:prstGeom prst="rect">
            <a:avLst/>
          </a:prstGeom>
        </p:spPr>
      </p:pic>
      <mc:AlternateContent xmlns:mc="http://schemas.openxmlformats.org/markup-compatibility/2006" xmlns:a14="http://schemas.microsoft.com/office/drawing/2010/main">
        <mc:Choice Requires="a14">
          <p:sp>
            <p:nvSpPr>
              <p:cNvPr id="9" name="Tekstvak 8">
                <a:extLst>
                  <a:ext uri="{FF2B5EF4-FFF2-40B4-BE49-F238E27FC236}">
                    <a16:creationId xmlns:a16="http://schemas.microsoft.com/office/drawing/2014/main" id="{362B29D9-542E-5648-FF4C-A745F0A3645F}"/>
                  </a:ext>
                </a:extLst>
              </p:cNvPr>
              <p:cNvSpPr txBox="1"/>
              <p:nvPr/>
            </p:nvSpPr>
            <p:spPr>
              <a:xfrm>
                <a:off x="5734950" y="5410494"/>
                <a:ext cx="4305299" cy="869469"/>
              </a:xfrm>
              <a:prstGeom prst="rect">
                <a:avLst/>
              </a:prstGeom>
              <a:noFill/>
            </p:spPr>
            <p:txBody>
              <a:bodyPr wrap="square" rtlCol="0">
                <a:spAutoFit/>
              </a:bodyPr>
              <a:lstStyle/>
              <a:p>
                <a:r>
                  <a:rPr lang="nl-BE" sz="2400" b="1" dirty="0"/>
                  <a:t>Solution</a:t>
                </a:r>
                <a:r>
                  <a:rPr lang="nl-BE" sz="2400" dirty="0"/>
                  <a:t>: use adaptable hyperpriors that scale with </a:t>
                </a:r>
                <a14:m>
                  <m:oMath xmlns:m="http://schemas.openxmlformats.org/officeDocument/2006/math">
                    <m:rad>
                      <m:radPr>
                        <m:degHide m:val="on"/>
                        <m:ctrlPr>
                          <a:rPr lang="nl-BE" sz="2400" i="1" smtClean="0">
                            <a:latin typeface="Cambria Math" panose="02040503050406030204" pitchFamily="18" charset="0"/>
                          </a:rPr>
                        </m:ctrlPr>
                      </m:radPr>
                      <m:deg/>
                      <m:e>
                        <m:r>
                          <a:rPr lang="nl-BE" sz="2400" b="0" i="1" smtClean="0">
                            <a:latin typeface="Cambria Math" panose="02040503050406030204" pitchFamily="18" charset="0"/>
                          </a:rPr>
                          <m:t>𝑑</m:t>
                        </m:r>
                      </m:e>
                    </m:rad>
                  </m:oMath>
                </a14:m>
                <a:r>
                  <a:rPr lang="nl-BE" sz="2400" dirty="0"/>
                  <a:t>! </a:t>
                </a:r>
              </a:p>
            </p:txBody>
          </p:sp>
        </mc:Choice>
        <mc:Fallback xmlns="">
          <p:sp>
            <p:nvSpPr>
              <p:cNvPr id="9" name="Tekstvak 8">
                <a:extLst>
                  <a:ext uri="{FF2B5EF4-FFF2-40B4-BE49-F238E27FC236}">
                    <a16:creationId xmlns:a16="http://schemas.microsoft.com/office/drawing/2014/main" id="{362B29D9-542E-5648-FF4C-A745F0A3645F}"/>
                  </a:ext>
                </a:extLst>
              </p:cNvPr>
              <p:cNvSpPr txBox="1">
                <a:spLocks noRot="1" noChangeAspect="1" noMove="1" noResize="1" noEditPoints="1" noAdjustHandles="1" noChangeArrowheads="1" noChangeShapeType="1" noTextEdit="1"/>
              </p:cNvSpPr>
              <p:nvPr/>
            </p:nvSpPr>
            <p:spPr>
              <a:xfrm>
                <a:off x="5734950" y="5410494"/>
                <a:ext cx="4305299" cy="869469"/>
              </a:xfrm>
              <a:prstGeom prst="rect">
                <a:avLst/>
              </a:prstGeom>
              <a:blipFill>
                <a:blip r:embed="rId5"/>
                <a:stretch>
                  <a:fillRect l="-2059" t="-7246" r="-3529" b="-14493"/>
                </a:stretch>
              </a:blipFill>
            </p:spPr>
            <p:txBody>
              <a:bodyPr/>
              <a:lstStyle/>
              <a:p>
                <a:r>
                  <a:rPr lang="nl-BE">
                    <a:noFill/>
                  </a:rPr>
                  <a:t> </a:t>
                </a:r>
              </a:p>
            </p:txBody>
          </p:sp>
        </mc:Fallback>
      </mc:AlternateContent>
      <p:pic>
        <p:nvPicPr>
          <p:cNvPr id="8" name="Afbeelding 7" descr="Afbeelding met tekst, diagram, lijn, Perceel&#10;&#10;Door AI gegenereerde inhoud is mogelijk onjuist.">
            <a:extLst>
              <a:ext uri="{FF2B5EF4-FFF2-40B4-BE49-F238E27FC236}">
                <a16:creationId xmlns:a16="http://schemas.microsoft.com/office/drawing/2014/main" id="{3B06DB3B-DD7B-36F6-9ECD-35B520AA2AD1}"/>
              </a:ext>
            </a:extLst>
          </p:cNvPr>
          <p:cNvPicPr>
            <a:picLocks noChangeAspect="1"/>
          </p:cNvPicPr>
          <p:nvPr/>
        </p:nvPicPr>
        <p:blipFill>
          <a:blip r:embed="rId6"/>
          <a:stretch>
            <a:fillRect/>
          </a:stretch>
        </p:blipFill>
        <p:spPr>
          <a:xfrm>
            <a:off x="7797553" y="2091276"/>
            <a:ext cx="4278435" cy="3021832"/>
          </a:xfrm>
          <a:prstGeom prst="rect">
            <a:avLst/>
          </a:prstGeom>
        </p:spPr>
      </p:pic>
    </p:spTree>
    <p:extLst>
      <p:ext uri="{BB962C8B-B14F-4D97-AF65-F5344CB8AC3E}">
        <p14:creationId xmlns:p14="http://schemas.microsoft.com/office/powerpoint/2010/main" val="3509698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B4A42-AA75-573A-BE60-3DFA7906CBC6}"/>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5099B5A7-4C04-834D-E16E-D821E0539A9F}"/>
              </a:ext>
            </a:extLst>
          </p:cNvPr>
          <p:cNvSpPr>
            <a:spLocks noGrp="1"/>
          </p:cNvSpPr>
          <p:nvPr>
            <p:ph type="sldNum" sz="quarter" idx="12"/>
          </p:nvPr>
        </p:nvSpPr>
        <p:spPr>
          <a:xfrm>
            <a:off x="8996893" y="6308816"/>
            <a:ext cx="2743200" cy="365125"/>
          </a:xfrm>
        </p:spPr>
        <p:txBody>
          <a:bodyPr/>
          <a:lstStyle/>
          <a:p>
            <a:fld id="{45E6605D-1E32-D542-B458-1FC57A046453}" type="slidenum">
              <a:rPr lang="nl-BE" smtClean="0"/>
              <a:t>28</a:t>
            </a:fld>
            <a:endParaRPr lang="nl-BE"/>
          </a:p>
        </p:txBody>
      </p:sp>
      <p:sp>
        <p:nvSpPr>
          <p:cNvPr id="7" name="Titel 1">
            <a:extLst>
              <a:ext uri="{FF2B5EF4-FFF2-40B4-BE49-F238E27FC236}">
                <a16:creationId xmlns:a16="http://schemas.microsoft.com/office/drawing/2014/main" id="{E1E6D445-2483-432A-E6E4-20FE401EAA13}"/>
              </a:ext>
            </a:extLst>
          </p:cNvPr>
          <p:cNvSpPr>
            <a:spLocks noGrp="1"/>
          </p:cNvSpPr>
          <p:nvPr>
            <p:ph type="ctrTitle"/>
          </p:nvPr>
        </p:nvSpPr>
        <p:spPr>
          <a:xfrm>
            <a:off x="160208" y="53673"/>
            <a:ext cx="11857621" cy="838958"/>
          </a:xfrm>
        </p:spPr>
        <p:txBody>
          <a:bodyPr>
            <a:noAutofit/>
          </a:bodyPr>
          <a:lstStyle/>
          <a:p>
            <a:pPr algn="l"/>
            <a:r>
              <a:rPr lang="nl-BE" sz="4000" b="1" dirty="0">
                <a:solidFill>
                  <a:srgbClr val="002060"/>
                </a:solidFill>
              </a:rPr>
              <a:t>Leveraging hidden-space representations in BO</a:t>
            </a:r>
          </a:p>
        </p:txBody>
      </p:sp>
      <p:sp>
        <p:nvSpPr>
          <p:cNvPr id="9" name="Tekstvak 8">
            <a:extLst>
              <a:ext uri="{FF2B5EF4-FFF2-40B4-BE49-F238E27FC236}">
                <a16:creationId xmlns:a16="http://schemas.microsoft.com/office/drawing/2014/main" id="{2D03B5EA-F196-1865-8E41-657E2303C8D6}"/>
              </a:ext>
            </a:extLst>
          </p:cNvPr>
          <p:cNvSpPr txBox="1"/>
          <p:nvPr/>
        </p:nvSpPr>
        <p:spPr>
          <a:xfrm>
            <a:off x="2164103" y="6491378"/>
            <a:ext cx="7849829" cy="307777"/>
          </a:xfrm>
          <a:prstGeom prst="rect">
            <a:avLst/>
          </a:prstGeom>
          <a:noFill/>
        </p:spPr>
        <p:txBody>
          <a:bodyPr wrap="square">
            <a:spAutoFit/>
          </a:bodyPr>
          <a:lstStyle/>
          <a:p>
            <a:pPr algn="ctr"/>
            <a:r>
              <a:rPr lang="nl-BE" b="0" i="0" u="none" strike="noStrike" dirty="0">
                <a:solidFill>
                  <a:srgbClr val="222222"/>
                </a:solidFill>
                <a:effectLst/>
                <a:latin typeface="Arial" panose="020B0604020202020204" pitchFamily="34" charset="0"/>
              </a:rPr>
              <a:t>G. Chen, M. Fleck, T. Stuyver, </a:t>
            </a:r>
            <a:r>
              <a:rPr lang="nl-BE" b="0" i="1" u="none" strike="noStrike" dirty="0">
                <a:solidFill>
                  <a:srgbClr val="222222"/>
                </a:solidFill>
                <a:effectLst/>
                <a:latin typeface="Arial" panose="020B0604020202020204" pitchFamily="34" charset="0"/>
              </a:rPr>
              <a:t>ChemRxiv</a:t>
            </a:r>
            <a:r>
              <a:rPr lang="nl-BE" b="0" u="none" strike="noStrike" dirty="0">
                <a:solidFill>
                  <a:srgbClr val="222222"/>
                </a:solidFill>
                <a:effectLst/>
                <a:latin typeface="Arial" panose="020B0604020202020204" pitchFamily="34" charset="0"/>
              </a:rPr>
              <a:t> </a:t>
            </a:r>
            <a:r>
              <a:rPr lang="nl-BE" b="1" u="none" strike="noStrike" dirty="0">
                <a:solidFill>
                  <a:srgbClr val="222222"/>
                </a:solidFill>
                <a:effectLst/>
                <a:latin typeface="Arial" panose="020B0604020202020204" pitchFamily="34" charset="0"/>
              </a:rPr>
              <a:t>2026</a:t>
            </a:r>
            <a:r>
              <a:rPr lang="nl-BE" u="none" strike="noStrike" dirty="0">
                <a:solidFill>
                  <a:srgbClr val="222222"/>
                </a:solidFill>
                <a:effectLst/>
                <a:latin typeface="Arial" panose="020B0604020202020204" pitchFamily="34" charset="0"/>
              </a:rPr>
              <a:t>, DOI</a:t>
            </a:r>
            <a:r>
              <a:rPr lang="nl-BE" dirty="0">
                <a:solidFill>
                  <a:srgbClr val="222222"/>
                </a:solidFill>
                <a:latin typeface="Arial" panose="020B0604020202020204" pitchFamily="34" charset="0"/>
              </a:rPr>
              <a:t>: 10.26434/chemrxiv.10001986</a:t>
            </a:r>
            <a:r>
              <a:rPr lang="nl-BE" u="none" strike="noStrike" dirty="0">
                <a:solidFill>
                  <a:srgbClr val="222222"/>
                </a:solidFill>
                <a:effectLst/>
                <a:latin typeface="Arial" panose="020B0604020202020204" pitchFamily="34" charset="0"/>
              </a:rPr>
              <a:t> </a:t>
            </a:r>
            <a:endParaRPr lang="nl-BE" dirty="0"/>
          </a:p>
        </p:txBody>
      </p:sp>
      <p:pic>
        <p:nvPicPr>
          <p:cNvPr id="2" name="Afbeelding 1">
            <a:extLst>
              <a:ext uri="{FF2B5EF4-FFF2-40B4-BE49-F238E27FC236}">
                <a16:creationId xmlns:a16="http://schemas.microsoft.com/office/drawing/2014/main" id="{3D55DEDA-9FC6-2547-A7AB-296E579CF3D9}"/>
              </a:ext>
            </a:extLst>
          </p:cNvPr>
          <p:cNvPicPr>
            <a:picLocks noChangeAspect="1"/>
          </p:cNvPicPr>
          <p:nvPr/>
        </p:nvPicPr>
        <p:blipFill>
          <a:blip r:embed="rId3"/>
          <a:srcRect l="52324" t="54324"/>
          <a:stretch>
            <a:fillRect/>
          </a:stretch>
        </p:blipFill>
        <p:spPr>
          <a:xfrm>
            <a:off x="2658608" y="1322615"/>
            <a:ext cx="6860818" cy="4556216"/>
          </a:xfrm>
          <a:prstGeom prst="rect">
            <a:avLst/>
          </a:prstGeom>
        </p:spPr>
      </p:pic>
    </p:spTree>
    <p:extLst>
      <p:ext uri="{BB962C8B-B14F-4D97-AF65-F5344CB8AC3E}">
        <p14:creationId xmlns:p14="http://schemas.microsoft.com/office/powerpoint/2010/main" val="171228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491DA-B628-4A1C-1C55-C0A3F3E058A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604DE34-0503-82AB-B830-C116BE4CC857}"/>
              </a:ext>
            </a:extLst>
          </p:cNvPr>
          <p:cNvSpPr>
            <a:spLocks noGrp="1"/>
          </p:cNvSpPr>
          <p:nvPr>
            <p:ph type="ctrTitle"/>
          </p:nvPr>
        </p:nvSpPr>
        <p:spPr>
          <a:xfrm>
            <a:off x="1152525" y="142738"/>
            <a:ext cx="9144000" cy="838958"/>
          </a:xfrm>
        </p:spPr>
        <p:txBody>
          <a:bodyPr>
            <a:normAutofit fontScale="90000"/>
          </a:bodyPr>
          <a:lstStyle/>
          <a:p>
            <a:r>
              <a:rPr lang="nl-BE" b="1" dirty="0">
                <a:solidFill>
                  <a:srgbClr val="002060"/>
                </a:solidFill>
              </a:rPr>
              <a:t>Further reading</a:t>
            </a:r>
          </a:p>
        </p:txBody>
      </p:sp>
      <p:sp>
        <p:nvSpPr>
          <p:cNvPr id="3" name="Tijdelijke aanduiding voor dianummer 2">
            <a:extLst>
              <a:ext uri="{FF2B5EF4-FFF2-40B4-BE49-F238E27FC236}">
                <a16:creationId xmlns:a16="http://schemas.microsoft.com/office/drawing/2014/main" id="{A7D3CFA9-B81D-65C3-C0F0-A1B50F92A941}"/>
              </a:ext>
            </a:extLst>
          </p:cNvPr>
          <p:cNvSpPr>
            <a:spLocks noGrp="1"/>
          </p:cNvSpPr>
          <p:nvPr>
            <p:ph type="sldNum" sz="quarter" idx="12"/>
          </p:nvPr>
        </p:nvSpPr>
        <p:spPr/>
        <p:txBody>
          <a:bodyPr/>
          <a:lstStyle/>
          <a:p>
            <a:fld id="{45E6605D-1E32-D542-B458-1FC57A046453}" type="slidenum">
              <a:rPr lang="nl-BE" smtClean="0"/>
              <a:t>29</a:t>
            </a:fld>
            <a:endParaRPr lang="nl-BE"/>
          </a:p>
        </p:txBody>
      </p:sp>
      <p:sp>
        <p:nvSpPr>
          <p:cNvPr id="4" name="Tekstvak 3">
            <a:extLst>
              <a:ext uri="{FF2B5EF4-FFF2-40B4-BE49-F238E27FC236}">
                <a16:creationId xmlns:a16="http://schemas.microsoft.com/office/drawing/2014/main" id="{4B273C8C-71FB-1DCD-A6B1-923C61E6BE20}"/>
              </a:ext>
            </a:extLst>
          </p:cNvPr>
          <p:cNvSpPr txBox="1"/>
          <p:nvPr/>
        </p:nvSpPr>
        <p:spPr>
          <a:xfrm>
            <a:off x="323943" y="2627098"/>
            <a:ext cx="11544114" cy="2677656"/>
          </a:xfrm>
          <a:prstGeom prst="rect">
            <a:avLst/>
          </a:prstGeom>
          <a:noFill/>
        </p:spPr>
        <p:txBody>
          <a:bodyPr wrap="square" rtlCol="0">
            <a:spAutoFit/>
          </a:bodyPr>
          <a:lstStyle/>
          <a:p>
            <a:pPr marL="342900" indent="-342900">
              <a:buFont typeface="Arial" panose="020B0604020202020204" pitchFamily="34" charset="0"/>
              <a:buChar char="•"/>
            </a:pPr>
            <a:r>
              <a:rPr lang="nl-BE" sz="2400" dirty="0">
                <a:hlinkClick r:id="rId3"/>
              </a:rPr>
              <a:t>https://www.mit.edu/~gfarina/2024/67220s24_L16_bayesian_optimization/L16.pdf</a:t>
            </a:r>
          </a:p>
          <a:p>
            <a:pPr marL="342900" indent="-342900">
              <a:buFont typeface="Arial" panose="020B0604020202020204" pitchFamily="34" charset="0"/>
              <a:buChar char="•"/>
            </a:pPr>
            <a:endParaRPr lang="nl-BE" sz="2400" dirty="0">
              <a:hlinkClick r:id="rId3"/>
            </a:endParaRPr>
          </a:p>
          <a:p>
            <a:pPr marL="342900" indent="-342900">
              <a:buFont typeface="Arial" panose="020B0604020202020204" pitchFamily="34" charset="0"/>
              <a:buChar char="•"/>
            </a:pPr>
            <a:r>
              <a:rPr lang="nl-BE" sz="2400" dirty="0">
                <a:hlinkClick r:id="rId4"/>
              </a:rPr>
              <a:t>https://pubs.rsc.org/en/content/articlehtml/2021/sc/d0sc06805e</a:t>
            </a:r>
            <a:endParaRPr lang="nl-BE" sz="2400" dirty="0"/>
          </a:p>
          <a:p>
            <a:pPr marL="342900" indent="-342900">
              <a:buFont typeface="Arial" panose="020B0604020202020204" pitchFamily="34" charset="0"/>
              <a:buChar char="•"/>
            </a:pPr>
            <a:endParaRPr lang="nl-BE" sz="2400" dirty="0"/>
          </a:p>
          <a:p>
            <a:pPr marL="342900" indent="-342900">
              <a:buFont typeface="Arial" panose="020B0604020202020204" pitchFamily="34" charset="0"/>
              <a:buChar char="•"/>
            </a:pPr>
            <a:r>
              <a:rPr lang="nl-BE" sz="2400" dirty="0">
                <a:hlinkClick r:id="rId5"/>
              </a:rPr>
              <a:t>https://chemrxiv.org/doi/abs/10.26434/chemrxiv.10001986/v1</a:t>
            </a:r>
            <a:endParaRPr lang="nl-BE" sz="2400" dirty="0"/>
          </a:p>
          <a:p>
            <a:endParaRPr lang="nl-BE" sz="2400" dirty="0"/>
          </a:p>
          <a:p>
            <a:pPr marL="342900" indent="-342900">
              <a:buFont typeface="Arial" panose="020B0604020202020204" pitchFamily="34" charset="0"/>
              <a:buChar char="•"/>
            </a:pPr>
            <a:endParaRPr lang="nl-BE" sz="2400" dirty="0"/>
          </a:p>
        </p:txBody>
      </p:sp>
    </p:spTree>
    <p:extLst>
      <p:ext uri="{BB962C8B-B14F-4D97-AF65-F5344CB8AC3E}">
        <p14:creationId xmlns:p14="http://schemas.microsoft.com/office/powerpoint/2010/main" val="683116433"/>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2343</TotalTime>
  <Words>3234</Words>
  <Application>Microsoft Macintosh PowerPoint</Application>
  <PresentationFormat>Breedbeeld</PresentationFormat>
  <Paragraphs>304</Paragraphs>
  <Slides>29</Slides>
  <Notes>29</Notes>
  <HiddenSlides>0</HiddenSlides>
  <MMClips>0</MMClips>
  <ScaleCrop>false</ScaleCrop>
  <HeadingPairs>
    <vt:vector size="6" baseType="variant">
      <vt:variant>
        <vt:lpstr>Gebruikte lettertypen</vt:lpstr>
      </vt:variant>
      <vt:variant>
        <vt:i4>7</vt:i4>
      </vt:variant>
      <vt:variant>
        <vt:lpstr>Thema</vt:lpstr>
      </vt:variant>
      <vt:variant>
        <vt:i4>1</vt:i4>
      </vt:variant>
      <vt:variant>
        <vt:lpstr>Diatitels</vt:lpstr>
      </vt:variant>
      <vt:variant>
        <vt:i4>29</vt:i4>
      </vt:variant>
    </vt:vector>
  </HeadingPairs>
  <TitlesOfParts>
    <vt:vector size="37" baseType="lpstr">
      <vt:lpstr>Aptos</vt:lpstr>
      <vt:lpstr>Aptos Display</vt:lpstr>
      <vt:lpstr>Arial</vt:lpstr>
      <vt:lpstr>Calibri</vt:lpstr>
      <vt:lpstr>Cambria Math</vt:lpstr>
      <vt:lpstr>Symbol</vt:lpstr>
      <vt:lpstr>Wingdings</vt:lpstr>
      <vt:lpstr>Kantoorthema</vt:lpstr>
      <vt:lpstr>PowerPoint-presentatie</vt:lpstr>
      <vt:lpstr>Contents</vt:lpstr>
      <vt:lpstr>Why Bayesian Optimization?</vt:lpstr>
      <vt:lpstr>Preliminary concepts: Gaussian distribution</vt:lpstr>
      <vt:lpstr>Preliminary concepts: multivariate Gaussian distribution</vt:lpstr>
      <vt:lpstr>Bayesian Optimization in a nutshell</vt:lpstr>
      <vt:lpstr>Bayesian Optimization in a nutshell</vt:lpstr>
      <vt:lpstr>Bayesian Optimization in a nutshell</vt:lpstr>
      <vt:lpstr>Bayesian Optimization cycle</vt:lpstr>
      <vt:lpstr>Gaussian processes and regression</vt:lpstr>
      <vt:lpstr>Gaussian processes and regression</vt:lpstr>
      <vt:lpstr>Covariance functions</vt:lpstr>
      <vt:lpstr>Defining the prior</vt:lpstr>
      <vt:lpstr>Defining the prior</vt:lpstr>
      <vt:lpstr>Defining the prior</vt:lpstr>
      <vt:lpstr>Defining the prior</vt:lpstr>
      <vt:lpstr>Defining the prior</vt:lpstr>
      <vt:lpstr>Defining the prior</vt:lpstr>
      <vt:lpstr>Bayesian Optimization cycle</vt:lpstr>
      <vt:lpstr>Acquisition functions</vt:lpstr>
      <vt:lpstr>Acquisition functions</vt:lpstr>
      <vt:lpstr>Bayesian Optimization cycle</vt:lpstr>
      <vt:lpstr>Applications</vt:lpstr>
      <vt:lpstr>Applications</vt:lpstr>
      <vt:lpstr>Applications</vt:lpstr>
      <vt:lpstr>Applications</vt:lpstr>
      <vt:lpstr>Leveraging hidden-space representations in BO</vt:lpstr>
      <vt:lpstr>Leveraging hidden-space representations in BO</vt:lpstr>
      <vt:lpstr>Further reading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Thijs STUYVER</dc:creator>
  <cp:lastModifiedBy>Thijs STUYVER</cp:lastModifiedBy>
  <cp:revision>49</cp:revision>
  <dcterms:created xsi:type="dcterms:W3CDTF">2025-02-18T12:16:18Z</dcterms:created>
  <dcterms:modified xsi:type="dcterms:W3CDTF">2026-06-03T09:58:23Z</dcterms:modified>
</cp:coreProperties>
</file>